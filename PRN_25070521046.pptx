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B1226"/>
        </a:fontRef>
        <a:srgbClr val="0B1226"/>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CBEFF8"/>
          </a:solidFill>
        </a:fill>
      </a:tcStyle>
    </a:wholeTbl>
    <a:band2H>
      <a:tcTxStyle b="def" i="def"/>
      <a:tcStyle>
        <a:tcBdr/>
        <a:fill>
          <a:solidFill>
            <a:srgbClr val="E7F7FC"/>
          </a:solidFill>
        </a:fill>
      </a:tcStyle>
    </a:band2H>
    <a:firstCol>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1"/>
          </a:solidFill>
        </a:fill>
      </a:tcStyle>
    </a:firstCol>
    <a:la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381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1"/>
          </a:solidFill>
        </a:fill>
      </a:tcStyle>
    </a:lastRow>
    <a:fir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381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1"/>
          </a:solidFill>
        </a:fill>
      </a:tcStyle>
    </a:firstRow>
  </a:tblStyle>
  <a:tblStyle styleId="{C7B018BB-80A7-4F77-B60F-C8B233D01FF8}" styleName="">
    <a:tblBg/>
    <a:wholeTbl>
      <a:tcTxStyle b="off" i="off">
        <a:fontRef idx="minor">
          <a:srgbClr val="0B1226"/>
        </a:fontRef>
        <a:srgbClr val="0B1226"/>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CCEFDD"/>
          </a:solidFill>
        </a:fill>
      </a:tcStyle>
    </a:wholeTbl>
    <a:band2H>
      <a:tcTxStyle b="def" i="def"/>
      <a:tcStyle>
        <a:tcBdr/>
        <a:fill>
          <a:solidFill>
            <a:srgbClr val="E7F7EF"/>
          </a:solidFill>
        </a:fill>
      </a:tcStyle>
    </a:band2H>
    <a:firstCol>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3"/>
          </a:solidFill>
        </a:fill>
      </a:tcStyle>
    </a:firstCol>
    <a:la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381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3"/>
          </a:solidFill>
        </a:fill>
      </a:tcStyle>
    </a:lastRow>
    <a:fir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381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3"/>
          </a:solidFill>
        </a:fill>
      </a:tcStyle>
    </a:firstRow>
  </a:tblStyle>
  <a:tblStyle styleId="{EEE7283C-3CF3-47DC-8721-378D4A62B228}" styleName="">
    <a:tblBg/>
    <a:wholeTbl>
      <a:tcTxStyle b="off" i="off">
        <a:fontRef idx="minor">
          <a:srgbClr val="0B1226"/>
        </a:fontRef>
        <a:srgbClr val="0B1226"/>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FCD4D4"/>
          </a:solidFill>
        </a:fill>
      </a:tcStyle>
    </a:wholeTbl>
    <a:band2H>
      <a:tcTxStyle b="def" i="def"/>
      <a:tcStyle>
        <a:tcBdr/>
        <a:fill>
          <a:solidFill>
            <a:srgbClr val="FEEBEB"/>
          </a:solidFill>
        </a:fill>
      </a:tcStyle>
    </a:band2H>
    <a:firstCol>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6"/>
          </a:solidFill>
        </a:fill>
      </a:tcStyle>
    </a:firstCol>
    <a:la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381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6"/>
          </a:solidFill>
        </a:fill>
      </a:tcStyle>
    </a:lastRow>
    <a:fir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381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chemeClr val="accent6"/>
          </a:solidFill>
        </a:fill>
      </a:tcStyle>
    </a:firstRow>
  </a:tblStyle>
  <a:tblStyle styleId="{CF821DB8-F4EB-4A41-A1BA-3FCAFE7338EE}" styleName="">
    <a:tblBg/>
    <a:wholeTbl>
      <a:tcTxStyle b="off" i="off">
        <a:fontRef idx="minor">
          <a:srgbClr val="0B1226"/>
        </a:fontRef>
        <a:srgbClr val="0B1226"/>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7"/>
          </a:solidFill>
        </a:fill>
      </a:tcStyle>
    </a:wholeTbl>
    <a:band2H>
      <a:tcTxStyle b="def" i="def"/>
      <a:tcStyle>
        <a:tcBdr/>
        <a:fill>
          <a:solidFill>
            <a:srgbClr val="F1F5F9"/>
          </a:solidFill>
        </a:fill>
      </a:tcStyle>
    </a:band2H>
    <a:firstCol>
      <a:tcTxStyle b="on" i="off">
        <a:fontRef idx="minor">
          <a:srgbClr val="F1F5F9"/>
        </a:fontRef>
        <a:srgbClr val="F1F5F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B1226"/>
        </a:fontRef>
        <a:srgbClr val="0B1226"/>
      </a:tcTxStyle>
      <a:tcStyle>
        <a:tcBdr>
          <a:left>
            <a:ln w="12700" cap="flat">
              <a:noFill/>
              <a:miter lim="400000"/>
            </a:ln>
          </a:left>
          <a:right>
            <a:ln w="12700" cap="flat">
              <a:noFill/>
              <a:miter lim="400000"/>
            </a:ln>
          </a:right>
          <a:top>
            <a:ln w="50800" cap="flat">
              <a:solidFill>
                <a:srgbClr val="0B1226"/>
              </a:solidFill>
              <a:prstDash val="solid"/>
              <a:round/>
            </a:ln>
          </a:top>
          <a:bottom>
            <a:ln w="25400" cap="flat">
              <a:solidFill>
                <a:srgbClr val="0B1226"/>
              </a:solidFill>
              <a:prstDash val="solid"/>
              <a:round/>
            </a:ln>
          </a:bottom>
          <a:insideH>
            <a:ln w="12700" cap="flat">
              <a:noFill/>
              <a:miter lim="400000"/>
            </a:ln>
          </a:insideH>
          <a:insideV>
            <a:ln w="12700" cap="flat">
              <a:noFill/>
              <a:miter lim="400000"/>
            </a:ln>
          </a:insideV>
        </a:tcBdr>
        <a:fill>
          <a:solidFill>
            <a:srgbClr val="F1F5F9"/>
          </a:solidFill>
        </a:fill>
      </a:tcStyle>
    </a:lastRow>
    <a:firstRow>
      <a:tcTxStyle b="on" i="off">
        <a:fontRef idx="minor">
          <a:srgbClr val="F1F5F9"/>
        </a:fontRef>
        <a:srgbClr val="F1F5F9"/>
      </a:tcTxStyle>
      <a:tcStyle>
        <a:tcBdr>
          <a:left>
            <a:ln w="12700" cap="flat">
              <a:noFill/>
              <a:miter lim="400000"/>
            </a:ln>
          </a:left>
          <a:right>
            <a:ln w="12700" cap="flat">
              <a:noFill/>
              <a:miter lim="400000"/>
            </a:ln>
          </a:right>
          <a:top>
            <a:ln w="25400" cap="flat">
              <a:solidFill>
                <a:srgbClr val="0B1226"/>
              </a:solidFill>
              <a:prstDash val="solid"/>
              <a:round/>
            </a:ln>
          </a:top>
          <a:bottom>
            <a:ln w="25400" cap="flat">
              <a:solidFill>
                <a:srgbClr val="0B1226"/>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B1226"/>
        </a:fontRef>
        <a:srgbClr val="0B1226"/>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CACACB"/>
          </a:solidFill>
        </a:fill>
      </a:tcStyle>
    </a:wholeTbl>
    <a:band2H>
      <a:tcTxStyle b="def" i="def"/>
      <a:tcStyle>
        <a:tcBdr/>
        <a:fill>
          <a:solidFill>
            <a:srgbClr val="E6E6E7"/>
          </a:solidFill>
        </a:fill>
      </a:tcStyle>
    </a:band2H>
    <a:firstCol>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0B1226"/>
          </a:solidFill>
        </a:fill>
      </a:tcStyle>
    </a:firstCol>
    <a:la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38100" cap="flat">
              <a:solidFill>
                <a:srgbClr val="F1F5F9"/>
              </a:solidFill>
              <a:prstDash val="solid"/>
              <a:round/>
            </a:ln>
          </a:top>
          <a:bottom>
            <a:ln w="127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0B1226"/>
          </a:solidFill>
        </a:fill>
      </a:tcStyle>
    </a:lastRow>
    <a:firstRow>
      <a:tcTxStyle b="on" i="off">
        <a:fontRef idx="minor">
          <a:srgbClr val="F1F5F9"/>
        </a:fontRef>
        <a:srgbClr val="F1F5F9"/>
      </a:tcTxStyle>
      <a:tcStyle>
        <a:tcBdr>
          <a:left>
            <a:ln w="12700" cap="flat">
              <a:solidFill>
                <a:srgbClr val="F1F5F9"/>
              </a:solidFill>
              <a:prstDash val="solid"/>
              <a:round/>
            </a:ln>
          </a:left>
          <a:right>
            <a:ln w="12700" cap="flat">
              <a:solidFill>
                <a:srgbClr val="F1F5F9"/>
              </a:solidFill>
              <a:prstDash val="solid"/>
              <a:round/>
            </a:ln>
          </a:right>
          <a:top>
            <a:ln w="12700" cap="flat">
              <a:solidFill>
                <a:srgbClr val="F1F5F9"/>
              </a:solidFill>
              <a:prstDash val="solid"/>
              <a:round/>
            </a:ln>
          </a:top>
          <a:bottom>
            <a:ln w="38100" cap="flat">
              <a:solidFill>
                <a:srgbClr val="F1F5F9"/>
              </a:solidFill>
              <a:prstDash val="solid"/>
              <a:round/>
            </a:ln>
          </a:bottom>
          <a:insideH>
            <a:ln w="12700" cap="flat">
              <a:solidFill>
                <a:srgbClr val="F1F5F9"/>
              </a:solidFill>
              <a:prstDash val="solid"/>
              <a:round/>
            </a:ln>
          </a:insideH>
          <a:insideV>
            <a:ln w="12700" cap="flat">
              <a:solidFill>
                <a:srgbClr val="F1F5F9"/>
              </a:solidFill>
              <a:prstDash val="solid"/>
              <a:round/>
            </a:ln>
          </a:insideV>
        </a:tcBdr>
        <a:fill>
          <a:solidFill>
            <a:srgbClr val="0B1226"/>
          </a:solidFill>
        </a:fill>
      </a:tcStyle>
    </a:firstRow>
  </a:tblStyle>
  <a:tblStyle styleId="{2708684C-4D16-4618-839F-0558EEFCDFE6}" styleName="">
    <a:tblBg/>
    <a:wholeTbl>
      <a:tcTxStyle b="off" i="off">
        <a:fontRef idx="minor">
          <a:srgbClr val="0B1226"/>
        </a:fontRef>
        <a:srgbClr val="0B1226"/>
      </a:tcTxStyle>
      <a:tcStyle>
        <a:tcBdr>
          <a:left>
            <a:ln w="12700" cap="flat">
              <a:solidFill>
                <a:srgbClr val="0B1226"/>
              </a:solidFill>
              <a:prstDash val="solid"/>
              <a:round/>
            </a:ln>
          </a:left>
          <a:right>
            <a:ln w="12700" cap="flat">
              <a:solidFill>
                <a:srgbClr val="0B1226"/>
              </a:solidFill>
              <a:prstDash val="solid"/>
              <a:round/>
            </a:ln>
          </a:right>
          <a:top>
            <a:ln w="12700" cap="flat">
              <a:solidFill>
                <a:srgbClr val="0B1226"/>
              </a:solidFill>
              <a:prstDash val="solid"/>
              <a:round/>
            </a:ln>
          </a:top>
          <a:bottom>
            <a:ln w="12700" cap="flat">
              <a:solidFill>
                <a:srgbClr val="0B1226"/>
              </a:solidFill>
              <a:prstDash val="solid"/>
              <a:round/>
            </a:ln>
          </a:bottom>
          <a:insideH>
            <a:ln w="12700" cap="flat">
              <a:solidFill>
                <a:srgbClr val="0B1226"/>
              </a:solidFill>
              <a:prstDash val="solid"/>
              <a:round/>
            </a:ln>
          </a:insideH>
          <a:insideV>
            <a:ln w="12700" cap="flat">
              <a:solidFill>
                <a:srgbClr val="0B1226"/>
              </a:solidFill>
              <a:prstDash val="solid"/>
              <a:round/>
            </a:ln>
          </a:insideV>
        </a:tcBdr>
        <a:fill>
          <a:solidFill>
            <a:srgbClr val="0B1226">
              <a:alpha val="20000"/>
            </a:srgbClr>
          </a:solidFill>
        </a:fill>
      </a:tcStyle>
    </a:wholeTbl>
    <a:band2H>
      <a:tcTxStyle b="def" i="def"/>
      <a:tcStyle>
        <a:tcBdr/>
        <a:fill>
          <a:solidFill>
            <a:srgbClr val="FFFFFF"/>
          </a:solidFill>
        </a:fill>
      </a:tcStyle>
    </a:band2H>
    <a:firstCol>
      <a:tcTxStyle b="on" i="off">
        <a:fontRef idx="minor">
          <a:srgbClr val="0B1226"/>
        </a:fontRef>
        <a:srgbClr val="0B1226"/>
      </a:tcTxStyle>
      <a:tcStyle>
        <a:tcBdr>
          <a:left>
            <a:ln w="12700" cap="flat">
              <a:solidFill>
                <a:srgbClr val="0B1226"/>
              </a:solidFill>
              <a:prstDash val="solid"/>
              <a:round/>
            </a:ln>
          </a:left>
          <a:right>
            <a:ln w="12700" cap="flat">
              <a:solidFill>
                <a:srgbClr val="0B1226"/>
              </a:solidFill>
              <a:prstDash val="solid"/>
              <a:round/>
            </a:ln>
          </a:right>
          <a:top>
            <a:ln w="12700" cap="flat">
              <a:solidFill>
                <a:srgbClr val="0B1226"/>
              </a:solidFill>
              <a:prstDash val="solid"/>
              <a:round/>
            </a:ln>
          </a:top>
          <a:bottom>
            <a:ln w="12700" cap="flat">
              <a:solidFill>
                <a:srgbClr val="0B1226"/>
              </a:solidFill>
              <a:prstDash val="solid"/>
              <a:round/>
            </a:ln>
          </a:bottom>
          <a:insideH>
            <a:ln w="12700" cap="flat">
              <a:solidFill>
                <a:srgbClr val="0B1226"/>
              </a:solidFill>
              <a:prstDash val="solid"/>
              <a:round/>
            </a:ln>
          </a:insideH>
          <a:insideV>
            <a:ln w="12700" cap="flat">
              <a:solidFill>
                <a:srgbClr val="0B1226"/>
              </a:solidFill>
              <a:prstDash val="solid"/>
              <a:round/>
            </a:ln>
          </a:insideV>
        </a:tcBdr>
        <a:fill>
          <a:solidFill>
            <a:srgbClr val="0B1226">
              <a:alpha val="20000"/>
            </a:srgbClr>
          </a:solidFill>
        </a:fill>
      </a:tcStyle>
    </a:firstCol>
    <a:lastRow>
      <a:tcTxStyle b="on" i="off">
        <a:fontRef idx="minor">
          <a:srgbClr val="0B1226"/>
        </a:fontRef>
        <a:srgbClr val="0B1226"/>
      </a:tcTxStyle>
      <a:tcStyle>
        <a:tcBdr>
          <a:left>
            <a:ln w="12700" cap="flat">
              <a:solidFill>
                <a:srgbClr val="0B1226"/>
              </a:solidFill>
              <a:prstDash val="solid"/>
              <a:round/>
            </a:ln>
          </a:left>
          <a:right>
            <a:ln w="12700" cap="flat">
              <a:solidFill>
                <a:srgbClr val="0B1226"/>
              </a:solidFill>
              <a:prstDash val="solid"/>
              <a:round/>
            </a:ln>
          </a:right>
          <a:top>
            <a:ln w="50800" cap="flat">
              <a:solidFill>
                <a:srgbClr val="0B1226"/>
              </a:solidFill>
              <a:prstDash val="solid"/>
              <a:round/>
            </a:ln>
          </a:top>
          <a:bottom>
            <a:ln w="12700" cap="flat">
              <a:solidFill>
                <a:srgbClr val="0B1226"/>
              </a:solidFill>
              <a:prstDash val="solid"/>
              <a:round/>
            </a:ln>
          </a:bottom>
          <a:insideH>
            <a:ln w="12700" cap="flat">
              <a:solidFill>
                <a:srgbClr val="0B1226"/>
              </a:solidFill>
              <a:prstDash val="solid"/>
              <a:round/>
            </a:ln>
          </a:insideH>
          <a:insideV>
            <a:ln w="12700" cap="flat">
              <a:solidFill>
                <a:srgbClr val="0B1226"/>
              </a:solidFill>
              <a:prstDash val="solid"/>
              <a:round/>
            </a:ln>
          </a:insideV>
        </a:tcBdr>
        <a:fill>
          <a:noFill/>
        </a:fill>
      </a:tcStyle>
    </a:lastRow>
    <a:firstRow>
      <a:tcTxStyle b="on" i="off">
        <a:fontRef idx="minor">
          <a:srgbClr val="0B1226"/>
        </a:fontRef>
        <a:srgbClr val="0B1226"/>
      </a:tcTxStyle>
      <a:tcStyle>
        <a:tcBdr>
          <a:left>
            <a:ln w="12700" cap="flat">
              <a:solidFill>
                <a:srgbClr val="0B1226"/>
              </a:solidFill>
              <a:prstDash val="solid"/>
              <a:round/>
            </a:ln>
          </a:left>
          <a:right>
            <a:ln w="12700" cap="flat">
              <a:solidFill>
                <a:srgbClr val="0B1226"/>
              </a:solidFill>
              <a:prstDash val="solid"/>
              <a:round/>
            </a:ln>
          </a:right>
          <a:top>
            <a:ln w="12700" cap="flat">
              <a:solidFill>
                <a:srgbClr val="0B1226"/>
              </a:solidFill>
              <a:prstDash val="solid"/>
              <a:round/>
            </a:ln>
          </a:top>
          <a:bottom>
            <a:ln w="25400" cap="flat">
              <a:solidFill>
                <a:srgbClr val="0B1226"/>
              </a:solidFill>
              <a:prstDash val="solid"/>
              <a:round/>
            </a:ln>
          </a:bottom>
          <a:insideH>
            <a:ln w="12700" cap="flat">
              <a:solidFill>
                <a:srgbClr val="0B1226"/>
              </a:solidFill>
              <a:prstDash val="solid"/>
              <a:round/>
            </a:ln>
          </a:insideH>
          <a:insideV>
            <a:ln w="12700" cap="flat">
              <a:solidFill>
                <a:srgbClr val="0B1226"/>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3" name="Shape 33"/>
          <p:cNvSpPr/>
          <p:nvPr>
            <p:ph type="sldImg"/>
          </p:nvPr>
        </p:nvSpPr>
        <p:spPr>
          <a:xfrm>
            <a:off x="1143000" y="685800"/>
            <a:ext cx="4572000" cy="3429000"/>
          </a:xfrm>
          <a:prstGeom prst="rect">
            <a:avLst/>
          </a:prstGeom>
        </p:spPr>
        <p:txBody>
          <a:bodyPr/>
          <a:lstStyle/>
          <a:p>
            <a:pPr/>
          </a:p>
        </p:txBody>
      </p:sp>
      <p:sp>
        <p:nvSpPr>
          <p:cNvPr id="34" name="Shape 3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0B1226"/>
        </a:solidFill>
        <a:latin typeface="+mn-lt"/>
        <a:ea typeface="+mn-ea"/>
        <a:cs typeface="+mn-cs"/>
        <a:sym typeface="Calibri"/>
      </a:defRPr>
    </a:lvl1pPr>
    <a:lvl2pPr indent="228600" latinLnBrk="0">
      <a:defRPr sz="1200">
        <a:solidFill>
          <a:srgbClr val="0B1226"/>
        </a:solidFill>
        <a:latin typeface="+mn-lt"/>
        <a:ea typeface="+mn-ea"/>
        <a:cs typeface="+mn-cs"/>
        <a:sym typeface="Calibri"/>
      </a:defRPr>
    </a:lvl2pPr>
    <a:lvl3pPr indent="457200" latinLnBrk="0">
      <a:defRPr sz="1200">
        <a:solidFill>
          <a:srgbClr val="0B1226"/>
        </a:solidFill>
        <a:latin typeface="+mn-lt"/>
        <a:ea typeface="+mn-ea"/>
        <a:cs typeface="+mn-cs"/>
        <a:sym typeface="Calibri"/>
      </a:defRPr>
    </a:lvl3pPr>
    <a:lvl4pPr indent="685800" latinLnBrk="0">
      <a:defRPr sz="1200">
        <a:solidFill>
          <a:srgbClr val="0B1226"/>
        </a:solidFill>
        <a:latin typeface="+mn-lt"/>
        <a:ea typeface="+mn-ea"/>
        <a:cs typeface="+mn-cs"/>
        <a:sym typeface="Calibri"/>
      </a:defRPr>
    </a:lvl4pPr>
    <a:lvl5pPr indent="914400" latinLnBrk="0">
      <a:defRPr sz="1200">
        <a:solidFill>
          <a:srgbClr val="0B1226"/>
        </a:solidFill>
        <a:latin typeface="+mn-lt"/>
        <a:ea typeface="+mn-ea"/>
        <a:cs typeface="+mn-cs"/>
        <a:sym typeface="Calibri"/>
      </a:defRPr>
    </a:lvl5pPr>
    <a:lvl6pPr indent="1143000" latinLnBrk="0">
      <a:defRPr sz="1200">
        <a:solidFill>
          <a:srgbClr val="0B1226"/>
        </a:solidFill>
        <a:latin typeface="+mn-lt"/>
        <a:ea typeface="+mn-ea"/>
        <a:cs typeface="+mn-cs"/>
        <a:sym typeface="Calibri"/>
      </a:defRPr>
    </a:lvl6pPr>
    <a:lvl7pPr indent="1371600" latinLnBrk="0">
      <a:defRPr sz="1200">
        <a:solidFill>
          <a:srgbClr val="0B1226"/>
        </a:solidFill>
        <a:latin typeface="+mn-lt"/>
        <a:ea typeface="+mn-ea"/>
        <a:cs typeface="+mn-cs"/>
        <a:sym typeface="Calibri"/>
      </a:defRPr>
    </a:lvl7pPr>
    <a:lvl8pPr indent="1600200" latinLnBrk="0">
      <a:defRPr sz="1200">
        <a:solidFill>
          <a:srgbClr val="0B1226"/>
        </a:solidFill>
        <a:latin typeface="+mn-lt"/>
        <a:ea typeface="+mn-ea"/>
        <a:cs typeface="+mn-cs"/>
        <a:sym typeface="Calibri"/>
      </a:defRPr>
    </a:lvl8pPr>
    <a:lvl9pPr indent="1828800" latinLnBrk="0">
      <a:defRPr sz="1200">
        <a:solidFill>
          <a:srgbClr val="0B1226"/>
        </a:solidFill>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Shape 88"/>
          <p:cNvSpPr/>
          <p:nvPr>
            <p:ph type="sldImg"/>
          </p:nvPr>
        </p:nvSpPr>
        <p:spPr>
          <a:prstGeom prst="rect">
            <a:avLst/>
          </a:prstGeom>
        </p:spPr>
        <p:txBody>
          <a:bodyPr/>
          <a:lstStyle/>
          <a:p>
            <a:pPr/>
          </a:p>
        </p:txBody>
      </p:sp>
      <p:sp>
        <p:nvSpPr>
          <p:cNvPr id="89" name="Shape 89"/>
          <p:cNvSpPr/>
          <p:nvPr>
            <p:ph type="body" sz="quarter" idx="1"/>
          </p:nvPr>
        </p:nvSpPr>
        <p:spPr>
          <a:prstGeom prst="rect">
            <a:avLst/>
          </a:prstGeom>
        </p:spPr>
        <p:txBody>
          <a:bodyPr/>
          <a:lstStyle/>
          <a:p>
            <a:pPr/>
            <a:r>
              <a:t>Introduce yourself: Heena Khilnani, PRN 25070521046. Topic: Merge Sort, a divide and conquer sorting algorithm for the Design and Analysis of Algorithms course.</a:t>
            </a:r>
          </a:p>
          <a:p>
            <a:pPr/>
            <a:r>
              <a:t>Credits: this presentation was created with Claude (an AI assistant), and the reference explainer video was made using MiMo-V2.6-Flash (Free).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Welcome. Today's topic is Merge Sort, one of the most important sorting algorithms in computer science and a classic example of divide and conquer.</a:t>
            </a:r>
          </a:p>
          <a:p>
            <a:pPr/>
            <a:r>
              <a:t>Start with sorting itself: sorting means arranging data in an order, usually smallest to largest (ascending). Sorted data is far easier to search, rank and process - think of databases, search engines and leaderboards.</a:t>
            </a:r>
          </a:p>
          <a:p>
            <a:pPr/>
            <a:r>
              <a:t>Merge Sort in one sentence: split the array into smaller parts, sort the parts, and merge them back together in sorted order.</a:t>
            </a:r>
          </a:p>
          <a:p>
            <a:pPr/>
            <a:r>
              <a:t>Point at the visual: the same 7 numbers go in unsorted and come out sorted. The rest of the lecture explains exactly how that transformation happens. We will use the array [38, 27, 43, 3, 9, 82, 10] throughout.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Real-world data is huge: databases, search engines and ranking systems hold millions or billions of items. Sorted data makes searching dramatically faster, for example binary search takes about log n steps instead of n.</a:t>
            </a:r>
          </a:p>
          <a:p>
            <a:pPr/>
            <a:r>
              <a:t>Simple sorts like Bubble, Selection and Insertion sort take O(n squared) time. For n = 1,048,576 items (2 to the power 20), that is roughly 1.1 trillion steps. Merge Sort does about n log n, roughly 21 million steps - about 50,000 times fewer.</a:t>
            </a:r>
          </a:p>
          <a:p>
            <a:pPr/>
            <a:r>
              <a:t>Merge Sort guarantees O(n log n) in the best, average and worst case, so its performance is predictable. The trade-off is that it needs O(n) extra memory.</a:t>
            </a:r>
          </a:p>
          <a:p>
            <a:pPr/>
            <a:r>
              <a:t>Merge Sort uses the divide and conquer technique with three stages. Divide: split the problem into smaller sub-problems. Conquer: solve each sub-problem recursively (a single element is already sorted). Combine: merge the solved parts into the final answer. Every divide and conquer algorithm follows this pattern.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r>
              <a:t>This slide shows the whole algorithm on a small array, [38, 27, 43, 3] - the left half of our main example.</a:t>
            </a:r>
          </a:p>
          <a:p>
            <a:pPr/>
            <a:r>
              <a:t>Left tree (cyan, top-down) is the DIVIDE phase: split into two halves, and keep splitting until every piece holds a single element. A single element is already sorted - this is the base case, and it is where the recursion stops.</a:t>
            </a:r>
          </a:p>
          <a:p>
            <a:pPr/>
            <a:r>
              <a:t>The arrow along the bottom shows the turning point: from here we start going back up.</a:t>
            </a:r>
          </a:p>
          <a:p>
            <a:pPr/>
            <a:r>
              <a:t>Right tree (violet, bottom-up) is the MERGE phase: merge two sorted pieces into one bigger sorted piece. [38] and [27] become [27, 38]; [43] and [3] become [3, 43]; then [27, 38] and [3, 43] become [3, 27, 38, 43].</a:t>
            </a:r>
          </a:p>
          <a:p>
            <a:pPr/>
            <a:r>
              <a:t>Key insight for students: the splitting does no real work - all the sorting happens while merging.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Our example array is [38, 27, 43, 3, 9, 82, 10], seven elements.</a:t>
            </a:r>
          </a:p>
          <a:p>
            <a:pPr/>
            <a:r>
              <a:t>Level 0: the full array. We compute mid = floor((0 + 6) / 2) = 3. Indices 0 to 3 form the left part [38, 27, 43, 3] (4 elements); indices 4 to 6 form the right part [9, 82, 10] (3 elements). Because 7 is odd, the split is unequal - 4 and 3.</a:t>
            </a:r>
          </a:p>
          <a:p>
            <a:pPr/>
            <a:r>
              <a:t>Level 1 to 2: [38, 27, 43, 3] splits into [38, 27] and [43, 3]. [9, 82, 10] has indices 4 to 6, mid = 5, so it splits into [9, 82] and [10].</a:t>
            </a:r>
          </a:p>
          <a:p>
            <a:pPr/>
            <a:r>
              <a:t>Level 2 to 3: [38, 27] to [38] and [27]; [43, 3] to [43] and [3]; [9, 82] to [9] and [82]. [10] already has one element.</a:t>
            </a:r>
          </a:p>
          <a:p>
            <a:pPr/>
            <a:r>
              <a:t>All seven leaves are single-element arrays - the base case. Check the counts: 7 = 4 + 3 = 2 + 2 + 2 + 1 = seven ones. Every number is accounted for.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Shape 542"/>
          <p:cNvSpPr/>
          <p:nvPr>
            <p:ph type="sldImg"/>
          </p:nvPr>
        </p:nvSpPr>
        <p:spPr>
          <a:prstGeom prst="rect">
            <a:avLst/>
          </a:prstGeom>
        </p:spPr>
        <p:txBody>
          <a:bodyPr/>
          <a:lstStyle/>
          <a:p>
            <a:pPr/>
          </a:p>
        </p:txBody>
      </p:sp>
      <p:sp>
        <p:nvSpPr>
          <p:cNvPr id="543" name="Shape 543"/>
          <p:cNvSpPr/>
          <p:nvPr>
            <p:ph type="body" sz="quarter" idx="1"/>
          </p:nvPr>
        </p:nvSpPr>
        <p:spPr>
          <a:prstGeom prst="rect">
            <a:avLst/>
          </a:prstGeom>
        </p:spPr>
        <p:txBody>
          <a:bodyPr/>
          <a:lstStyle/>
          <a:p>
            <a:pPr/>
            <a:r>
              <a:t>Now we go back up the same tree, bottom to top. The merge rule: compare the front elements of the two sorted lists, take the smaller one, repeat. When one list is empty, append everything left in the other list - it is already in order.</a:t>
            </a:r>
          </a:p>
          <a:p>
            <a:pPr/>
            <a:r>
              <a:t>Stage 1, pairs: [38] + [27] gives [27, 38] because 27 &lt; 38. [43] + [3] gives [3, 43]. [9] + [82] gives [9, 82]. [10] has no partner so it moves up unchanged.</a:t>
            </a:r>
          </a:p>
          <a:p>
            <a:pPr/>
            <a:r>
              <a:t>Stage 2, fours: [27, 38] + [3, 43]: compare 27 and 3, take 3; compare 27 and 43, take 27; compare 38 and 43, take 38; left is empty so append 43. Result [3, 27, 38, 43]. Then [9, 82] + [10]: compare 9 and 10, take 9; compare 82 and 10, take 10; right is empty so append 82. Result [9, 10, 82].</a:t>
            </a:r>
          </a:p>
          <a:p>
            <a:pPr/>
            <a:r>
              <a:t>Stage 3, final merge: walk through the table on the right step by step. 3 vs 9 takes 3; 27 vs 9 takes 9; 27 vs 10 takes 10; 27 vs 82 takes 27; 38 vs 82 takes 38; 43 vs 82 takes 43; the left list is empty, so append 82.</a:t>
            </a:r>
          </a:p>
          <a:p>
            <a:pPr/>
            <a:r>
              <a:t>Final answer: [3, 9, 10, 27, 38, 43, 82]. Each element is compared only a few times per level, which is why the total work is n log 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3" name="Shape 593"/>
          <p:cNvSpPr/>
          <p:nvPr>
            <p:ph type="sldImg"/>
          </p:nvPr>
        </p:nvSpPr>
        <p:spPr>
          <a:prstGeom prst="rect">
            <a:avLst/>
          </a:prstGeom>
        </p:spPr>
        <p:txBody>
          <a:bodyPr/>
          <a:lstStyle/>
          <a:p>
            <a:pPr/>
          </a:p>
        </p:txBody>
      </p:sp>
      <p:sp>
        <p:nvSpPr>
          <p:cNvPr id="594" name="Shape 594"/>
          <p:cNvSpPr/>
          <p:nvPr>
            <p:ph type="body" sz="quarter" idx="1"/>
          </p:nvPr>
        </p:nvSpPr>
        <p:spPr>
          <a:prstGeom prst="rect">
            <a:avLst/>
          </a:prstGeom>
        </p:spPr>
        <p:txBody>
          <a:bodyPr/>
          <a:lstStyle/>
          <a:p>
            <a:pPr/>
            <a:r>
              <a:t>This is language-independent pseudocode in the style of a standard algorithms textbook. The initial call is MERGE-SORT(A, 0, n-1).</a:t>
            </a:r>
          </a:p>
          <a:p>
            <a:pPr/>
            <a:r>
              <a:t>MERGE-SORT (amber): the base case is the condition left &lt; right. If it fails, the range has zero or one element, which is already sorted, so nothing happens and the recursion stops. Note: the video used "Length &lt;= 2" for the base case; the correct base case is length &lt;= 1 (equivalently left &gt;= right), because a two-element array still needs to be sorted.</a:t>
            </a:r>
          </a:p>
          <a:p>
            <a:pPr/>
            <a:r>
              <a:t>Midpoint (blue): mid = floor((left + right) / 2). For indices 0 to 6 that is 3, giving the 4 + 3 split from our example.</a:t>
            </a:r>
          </a:p>
          <a:p>
            <a:pPr/>
            <a:r>
              <a:t>Recursive calls (cyan): sort the left half, sort the right half. Then call MERGE (violet) to combine them.</a:t>
            </a:r>
          </a:p>
          <a:p>
            <a:pPr/>
            <a:r>
              <a:t>MERGE: copy the two halves into temporary arrays L and R - this is the O(n) extra space. Use i for L, j for R and k for the output position in A. While both lists have elements, compare L[i] and R[j] and copy the smaller. Using &lt;= (not &lt;) takes the left element on ties, which makes the sort stable. When one list runs out, copy the rest of the other (green lines).</a:t>
            </a:r>
          </a:p>
          <a:p>
            <a:pPr/>
            <a:r>
              <a:t>Ask students to trace MERGE on [3, 27, 38, 43] and [9, 10, 82] - it matches the table on the previous slide.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5" name="Shape 675"/>
          <p:cNvSpPr/>
          <p:nvPr>
            <p:ph type="sldImg"/>
          </p:nvPr>
        </p:nvSpPr>
        <p:spPr>
          <a:prstGeom prst="rect">
            <a:avLst/>
          </a:prstGeom>
        </p:spPr>
        <p:txBody>
          <a:bodyPr/>
          <a:lstStyle/>
          <a:p>
            <a:pPr/>
          </a:p>
        </p:txBody>
      </p:sp>
      <p:sp>
        <p:nvSpPr>
          <p:cNvPr id="676" name="Shape 676"/>
          <p:cNvSpPr/>
          <p:nvPr>
            <p:ph type="body" sz="quarter" idx="1"/>
          </p:nvPr>
        </p:nvSpPr>
        <p:spPr>
          <a:prstGeom prst="rect">
            <a:avLst/>
          </a:prstGeom>
        </p:spPr>
        <p:txBody>
          <a:bodyPr/>
          <a:lstStyle/>
          <a:p>
            <a:pPr/>
            <a:r>
              <a:t>Recurrence: T(n) = 2T(n/2) + O(n). Two sub-problems each of size n/2 (the two recursive calls), plus linear work to merge the two halves.</a:t>
            </a:r>
          </a:p>
          <a:p>
            <a:pPr/>
            <a:r>
              <a:t>Why O(n log n): look at the recursion tree in the middle. Halving n until we reach size 1 takes log base 2 of n levels. At every level, the merges together touch all n elements once, so each level costs O(n). Total = n times log n. (This also follows from the Master Theorem, case 2.)</a:t>
            </a:r>
          </a:p>
          <a:p>
            <a:pPr/>
            <a:r>
              <a:t>Best, average and worst case are all O(n log n): the algorithm splits and merges the same way no matter how the input is ordered. That is its main strength - predictable performance.</a:t>
            </a:r>
          </a:p>
          <a:p>
            <a:pPr/>
            <a:r>
              <a:t>IMPORTANT - do not confuse time and space. Time is O(n log n). Auxiliary space is O(n), because merging needs temporary arrays; the recursion stack adds only O(log n), which is dominated by O(n).</a:t>
            </a:r>
          </a:p>
          <a:p>
            <a:pPr/>
            <a:r>
              <a:t>Properties: stable (equal elements keep their original order, because the merge takes from the left list on ties); not in-place in the standard array version; divide-and-conquer.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5" name="Shape 695"/>
          <p:cNvSpPr/>
          <p:nvPr>
            <p:ph type="sldImg"/>
          </p:nvPr>
        </p:nvSpPr>
        <p:spPr>
          <a:prstGeom prst="rect">
            <a:avLst/>
          </a:prstGeom>
        </p:spPr>
        <p:txBody>
          <a:bodyPr/>
          <a:lstStyle/>
          <a:p>
            <a:pPr/>
          </a:p>
        </p:txBody>
      </p:sp>
      <p:sp>
        <p:nvSpPr>
          <p:cNvPr id="696" name="Shape 696"/>
          <p:cNvSpPr/>
          <p:nvPr>
            <p:ph type="body" sz="quarter" idx="1"/>
          </p:nvPr>
        </p:nvSpPr>
        <p:spPr>
          <a:prstGeom prst="rect">
            <a:avLst/>
          </a:prstGeom>
        </p:spPr>
        <p:txBody>
          <a:bodyPr/>
          <a:lstStyle/>
          <a:p>
            <a:pPr/>
            <a:r>
              <a:t>Advantages: guaranteed O(n log n) in every case, so no bad inputs; stable, which matters when sorting records by several keys; scales well to large datasets; and it works naturally on linked lists because merging needs only pointer changes.</a:t>
            </a:r>
          </a:p>
          <a:p>
            <a:pPr/>
            <a:r>
              <a:t>Limitations: the standard array version needs O(n) extra memory, it is not in-place, and for very small arrays simpler algorithms like insertion sort have lower overhead (real libraries often switch to insertion sort for tiny pieces).</a:t>
            </a:r>
          </a:p>
          <a:p>
            <a:pPr/>
            <a:r>
              <a:t>Applications: sorting large datasets, external sorting (data too big for RAM is sorted in chunks on disk and merged), and sorting linked lists. Many standard libraries use Merge Sort variants (for example Timsort, which is merge-sort based).</a:t>
            </a:r>
          </a:p>
          <a:p>
            <a:pPr/>
            <a:r>
              <a:t>Comparison table: Bubble sort is simple but O(n squared) with O(1) space. Quick sort is O(n log n) on average with O(log n) stack space but can degrade to O(n squared) in the worst case and is not stable. Merge sort always gives O(n log n) and is stable, at the cost of O(n) space.</a:t>
            </a:r>
          </a:p>
          <a:p>
            <a:pPr/>
            <a:r>
              <a:t>Conclusion: Merge Sort is the textbook example of divide and conquer, with a clean recurrence and a guaranteed bound. Remember the three words: Divide, Sort, and Merge.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0" name="Shape 720"/>
          <p:cNvSpPr/>
          <p:nvPr>
            <p:ph type="sldImg"/>
          </p:nvPr>
        </p:nvSpPr>
        <p:spPr>
          <a:prstGeom prst="rect">
            <a:avLst/>
          </a:prstGeom>
        </p:spPr>
        <p:txBody>
          <a:bodyPr/>
          <a:lstStyle/>
          <a:p>
            <a:pPr/>
          </a:p>
        </p:txBody>
      </p:sp>
      <p:sp>
        <p:nvSpPr>
          <p:cNvPr id="721" name="Shape 721"/>
          <p:cNvSpPr/>
          <p:nvPr>
            <p:ph type="body" sz="quarter" idx="1"/>
          </p:nvPr>
        </p:nvSpPr>
        <p:spPr>
          <a:prstGeom prst="rect">
            <a:avLst/>
          </a:prstGeom>
        </p:spPr>
        <p:txBody>
          <a:bodyPr/>
          <a:lstStyle/>
          <a:p>
            <a:pPr/>
            <a:r>
              <a:t>Thank the audience and invite questions. Recap: Divide, Sort, and Merge. Merge Sort runs in O(n log n) time in every case and uses O(n) extra space.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solidFill>
          <a:srgbClr val="0B1226"/>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548640" y="320040"/>
            <a:ext cx="11064241" cy="731520"/>
          </a:xfrm>
          <a:prstGeom prst="rect">
            <a:avLst/>
          </a:prstGeom>
        </p:spPr>
        <p:txBody>
          <a:bodyPr anchor="t">
            <a:normAutofit fontScale="100000" lnSpcReduction="0"/>
          </a:bodyPr>
          <a:lstStyle>
            <a:lvl1pPr algn="l">
              <a:defRPr b="1" sz="3000">
                <a:solidFill>
                  <a:srgbClr val="F1F5F9"/>
                </a:solidFill>
              </a:defRPr>
            </a:lvl1pPr>
          </a:lstStyle>
          <a:p>
            <a:pPr/>
            <a:r>
              <a:t>Click to add title</a:t>
            </a:r>
          </a:p>
        </p:txBody>
      </p:sp>
      <p:sp>
        <p:nvSpPr>
          <p:cNvPr id="19" name="Text 0"/>
          <p:cNvSpPr txBox="1"/>
          <p:nvPr/>
        </p:nvSpPr>
        <p:spPr>
          <a:xfrm>
            <a:off x="548640" y="6542576"/>
            <a:ext cx="54864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9B8D4"/>
                </a:solidFill>
              </a:defRPr>
            </a:lvl1pPr>
          </a:lstStyle>
          <a:p>
            <a:pPr/>
            <a:r>
              <a:t>Merge Sort  ·  Design and Analysis of Algorithms</a:t>
            </a:r>
          </a:p>
        </p:txBody>
      </p:sp>
      <p:sp>
        <p:nvSpPr>
          <p:cNvPr id="20" name="Slide Number"/>
          <p:cNvSpPr txBox="1"/>
          <p:nvPr>
            <p:ph type="sldNum" sz="quarter" idx="2"/>
          </p:nvPr>
        </p:nvSpPr>
        <p:spPr>
          <a:xfrm>
            <a:off x="11471444" y="6473952"/>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solidFill>
          <a:srgbClr val="0B1226"/>
        </a:solidFill>
      </p:bgPr>
    </p:bg>
    <p:spTree>
      <p:nvGrpSpPr>
        <p:cNvPr id="1" name=""/>
        <p:cNvGrpSpPr/>
        <p:nvPr/>
      </p:nvGrpSpPr>
      <p:grpSpPr>
        <a:xfrm>
          <a:off x="0" y="0"/>
          <a:ext cx="0" cy="0"/>
          <a:chOff x="0" y="0"/>
          <a:chExt cx="0" cy="0"/>
        </a:xfrm>
      </p:grpSpPr>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1F5F9"/>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A9B8D4"/>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6"/>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6"/>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Text 0"/>
          <p:cNvSpPr txBox="1"/>
          <p:nvPr/>
        </p:nvSpPr>
        <p:spPr>
          <a:xfrm>
            <a:off x="822960" y="914400"/>
            <a:ext cx="10058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300" sz="1600">
                <a:solidFill>
                  <a:schemeClr val="accent1"/>
                </a:solidFill>
              </a:defRPr>
            </a:lvl1pPr>
          </a:lstStyle>
          <a:p>
            <a:pPr/>
            <a:r>
              <a:t>DESIGN AND ANALYSIS OF ALGORITHMS</a:t>
            </a:r>
          </a:p>
        </p:txBody>
      </p:sp>
      <p:sp>
        <p:nvSpPr>
          <p:cNvPr id="37" name="Text 1"/>
          <p:cNvSpPr txBox="1"/>
          <p:nvPr/>
        </p:nvSpPr>
        <p:spPr>
          <a:xfrm>
            <a:off x="822960" y="1579185"/>
            <a:ext cx="10515601" cy="9157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7200">
                <a:solidFill>
                  <a:srgbClr val="F1F5F9"/>
                </a:solidFill>
              </a:defRPr>
            </a:lvl1pPr>
          </a:lstStyle>
          <a:p>
            <a:pPr/>
            <a:r>
              <a:t>Merge Sort</a:t>
            </a:r>
          </a:p>
        </p:txBody>
      </p:sp>
      <p:sp>
        <p:nvSpPr>
          <p:cNvPr id="38" name="Text 2"/>
          <p:cNvSpPr txBox="1"/>
          <p:nvPr/>
        </p:nvSpPr>
        <p:spPr>
          <a:xfrm>
            <a:off x="822960" y="2749421"/>
            <a:ext cx="10515601"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chemeClr val="accent2"/>
                </a:solidFill>
              </a:defRPr>
            </a:lvl1pPr>
          </a:lstStyle>
          <a:p>
            <a:pPr/>
            <a:r>
              <a:t>A Divide and Conquer Algorithm</a:t>
            </a:r>
          </a:p>
        </p:txBody>
      </p:sp>
      <p:grpSp>
        <p:nvGrpSpPr>
          <p:cNvPr id="41" name="Text 3"/>
          <p:cNvGrpSpPr/>
          <p:nvPr/>
        </p:nvGrpSpPr>
        <p:grpSpPr>
          <a:xfrm>
            <a:off x="1051560" y="3611879"/>
            <a:ext cx="640081" cy="640081"/>
            <a:chOff x="0" y="0"/>
            <a:chExt cx="640080" cy="640080"/>
          </a:xfrm>
        </p:grpSpPr>
        <p:sp>
          <p:nvSpPr>
            <p:cNvPr id="39"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40" name="38"/>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38</a:t>
              </a:r>
            </a:p>
          </p:txBody>
        </p:sp>
      </p:grpSp>
      <p:grpSp>
        <p:nvGrpSpPr>
          <p:cNvPr id="44" name="Text 4"/>
          <p:cNvGrpSpPr/>
          <p:nvPr/>
        </p:nvGrpSpPr>
        <p:grpSpPr>
          <a:xfrm>
            <a:off x="1691639" y="3611879"/>
            <a:ext cx="640081" cy="640081"/>
            <a:chOff x="0" y="0"/>
            <a:chExt cx="640080" cy="640080"/>
          </a:xfrm>
        </p:grpSpPr>
        <p:sp>
          <p:nvSpPr>
            <p:cNvPr id="42"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43" name="27"/>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27</a:t>
              </a:r>
            </a:p>
          </p:txBody>
        </p:sp>
      </p:grpSp>
      <p:grpSp>
        <p:nvGrpSpPr>
          <p:cNvPr id="47" name="Text 5"/>
          <p:cNvGrpSpPr/>
          <p:nvPr/>
        </p:nvGrpSpPr>
        <p:grpSpPr>
          <a:xfrm>
            <a:off x="2331720" y="3611879"/>
            <a:ext cx="640081" cy="640081"/>
            <a:chOff x="0" y="0"/>
            <a:chExt cx="640080" cy="640080"/>
          </a:xfrm>
        </p:grpSpPr>
        <p:sp>
          <p:nvSpPr>
            <p:cNvPr id="45"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46" name="43"/>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43</a:t>
              </a:r>
            </a:p>
          </p:txBody>
        </p:sp>
      </p:grpSp>
      <p:grpSp>
        <p:nvGrpSpPr>
          <p:cNvPr id="50" name="Text 6"/>
          <p:cNvGrpSpPr/>
          <p:nvPr/>
        </p:nvGrpSpPr>
        <p:grpSpPr>
          <a:xfrm>
            <a:off x="2971799" y="3611879"/>
            <a:ext cx="640082" cy="640081"/>
            <a:chOff x="0" y="0"/>
            <a:chExt cx="640080" cy="640080"/>
          </a:xfrm>
        </p:grpSpPr>
        <p:sp>
          <p:nvSpPr>
            <p:cNvPr id="48"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49" name="3"/>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3</a:t>
              </a:r>
            </a:p>
          </p:txBody>
        </p:sp>
      </p:grpSp>
      <p:grpSp>
        <p:nvGrpSpPr>
          <p:cNvPr id="53" name="Text 7"/>
          <p:cNvGrpSpPr/>
          <p:nvPr/>
        </p:nvGrpSpPr>
        <p:grpSpPr>
          <a:xfrm>
            <a:off x="3611879" y="3611879"/>
            <a:ext cx="640081" cy="640081"/>
            <a:chOff x="0" y="0"/>
            <a:chExt cx="640080" cy="640080"/>
          </a:xfrm>
        </p:grpSpPr>
        <p:sp>
          <p:nvSpPr>
            <p:cNvPr id="51"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52" name="9"/>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9</a:t>
              </a:r>
            </a:p>
          </p:txBody>
        </p:sp>
      </p:grpSp>
      <p:grpSp>
        <p:nvGrpSpPr>
          <p:cNvPr id="56" name="Text 8"/>
          <p:cNvGrpSpPr/>
          <p:nvPr/>
        </p:nvGrpSpPr>
        <p:grpSpPr>
          <a:xfrm>
            <a:off x="4251959" y="3611879"/>
            <a:ext cx="640081" cy="640081"/>
            <a:chOff x="0" y="0"/>
            <a:chExt cx="640080" cy="640080"/>
          </a:xfrm>
        </p:grpSpPr>
        <p:sp>
          <p:nvSpPr>
            <p:cNvPr id="54"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55" name="82"/>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82</a:t>
              </a:r>
            </a:p>
          </p:txBody>
        </p:sp>
      </p:grpSp>
      <p:grpSp>
        <p:nvGrpSpPr>
          <p:cNvPr id="59" name="Text 9"/>
          <p:cNvGrpSpPr/>
          <p:nvPr/>
        </p:nvGrpSpPr>
        <p:grpSpPr>
          <a:xfrm>
            <a:off x="4892040" y="3611879"/>
            <a:ext cx="640081" cy="640081"/>
            <a:chOff x="0" y="0"/>
            <a:chExt cx="640080" cy="640080"/>
          </a:xfrm>
        </p:grpSpPr>
        <p:sp>
          <p:nvSpPr>
            <p:cNvPr id="57" name="Square"/>
            <p:cNvSpPr/>
            <p:nvPr/>
          </p:nvSpPr>
          <p:spPr>
            <a:xfrm>
              <a:off x="-1" y="-1"/>
              <a:ext cx="640082" cy="640082"/>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58" name="10"/>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10</a:t>
              </a:r>
            </a:p>
          </p:txBody>
        </p:sp>
      </p:grpSp>
      <p:sp>
        <p:nvSpPr>
          <p:cNvPr id="60" name="Shape 10"/>
          <p:cNvSpPr/>
          <p:nvPr/>
        </p:nvSpPr>
        <p:spPr>
          <a:xfrm>
            <a:off x="5852159" y="3657600"/>
            <a:ext cx="822961" cy="54864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grpSp>
        <p:nvGrpSpPr>
          <p:cNvPr id="63" name="Text 11"/>
          <p:cNvGrpSpPr/>
          <p:nvPr/>
        </p:nvGrpSpPr>
        <p:grpSpPr>
          <a:xfrm>
            <a:off x="6903719" y="3611879"/>
            <a:ext cx="640081" cy="640081"/>
            <a:chOff x="0" y="0"/>
            <a:chExt cx="640080" cy="640080"/>
          </a:xfrm>
        </p:grpSpPr>
        <p:sp>
          <p:nvSpPr>
            <p:cNvPr id="61"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62" name="3"/>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3</a:t>
              </a:r>
            </a:p>
          </p:txBody>
        </p:sp>
      </p:grpSp>
      <p:grpSp>
        <p:nvGrpSpPr>
          <p:cNvPr id="66" name="Text 12"/>
          <p:cNvGrpSpPr/>
          <p:nvPr/>
        </p:nvGrpSpPr>
        <p:grpSpPr>
          <a:xfrm>
            <a:off x="7543799" y="3611879"/>
            <a:ext cx="640082" cy="640081"/>
            <a:chOff x="0" y="0"/>
            <a:chExt cx="640080" cy="640080"/>
          </a:xfrm>
        </p:grpSpPr>
        <p:sp>
          <p:nvSpPr>
            <p:cNvPr id="64"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65" name="9"/>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9</a:t>
              </a:r>
            </a:p>
          </p:txBody>
        </p:sp>
      </p:grpSp>
      <p:grpSp>
        <p:nvGrpSpPr>
          <p:cNvPr id="69" name="Text 13"/>
          <p:cNvGrpSpPr/>
          <p:nvPr/>
        </p:nvGrpSpPr>
        <p:grpSpPr>
          <a:xfrm>
            <a:off x="8183880" y="3611879"/>
            <a:ext cx="640081" cy="640081"/>
            <a:chOff x="0" y="0"/>
            <a:chExt cx="640080" cy="640080"/>
          </a:xfrm>
        </p:grpSpPr>
        <p:sp>
          <p:nvSpPr>
            <p:cNvPr id="67"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68" name="10"/>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10</a:t>
              </a:r>
            </a:p>
          </p:txBody>
        </p:sp>
      </p:grpSp>
      <p:grpSp>
        <p:nvGrpSpPr>
          <p:cNvPr id="72" name="Text 14"/>
          <p:cNvGrpSpPr/>
          <p:nvPr/>
        </p:nvGrpSpPr>
        <p:grpSpPr>
          <a:xfrm>
            <a:off x="8823959" y="3611879"/>
            <a:ext cx="640081" cy="640081"/>
            <a:chOff x="0" y="0"/>
            <a:chExt cx="640080" cy="640080"/>
          </a:xfrm>
        </p:grpSpPr>
        <p:sp>
          <p:nvSpPr>
            <p:cNvPr id="70"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71" name="27"/>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27</a:t>
              </a:r>
            </a:p>
          </p:txBody>
        </p:sp>
      </p:grpSp>
      <p:grpSp>
        <p:nvGrpSpPr>
          <p:cNvPr id="75" name="Text 15"/>
          <p:cNvGrpSpPr/>
          <p:nvPr/>
        </p:nvGrpSpPr>
        <p:grpSpPr>
          <a:xfrm>
            <a:off x="9464040" y="3611879"/>
            <a:ext cx="640081" cy="640081"/>
            <a:chOff x="0" y="0"/>
            <a:chExt cx="640080" cy="640080"/>
          </a:xfrm>
        </p:grpSpPr>
        <p:sp>
          <p:nvSpPr>
            <p:cNvPr id="73"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74" name="38"/>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38</a:t>
              </a:r>
            </a:p>
          </p:txBody>
        </p:sp>
      </p:grpSp>
      <p:grpSp>
        <p:nvGrpSpPr>
          <p:cNvPr id="78" name="Text 16"/>
          <p:cNvGrpSpPr/>
          <p:nvPr/>
        </p:nvGrpSpPr>
        <p:grpSpPr>
          <a:xfrm>
            <a:off x="10104119" y="3611879"/>
            <a:ext cx="640081" cy="640081"/>
            <a:chOff x="0" y="0"/>
            <a:chExt cx="640080" cy="640080"/>
          </a:xfrm>
        </p:grpSpPr>
        <p:sp>
          <p:nvSpPr>
            <p:cNvPr id="76"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77" name="43"/>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43</a:t>
              </a:r>
            </a:p>
          </p:txBody>
        </p:sp>
      </p:grpSp>
      <p:grpSp>
        <p:nvGrpSpPr>
          <p:cNvPr id="81" name="Text 17"/>
          <p:cNvGrpSpPr/>
          <p:nvPr/>
        </p:nvGrpSpPr>
        <p:grpSpPr>
          <a:xfrm>
            <a:off x="10744199" y="3611879"/>
            <a:ext cx="640082" cy="640081"/>
            <a:chOff x="0" y="0"/>
            <a:chExt cx="640080" cy="640080"/>
          </a:xfrm>
        </p:grpSpPr>
        <p:sp>
          <p:nvSpPr>
            <p:cNvPr id="79" name="Square"/>
            <p:cNvSpPr/>
            <p:nvPr/>
          </p:nvSpPr>
          <p:spPr>
            <a:xfrm>
              <a:off x="-1" y="-1"/>
              <a:ext cx="640082" cy="64008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80" name="82"/>
            <p:cNvSpPr txBox="1"/>
            <p:nvPr/>
          </p:nvSpPr>
          <p:spPr>
            <a:xfrm>
              <a:off x="9524" y="19566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82</a:t>
              </a:r>
            </a:p>
          </p:txBody>
        </p:sp>
      </p:grpSp>
      <p:sp>
        <p:nvSpPr>
          <p:cNvPr id="82" name="Shape 18"/>
          <p:cNvSpPr/>
          <p:nvPr/>
        </p:nvSpPr>
        <p:spPr>
          <a:xfrm>
            <a:off x="822960" y="4754879"/>
            <a:ext cx="5120641" cy="1463041"/>
          </a:xfrm>
          <a:prstGeom prst="roundRect">
            <a:avLst>
              <a:gd name="adj" fmla="val 6250"/>
            </a:avLst>
          </a:prstGeom>
          <a:solidFill>
            <a:srgbClr val="14203F"/>
          </a:solidFill>
          <a:ln>
            <a:solidFill>
              <a:srgbClr val="2A3B6B"/>
            </a:solidFill>
          </a:ln>
        </p:spPr>
        <p:txBody>
          <a:bodyPr lIns="45719" rIns="45719"/>
          <a:lstStyle/>
          <a:p>
            <a:pPr/>
          </a:p>
        </p:txBody>
      </p:sp>
      <p:sp>
        <p:nvSpPr>
          <p:cNvPr id="83" name="Text 20"/>
          <p:cNvSpPr txBox="1"/>
          <p:nvPr/>
        </p:nvSpPr>
        <p:spPr>
          <a:xfrm>
            <a:off x="1005839" y="4945176"/>
            <a:ext cx="457200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1F5F9"/>
                </a:solidFill>
              </a:defRPr>
            </a:lvl1pPr>
          </a:lstStyle>
          <a:p>
            <a:pPr/>
            <a:r>
              <a:t>Heena Khilnani</a:t>
            </a:r>
          </a:p>
        </p:txBody>
      </p:sp>
      <p:sp>
        <p:nvSpPr>
          <p:cNvPr id="84" name="Text 21"/>
          <p:cNvSpPr txBox="1"/>
          <p:nvPr/>
        </p:nvSpPr>
        <p:spPr>
          <a:xfrm>
            <a:off x="1005840" y="5281986"/>
            <a:ext cx="4572001" cy="8258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chemeClr val="accent1"/>
                </a:solidFill>
              </a:defRPr>
            </a:pPr>
            <a:r>
              <a:t>PRN: 25070521046</a:t>
            </a:r>
          </a:p>
          <a:p>
            <a:pPr>
              <a:defRPr>
                <a:solidFill>
                  <a:schemeClr val="accent1"/>
                </a:solidFill>
              </a:defRPr>
            </a:pPr>
            <a:r>
              <a:t>SEM: III</a:t>
            </a:r>
          </a:p>
          <a:p>
            <a:pPr>
              <a:defRPr>
                <a:solidFill>
                  <a:schemeClr val="accent1"/>
                </a:solidFill>
              </a:defRPr>
            </a:pPr>
            <a:r>
              <a:t>SEC:A</a:t>
            </a:r>
          </a:p>
        </p:txBody>
      </p:sp>
      <p:sp>
        <p:nvSpPr>
          <p:cNvPr id="85" name="Shape 22"/>
          <p:cNvSpPr/>
          <p:nvPr/>
        </p:nvSpPr>
        <p:spPr>
          <a:xfrm>
            <a:off x="6217920" y="4754879"/>
            <a:ext cx="5120641" cy="1463041"/>
          </a:xfrm>
          <a:prstGeom prst="roundRect">
            <a:avLst>
              <a:gd name="adj" fmla="val 6250"/>
            </a:avLst>
          </a:prstGeom>
          <a:solidFill>
            <a:srgbClr val="14203F"/>
          </a:solidFill>
          <a:ln>
            <a:solidFill>
              <a:srgbClr val="2A3B6B"/>
            </a:solidFill>
          </a:ln>
        </p:spPr>
        <p:txBody>
          <a:bodyPr lIns="45719" rIns="45719"/>
          <a:lstStyle/>
          <a:p>
            <a:pPr/>
          </a:p>
        </p:txBody>
      </p:sp>
      <p:sp>
        <p:nvSpPr>
          <p:cNvPr id="86" name="Text 23"/>
          <p:cNvSpPr txBox="1"/>
          <p:nvPr/>
        </p:nvSpPr>
        <p:spPr>
          <a:xfrm>
            <a:off x="6492240" y="4892040"/>
            <a:ext cx="4572001" cy="156865"/>
          </a:xfrm>
          <a:prstGeom prst="rect">
            <a:avLst/>
          </a:prstGeom>
          <a:ln w="12700">
            <a:miter lim="400000"/>
          </a:ln>
        </p:spPr>
        <p:txBody>
          <a:bodyPr lIns="0" tIns="0" rIns="0" bIns="0">
            <a:spAutoFit/>
          </a:bodyPr>
          <a:lstStyle/>
          <a:p>
            <a:pPr>
              <a:defRPr b="1" sz="1200">
                <a:solidFill>
                  <a:srgbClr val="A9B8D4"/>
                </a:solidFill>
              </a:defRPr>
            </a:pPr>
          </a:p>
        </p:txBody>
      </p:sp>
      <p:sp>
        <p:nvSpPr>
          <p:cNvPr id="87" name="Text 24"/>
          <p:cNvSpPr txBox="1"/>
          <p:nvPr/>
        </p:nvSpPr>
        <p:spPr>
          <a:xfrm>
            <a:off x="6492240" y="5193791"/>
            <a:ext cx="4663441" cy="5647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600">
                <a:solidFill>
                  <a:srgbClr val="F1F5F9"/>
                </a:solidFill>
              </a:defRPr>
            </a:pPr>
            <a:r>
              <a:t>Presentation created using </a:t>
            </a:r>
            <a:r>
              <a:rPr b="1">
                <a:solidFill>
                  <a:schemeClr val="accent2"/>
                </a:solidFill>
              </a:rPr>
              <a:t>Claude</a:t>
            </a:r>
          </a:p>
          <a:p>
            <a:pPr>
              <a:spcBef>
                <a:spcPts val="800"/>
              </a:spcBef>
              <a:defRPr sz="1600">
                <a:solidFill>
                  <a:srgbClr val="F1F5F9"/>
                </a:solidFill>
              </a:defRPr>
            </a:pPr>
            <a:r>
              <a:t>Reference video made using </a:t>
            </a:r>
            <a:r>
              <a:rPr b="1">
                <a:solidFill>
                  <a:schemeClr val="accent4"/>
                </a:solidFill>
              </a:rPr>
              <a:t>MiMo-V2.6-Flash (Free)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ph type="title"/>
          </p:nvPr>
        </p:nvSpPr>
        <p:spPr>
          <a:xfrm>
            <a:off x="548639" y="320039"/>
            <a:ext cx="11064242" cy="731522"/>
          </a:xfrm>
          <a:prstGeom prst="rect">
            <a:avLst/>
          </a:prstGeom>
        </p:spPr>
        <p:txBody>
          <a:bodyPr lIns="0" tIns="0" rIns="0" bIns="0" anchor="ctr"/>
          <a:lstStyle/>
          <a:p>
            <a:pPr/>
            <a:r>
              <a:t>Merge Sort — A Divide and Conquer Algorithm</a:t>
            </a:r>
          </a:p>
        </p:txBody>
      </p:sp>
      <p:sp>
        <p:nvSpPr>
          <p:cNvPr id="92" name="Shape 1"/>
          <p:cNvSpPr/>
          <p:nvPr/>
        </p:nvSpPr>
        <p:spPr>
          <a:xfrm>
            <a:off x="548640" y="1280160"/>
            <a:ext cx="3566160" cy="2697480"/>
          </a:xfrm>
          <a:prstGeom prst="roundRect">
            <a:avLst>
              <a:gd name="adj" fmla="val 3390"/>
            </a:avLst>
          </a:prstGeom>
          <a:solidFill>
            <a:srgbClr val="14203F"/>
          </a:solidFill>
          <a:ln>
            <a:solidFill>
              <a:srgbClr val="2A3B6B"/>
            </a:solidFill>
          </a:ln>
        </p:spPr>
        <p:txBody>
          <a:bodyPr lIns="45719" rIns="45719"/>
          <a:lstStyle/>
          <a:p>
            <a:pPr/>
          </a:p>
        </p:txBody>
      </p:sp>
      <p:sp>
        <p:nvSpPr>
          <p:cNvPr id="93" name="Shape 2"/>
          <p:cNvSpPr/>
          <p:nvPr/>
        </p:nvSpPr>
        <p:spPr>
          <a:xfrm>
            <a:off x="777240" y="1508760"/>
            <a:ext cx="182881" cy="182881"/>
          </a:xfrm>
          <a:prstGeom prst="ellipse">
            <a:avLst/>
          </a:prstGeom>
          <a:solidFill>
            <a:schemeClr val="accent1"/>
          </a:solidFill>
          <a:ln w="12700">
            <a:solidFill>
              <a:schemeClr val="accent1"/>
            </a:solidFill>
          </a:ln>
        </p:spPr>
        <p:txBody>
          <a:bodyPr lIns="45719" rIns="45719"/>
          <a:lstStyle/>
          <a:p>
            <a:pPr/>
          </a:p>
        </p:txBody>
      </p:sp>
      <p:sp>
        <p:nvSpPr>
          <p:cNvPr id="94" name="Text 3"/>
          <p:cNvSpPr txBox="1"/>
          <p:nvPr/>
        </p:nvSpPr>
        <p:spPr>
          <a:xfrm>
            <a:off x="1051559" y="1480401"/>
            <a:ext cx="2926082"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What is sorting?</a:t>
            </a:r>
          </a:p>
        </p:txBody>
      </p:sp>
      <p:sp>
        <p:nvSpPr>
          <p:cNvPr id="95" name="Text 4"/>
          <p:cNvSpPr txBox="1"/>
          <p:nvPr/>
        </p:nvSpPr>
        <p:spPr>
          <a:xfrm>
            <a:off x="777239" y="1920239"/>
            <a:ext cx="3154682" cy="1387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700">
                <a:solidFill>
                  <a:srgbClr val="F1F5F9"/>
                </a:solidFill>
              </a:defRPr>
            </a:pPr>
            <a:r>
              <a:t>Arranging data in order, e.g. smallest to largest (ascending).</a:t>
            </a:r>
          </a:p>
          <a:p>
            <a:pPr>
              <a:spcBef>
                <a:spcPts val="800"/>
              </a:spcBef>
              <a:defRPr sz="1700">
                <a:solidFill>
                  <a:srgbClr val="F1F5F9"/>
                </a:solidFill>
              </a:defRPr>
            </a:pPr>
            <a:r>
              <a:t>Sorted data is fast to search, rank and process: databases, search engines, leaderboards.</a:t>
            </a:r>
          </a:p>
        </p:txBody>
      </p:sp>
      <p:sp>
        <p:nvSpPr>
          <p:cNvPr id="96" name="Shape 5"/>
          <p:cNvSpPr/>
          <p:nvPr/>
        </p:nvSpPr>
        <p:spPr>
          <a:xfrm>
            <a:off x="4297679" y="1280160"/>
            <a:ext cx="3566161" cy="2697480"/>
          </a:xfrm>
          <a:prstGeom prst="roundRect">
            <a:avLst>
              <a:gd name="adj" fmla="val 3390"/>
            </a:avLst>
          </a:prstGeom>
          <a:solidFill>
            <a:srgbClr val="14203F"/>
          </a:solidFill>
          <a:ln>
            <a:solidFill>
              <a:srgbClr val="2A3B6B"/>
            </a:solidFill>
          </a:ln>
        </p:spPr>
        <p:txBody>
          <a:bodyPr lIns="45719" rIns="45719"/>
          <a:lstStyle/>
          <a:p>
            <a:pPr/>
          </a:p>
        </p:txBody>
      </p:sp>
      <p:sp>
        <p:nvSpPr>
          <p:cNvPr id="97" name="Shape 6"/>
          <p:cNvSpPr/>
          <p:nvPr/>
        </p:nvSpPr>
        <p:spPr>
          <a:xfrm>
            <a:off x="4526279" y="1508760"/>
            <a:ext cx="182881" cy="182881"/>
          </a:xfrm>
          <a:prstGeom prst="ellipse">
            <a:avLst/>
          </a:prstGeom>
          <a:solidFill>
            <a:schemeClr val="accent2"/>
          </a:solidFill>
          <a:ln w="12700">
            <a:solidFill>
              <a:schemeClr val="accent2"/>
            </a:solidFill>
          </a:ln>
        </p:spPr>
        <p:txBody>
          <a:bodyPr lIns="45719" rIns="45719"/>
          <a:lstStyle/>
          <a:p>
            <a:pPr/>
          </a:p>
        </p:txBody>
      </p:sp>
      <p:sp>
        <p:nvSpPr>
          <p:cNvPr id="98" name="Text 7"/>
          <p:cNvSpPr txBox="1"/>
          <p:nvPr/>
        </p:nvSpPr>
        <p:spPr>
          <a:xfrm>
            <a:off x="4800600" y="1480401"/>
            <a:ext cx="29260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2"/>
                </a:solidFill>
              </a:defRPr>
            </a:lvl1pPr>
          </a:lstStyle>
          <a:p>
            <a:pPr/>
            <a:r>
              <a:t>What is Merge Sort?</a:t>
            </a:r>
          </a:p>
        </p:txBody>
      </p:sp>
      <p:sp>
        <p:nvSpPr>
          <p:cNvPr id="99" name="Text 8"/>
          <p:cNvSpPr txBox="1"/>
          <p:nvPr/>
        </p:nvSpPr>
        <p:spPr>
          <a:xfrm>
            <a:off x="4526279" y="1920239"/>
            <a:ext cx="3154682" cy="1387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700">
                <a:solidFill>
                  <a:srgbClr val="F1F5F9"/>
                </a:solidFill>
              </a:defRPr>
            </a:pPr>
            <a:r>
              <a:t>A sorting algorithm built on divide and conquer.</a:t>
            </a:r>
          </a:p>
          <a:p>
            <a:pPr>
              <a:spcBef>
                <a:spcPts val="800"/>
              </a:spcBef>
              <a:defRPr sz="1700">
                <a:solidFill>
                  <a:srgbClr val="F1F5F9"/>
                </a:solidFill>
              </a:defRPr>
            </a:pPr>
            <a:r>
              <a:t>It splits an array into smaller parts, sorts each part, then merges them back in sorted order.</a:t>
            </a:r>
          </a:p>
        </p:txBody>
      </p:sp>
      <p:sp>
        <p:nvSpPr>
          <p:cNvPr id="100" name="Shape 9"/>
          <p:cNvSpPr/>
          <p:nvPr/>
        </p:nvSpPr>
        <p:spPr>
          <a:xfrm>
            <a:off x="8046719" y="1280160"/>
            <a:ext cx="3566161" cy="2697480"/>
          </a:xfrm>
          <a:prstGeom prst="roundRect">
            <a:avLst>
              <a:gd name="adj" fmla="val 3390"/>
            </a:avLst>
          </a:prstGeom>
          <a:solidFill>
            <a:srgbClr val="14203F"/>
          </a:solidFill>
          <a:ln>
            <a:solidFill>
              <a:srgbClr val="2A3B6B"/>
            </a:solidFill>
          </a:ln>
        </p:spPr>
        <p:txBody>
          <a:bodyPr lIns="45719" rIns="45719"/>
          <a:lstStyle/>
          <a:p>
            <a:pPr/>
          </a:p>
        </p:txBody>
      </p:sp>
      <p:sp>
        <p:nvSpPr>
          <p:cNvPr id="101" name="Shape 10"/>
          <p:cNvSpPr/>
          <p:nvPr/>
        </p:nvSpPr>
        <p:spPr>
          <a:xfrm>
            <a:off x="8275319" y="1508760"/>
            <a:ext cx="182881" cy="182881"/>
          </a:xfrm>
          <a:prstGeom prst="ellipse">
            <a:avLst/>
          </a:prstGeom>
          <a:solidFill>
            <a:schemeClr val="accent3"/>
          </a:solidFill>
          <a:ln w="12700">
            <a:solidFill>
              <a:schemeClr val="accent3"/>
            </a:solidFill>
          </a:ln>
        </p:spPr>
        <p:txBody>
          <a:bodyPr lIns="45719" rIns="45719"/>
          <a:lstStyle/>
          <a:p>
            <a:pPr/>
          </a:p>
        </p:txBody>
      </p:sp>
      <p:sp>
        <p:nvSpPr>
          <p:cNvPr id="102" name="Text 11"/>
          <p:cNvSpPr txBox="1"/>
          <p:nvPr/>
        </p:nvSpPr>
        <p:spPr>
          <a:xfrm>
            <a:off x="8549640" y="1480401"/>
            <a:ext cx="29260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3"/>
                </a:solidFill>
              </a:defRPr>
            </a:lvl1pPr>
          </a:lstStyle>
          <a:p>
            <a:pPr/>
            <a:r>
              <a:t>The basic idea</a:t>
            </a:r>
          </a:p>
        </p:txBody>
      </p:sp>
      <p:sp>
        <p:nvSpPr>
          <p:cNvPr id="103" name="Text 12"/>
          <p:cNvSpPr txBox="1"/>
          <p:nvPr/>
        </p:nvSpPr>
        <p:spPr>
          <a:xfrm>
            <a:off x="8275319" y="1920239"/>
            <a:ext cx="3154681" cy="1387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700">
                <a:solidFill>
                  <a:srgbClr val="F1F5F9"/>
                </a:solidFill>
              </a:defRPr>
            </a:pPr>
            <a:r>
              <a:t>Keep halving the array until every piece has one element.</a:t>
            </a:r>
          </a:p>
          <a:p>
            <a:pPr>
              <a:spcBef>
                <a:spcPts val="800"/>
              </a:spcBef>
              <a:defRPr sz="1700">
                <a:solidFill>
                  <a:srgbClr val="F1F5F9"/>
                </a:solidFill>
              </a:defRPr>
            </a:pPr>
            <a:r>
              <a:t>One element is already sorted, so just merge the sorted pieces back together.</a:t>
            </a:r>
          </a:p>
        </p:txBody>
      </p:sp>
      <p:sp>
        <p:nvSpPr>
          <p:cNvPr id="104" name="Shape 13"/>
          <p:cNvSpPr/>
          <p:nvPr/>
        </p:nvSpPr>
        <p:spPr>
          <a:xfrm>
            <a:off x="548640" y="4206240"/>
            <a:ext cx="11064241" cy="2148841"/>
          </a:xfrm>
          <a:prstGeom prst="roundRect">
            <a:avLst>
              <a:gd name="adj" fmla="val 4255"/>
            </a:avLst>
          </a:prstGeom>
          <a:solidFill>
            <a:srgbClr val="14203F"/>
          </a:solidFill>
          <a:ln>
            <a:solidFill>
              <a:srgbClr val="2A3B6B"/>
            </a:solidFill>
          </a:ln>
        </p:spPr>
        <p:txBody>
          <a:bodyPr lIns="45719" rIns="45719"/>
          <a:lstStyle/>
          <a:p>
            <a:pPr/>
          </a:p>
        </p:txBody>
      </p:sp>
      <p:sp>
        <p:nvSpPr>
          <p:cNvPr id="105" name="Text 14"/>
          <p:cNvSpPr txBox="1"/>
          <p:nvPr/>
        </p:nvSpPr>
        <p:spPr>
          <a:xfrm>
            <a:off x="822960" y="4343400"/>
            <a:ext cx="402336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300">
                <a:solidFill>
                  <a:srgbClr val="A9B8D4"/>
                </a:solidFill>
              </a:defRPr>
            </a:lvl1pPr>
          </a:lstStyle>
          <a:p>
            <a:pPr/>
            <a:r>
              <a:t>UNSORTED INPUT</a:t>
            </a:r>
          </a:p>
        </p:txBody>
      </p:sp>
      <p:sp>
        <p:nvSpPr>
          <p:cNvPr id="106" name="Text 15"/>
          <p:cNvSpPr txBox="1"/>
          <p:nvPr/>
        </p:nvSpPr>
        <p:spPr>
          <a:xfrm>
            <a:off x="7223759" y="4343400"/>
            <a:ext cx="402336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300">
                <a:solidFill>
                  <a:schemeClr val="accent3"/>
                </a:solidFill>
              </a:defRPr>
            </a:lvl1pPr>
          </a:lstStyle>
          <a:p>
            <a:pPr/>
            <a:r>
              <a:t>SORTED OUTPUT</a:t>
            </a:r>
          </a:p>
        </p:txBody>
      </p:sp>
      <p:grpSp>
        <p:nvGrpSpPr>
          <p:cNvPr id="109" name="Text 16"/>
          <p:cNvGrpSpPr/>
          <p:nvPr/>
        </p:nvGrpSpPr>
        <p:grpSpPr>
          <a:xfrm>
            <a:off x="594359" y="4800600"/>
            <a:ext cx="640081" cy="685800"/>
            <a:chOff x="0" y="0"/>
            <a:chExt cx="640080" cy="685800"/>
          </a:xfrm>
        </p:grpSpPr>
        <p:sp>
          <p:nvSpPr>
            <p:cNvPr id="107"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08" name="38"/>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38</a:t>
              </a:r>
            </a:p>
          </p:txBody>
        </p:sp>
      </p:grpSp>
      <p:grpSp>
        <p:nvGrpSpPr>
          <p:cNvPr id="112" name="Text 17"/>
          <p:cNvGrpSpPr/>
          <p:nvPr/>
        </p:nvGrpSpPr>
        <p:grpSpPr>
          <a:xfrm>
            <a:off x="1234439" y="4800600"/>
            <a:ext cx="640081" cy="685800"/>
            <a:chOff x="0" y="0"/>
            <a:chExt cx="640080" cy="685800"/>
          </a:xfrm>
        </p:grpSpPr>
        <p:sp>
          <p:nvSpPr>
            <p:cNvPr id="110"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11" name="27"/>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27</a:t>
              </a:r>
            </a:p>
          </p:txBody>
        </p:sp>
      </p:grpSp>
      <p:grpSp>
        <p:nvGrpSpPr>
          <p:cNvPr id="115" name="Text 18"/>
          <p:cNvGrpSpPr/>
          <p:nvPr/>
        </p:nvGrpSpPr>
        <p:grpSpPr>
          <a:xfrm>
            <a:off x="1874520" y="4800600"/>
            <a:ext cx="640081" cy="685800"/>
            <a:chOff x="0" y="0"/>
            <a:chExt cx="640080" cy="685800"/>
          </a:xfrm>
        </p:grpSpPr>
        <p:sp>
          <p:nvSpPr>
            <p:cNvPr id="113"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14" name="43"/>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43</a:t>
              </a:r>
            </a:p>
          </p:txBody>
        </p:sp>
      </p:grpSp>
      <p:grpSp>
        <p:nvGrpSpPr>
          <p:cNvPr id="118" name="Text 19"/>
          <p:cNvGrpSpPr/>
          <p:nvPr/>
        </p:nvGrpSpPr>
        <p:grpSpPr>
          <a:xfrm>
            <a:off x="2514599" y="4800600"/>
            <a:ext cx="640082" cy="685800"/>
            <a:chOff x="0" y="0"/>
            <a:chExt cx="640080" cy="685800"/>
          </a:xfrm>
        </p:grpSpPr>
        <p:sp>
          <p:nvSpPr>
            <p:cNvPr id="116"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17" name="3"/>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3</a:t>
              </a:r>
            </a:p>
          </p:txBody>
        </p:sp>
      </p:grpSp>
      <p:grpSp>
        <p:nvGrpSpPr>
          <p:cNvPr id="121" name="Text 20"/>
          <p:cNvGrpSpPr/>
          <p:nvPr/>
        </p:nvGrpSpPr>
        <p:grpSpPr>
          <a:xfrm>
            <a:off x="3154679" y="4800600"/>
            <a:ext cx="640081" cy="685800"/>
            <a:chOff x="0" y="0"/>
            <a:chExt cx="640080" cy="685800"/>
          </a:xfrm>
        </p:grpSpPr>
        <p:sp>
          <p:nvSpPr>
            <p:cNvPr id="119"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20" name="9"/>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9</a:t>
              </a:r>
            </a:p>
          </p:txBody>
        </p:sp>
      </p:grpSp>
      <p:grpSp>
        <p:nvGrpSpPr>
          <p:cNvPr id="124" name="Text 21"/>
          <p:cNvGrpSpPr/>
          <p:nvPr/>
        </p:nvGrpSpPr>
        <p:grpSpPr>
          <a:xfrm>
            <a:off x="3794759" y="4800600"/>
            <a:ext cx="640081" cy="685800"/>
            <a:chOff x="0" y="0"/>
            <a:chExt cx="640080" cy="685800"/>
          </a:xfrm>
        </p:grpSpPr>
        <p:sp>
          <p:nvSpPr>
            <p:cNvPr id="122"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23" name="82"/>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82</a:t>
              </a:r>
            </a:p>
          </p:txBody>
        </p:sp>
      </p:grpSp>
      <p:grpSp>
        <p:nvGrpSpPr>
          <p:cNvPr id="127" name="Text 22"/>
          <p:cNvGrpSpPr/>
          <p:nvPr/>
        </p:nvGrpSpPr>
        <p:grpSpPr>
          <a:xfrm>
            <a:off x="4434840" y="4800600"/>
            <a:ext cx="640081" cy="685800"/>
            <a:chOff x="0" y="0"/>
            <a:chExt cx="640080" cy="685800"/>
          </a:xfrm>
        </p:grpSpPr>
        <p:sp>
          <p:nvSpPr>
            <p:cNvPr id="125" name="Rectangle"/>
            <p:cNvSpPr/>
            <p:nvPr/>
          </p:nvSpPr>
          <p:spPr>
            <a:xfrm>
              <a:off x="-1" y="0"/>
              <a:ext cx="640082" cy="685800"/>
            </a:xfrm>
            <a:prstGeom prst="rect">
              <a:avLst/>
            </a:prstGeom>
            <a:solidFill>
              <a:srgbClr val="334870"/>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26" name="10"/>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1F5F9"/>
                  </a:solidFill>
                </a:defRPr>
              </a:lvl1pPr>
            </a:lstStyle>
            <a:p>
              <a:pPr/>
              <a:r>
                <a:t>10</a:t>
              </a:r>
            </a:p>
          </p:txBody>
        </p:sp>
      </p:grpSp>
      <p:grpSp>
        <p:nvGrpSpPr>
          <p:cNvPr id="130" name="Text 23"/>
          <p:cNvGrpSpPr/>
          <p:nvPr/>
        </p:nvGrpSpPr>
        <p:grpSpPr>
          <a:xfrm>
            <a:off x="6995159" y="4800600"/>
            <a:ext cx="640081" cy="685800"/>
            <a:chOff x="0" y="0"/>
            <a:chExt cx="640080" cy="685800"/>
          </a:xfrm>
        </p:grpSpPr>
        <p:sp>
          <p:nvSpPr>
            <p:cNvPr id="128"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29" name="3"/>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3</a:t>
              </a:r>
            </a:p>
          </p:txBody>
        </p:sp>
      </p:grpSp>
      <p:grpSp>
        <p:nvGrpSpPr>
          <p:cNvPr id="133" name="Text 24"/>
          <p:cNvGrpSpPr/>
          <p:nvPr/>
        </p:nvGrpSpPr>
        <p:grpSpPr>
          <a:xfrm>
            <a:off x="7635240" y="4800600"/>
            <a:ext cx="640081" cy="685800"/>
            <a:chOff x="0" y="0"/>
            <a:chExt cx="640080" cy="685800"/>
          </a:xfrm>
        </p:grpSpPr>
        <p:sp>
          <p:nvSpPr>
            <p:cNvPr id="131"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32" name="9"/>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9</a:t>
              </a:r>
            </a:p>
          </p:txBody>
        </p:sp>
      </p:grpSp>
      <p:grpSp>
        <p:nvGrpSpPr>
          <p:cNvPr id="136" name="Text 25"/>
          <p:cNvGrpSpPr/>
          <p:nvPr/>
        </p:nvGrpSpPr>
        <p:grpSpPr>
          <a:xfrm>
            <a:off x="8275319" y="4800600"/>
            <a:ext cx="640081" cy="685800"/>
            <a:chOff x="0" y="0"/>
            <a:chExt cx="640080" cy="685800"/>
          </a:xfrm>
        </p:grpSpPr>
        <p:sp>
          <p:nvSpPr>
            <p:cNvPr id="134"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35" name="10"/>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10</a:t>
              </a:r>
            </a:p>
          </p:txBody>
        </p:sp>
      </p:grpSp>
      <p:grpSp>
        <p:nvGrpSpPr>
          <p:cNvPr id="139" name="Text 26"/>
          <p:cNvGrpSpPr/>
          <p:nvPr/>
        </p:nvGrpSpPr>
        <p:grpSpPr>
          <a:xfrm>
            <a:off x="8915399" y="4800600"/>
            <a:ext cx="640082" cy="685800"/>
            <a:chOff x="0" y="0"/>
            <a:chExt cx="640080" cy="685800"/>
          </a:xfrm>
        </p:grpSpPr>
        <p:sp>
          <p:nvSpPr>
            <p:cNvPr id="137"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38" name="27"/>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27</a:t>
              </a:r>
            </a:p>
          </p:txBody>
        </p:sp>
      </p:grpSp>
      <p:grpSp>
        <p:nvGrpSpPr>
          <p:cNvPr id="142" name="Text 27"/>
          <p:cNvGrpSpPr/>
          <p:nvPr/>
        </p:nvGrpSpPr>
        <p:grpSpPr>
          <a:xfrm>
            <a:off x="9555480" y="4800600"/>
            <a:ext cx="640081" cy="685800"/>
            <a:chOff x="0" y="0"/>
            <a:chExt cx="640080" cy="685800"/>
          </a:xfrm>
        </p:grpSpPr>
        <p:sp>
          <p:nvSpPr>
            <p:cNvPr id="140"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41" name="38"/>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38</a:t>
              </a:r>
            </a:p>
          </p:txBody>
        </p:sp>
      </p:grpSp>
      <p:grpSp>
        <p:nvGrpSpPr>
          <p:cNvPr id="145" name="Text 28"/>
          <p:cNvGrpSpPr/>
          <p:nvPr/>
        </p:nvGrpSpPr>
        <p:grpSpPr>
          <a:xfrm>
            <a:off x="10195559" y="4800600"/>
            <a:ext cx="640081" cy="685800"/>
            <a:chOff x="0" y="0"/>
            <a:chExt cx="640080" cy="685800"/>
          </a:xfrm>
        </p:grpSpPr>
        <p:sp>
          <p:nvSpPr>
            <p:cNvPr id="143"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44" name="43"/>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43</a:t>
              </a:r>
            </a:p>
          </p:txBody>
        </p:sp>
      </p:grpSp>
      <p:grpSp>
        <p:nvGrpSpPr>
          <p:cNvPr id="148" name="Text 29"/>
          <p:cNvGrpSpPr/>
          <p:nvPr/>
        </p:nvGrpSpPr>
        <p:grpSpPr>
          <a:xfrm>
            <a:off x="10835640" y="4800600"/>
            <a:ext cx="640081" cy="685800"/>
            <a:chOff x="0" y="0"/>
            <a:chExt cx="640080" cy="685800"/>
          </a:xfrm>
        </p:grpSpPr>
        <p:sp>
          <p:nvSpPr>
            <p:cNvPr id="146" name="Rectangle"/>
            <p:cNvSpPr/>
            <p:nvPr/>
          </p:nvSpPr>
          <p:spPr>
            <a:xfrm>
              <a:off x="-1" y="0"/>
              <a:ext cx="640082" cy="685800"/>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000"/>
              </a:pPr>
            </a:p>
          </p:txBody>
        </p:sp>
        <p:sp>
          <p:nvSpPr>
            <p:cNvPr id="147" name="82"/>
            <p:cNvSpPr txBox="1"/>
            <p:nvPr/>
          </p:nvSpPr>
          <p:spPr>
            <a:xfrm>
              <a:off x="9524" y="218529"/>
              <a:ext cx="621032" cy="2487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lvl1pPr>
            </a:lstStyle>
            <a:p>
              <a:pPr/>
              <a:r>
                <a:t>82</a:t>
              </a:r>
            </a:p>
          </p:txBody>
        </p:sp>
      </p:grpSp>
      <p:sp>
        <p:nvSpPr>
          <p:cNvPr id="149" name="Shape 30"/>
          <p:cNvSpPr/>
          <p:nvPr/>
        </p:nvSpPr>
        <p:spPr>
          <a:xfrm>
            <a:off x="5257800" y="4846320"/>
            <a:ext cx="1554481" cy="59436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sp>
        <p:nvSpPr>
          <p:cNvPr id="150" name="Text 31"/>
          <p:cNvSpPr txBox="1"/>
          <p:nvPr/>
        </p:nvSpPr>
        <p:spPr>
          <a:xfrm>
            <a:off x="5074920" y="5577840"/>
            <a:ext cx="192024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chemeClr val="accent2"/>
                </a:solidFill>
              </a:defRPr>
            </a:lvl1pPr>
          </a:lstStyle>
          <a:p>
            <a:pPr/>
            <a:r>
              <a:t>Merge Sort</a:t>
            </a:r>
          </a:p>
        </p:txBody>
      </p:sp>
      <p:sp>
        <p:nvSpPr>
          <p:cNvPr id="151" name="Text 32"/>
          <p:cNvSpPr txBox="1"/>
          <p:nvPr/>
        </p:nvSpPr>
        <p:spPr>
          <a:xfrm>
            <a:off x="822960" y="5806440"/>
            <a:ext cx="402336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A9B8D4"/>
                </a:solidFill>
              </a:defRPr>
            </a:lvl1pPr>
          </a:lstStyle>
          <a:p>
            <a:pPr/>
            <a:r>
              <a:t>Divide  →  Sort  →  Merge</a:t>
            </a:r>
          </a:p>
        </p:txBody>
      </p:sp>
      <p:sp>
        <p:nvSpPr>
          <p:cNvPr id="152" name="Text 33"/>
          <p:cNvSpPr txBox="1"/>
          <p:nvPr/>
        </p:nvSpPr>
        <p:spPr>
          <a:xfrm>
            <a:off x="7223759" y="5806440"/>
            <a:ext cx="402336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A9B8D4"/>
                </a:solidFill>
              </a:defRPr>
            </a:lvl1pPr>
          </a:lstStyle>
          <a:p>
            <a:pPr/>
            <a:r>
              <a:t>Same 7 numbers, now in ascending order</a:t>
            </a:r>
          </a:p>
        </p:txBody>
      </p:sp>
      <p:sp>
        <p:nvSpPr>
          <p:cNvPr id="153"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 0"/>
          <p:cNvSpPr txBox="1"/>
          <p:nvPr>
            <p:ph type="title"/>
          </p:nvPr>
        </p:nvSpPr>
        <p:spPr>
          <a:xfrm>
            <a:off x="548639" y="320039"/>
            <a:ext cx="11064242" cy="731522"/>
          </a:xfrm>
          <a:prstGeom prst="rect">
            <a:avLst/>
          </a:prstGeom>
        </p:spPr>
        <p:txBody>
          <a:bodyPr lIns="0" tIns="0" rIns="0" bIns="0" anchor="ctr"/>
          <a:lstStyle/>
          <a:p>
            <a:pPr/>
            <a:r>
              <a:t>Why Do We Need Merge Sort?</a:t>
            </a:r>
          </a:p>
        </p:txBody>
      </p:sp>
      <p:sp>
        <p:nvSpPr>
          <p:cNvPr id="158" name="Shape 1"/>
          <p:cNvSpPr/>
          <p:nvPr/>
        </p:nvSpPr>
        <p:spPr>
          <a:xfrm>
            <a:off x="548640" y="1280160"/>
            <a:ext cx="5669280" cy="3154680"/>
          </a:xfrm>
          <a:prstGeom prst="roundRect">
            <a:avLst>
              <a:gd name="adj" fmla="val 2899"/>
            </a:avLst>
          </a:prstGeom>
          <a:solidFill>
            <a:srgbClr val="14203F"/>
          </a:solidFill>
          <a:ln>
            <a:solidFill>
              <a:srgbClr val="2A3B6B"/>
            </a:solidFill>
          </a:ln>
        </p:spPr>
        <p:txBody>
          <a:bodyPr lIns="45719" rIns="45719"/>
          <a:lstStyle/>
          <a:p>
            <a:pPr/>
          </a:p>
        </p:txBody>
      </p:sp>
      <p:sp>
        <p:nvSpPr>
          <p:cNvPr id="159" name="Shape 2"/>
          <p:cNvSpPr/>
          <p:nvPr/>
        </p:nvSpPr>
        <p:spPr>
          <a:xfrm>
            <a:off x="777240" y="1527047"/>
            <a:ext cx="128017" cy="457201"/>
          </a:xfrm>
          <a:prstGeom prst="roundRect">
            <a:avLst>
              <a:gd name="adj" fmla="val 35714"/>
            </a:avLst>
          </a:prstGeom>
          <a:solidFill>
            <a:schemeClr val="accent5"/>
          </a:solidFill>
          <a:ln w="12700">
            <a:solidFill>
              <a:schemeClr val="accent5"/>
            </a:solidFill>
          </a:ln>
        </p:spPr>
        <p:txBody>
          <a:bodyPr lIns="45719" rIns="45719"/>
          <a:lstStyle/>
          <a:p>
            <a:pPr/>
          </a:p>
        </p:txBody>
      </p:sp>
      <p:sp>
        <p:nvSpPr>
          <p:cNvPr id="160" name="Text 3"/>
          <p:cNvSpPr txBox="1"/>
          <p:nvPr/>
        </p:nvSpPr>
        <p:spPr>
          <a:xfrm>
            <a:off x="1097279" y="1481327"/>
            <a:ext cx="4937762"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1F5F9"/>
                </a:solidFill>
              </a:defRPr>
            </a:pPr>
            <a:r>
              <a:t>Real data is huge.</a:t>
            </a:r>
            <a:endParaRPr sz="1400"/>
          </a:p>
          <a:p>
            <a:pPr>
              <a:defRPr sz="1400">
                <a:solidFill>
                  <a:srgbClr val="A9B8D4"/>
                </a:solidFill>
              </a:defRPr>
            </a:pPr>
            <a:r>
              <a:t>Databases and search engines hold millions of items.</a:t>
            </a:r>
          </a:p>
        </p:txBody>
      </p:sp>
      <p:sp>
        <p:nvSpPr>
          <p:cNvPr id="161" name="Shape 4"/>
          <p:cNvSpPr/>
          <p:nvPr/>
        </p:nvSpPr>
        <p:spPr>
          <a:xfrm>
            <a:off x="777240" y="2258567"/>
            <a:ext cx="128017" cy="457201"/>
          </a:xfrm>
          <a:prstGeom prst="roundRect">
            <a:avLst>
              <a:gd name="adj" fmla="val 35714"/>
            </a:avLst>
          </a:prstGeom>
          <a:solidFill>
            <a:schemeClr val="accent1"/>
          </a:solidFill>
          <a:ln w="12700">
            <a:solidFill>
              <a:schemeClr val="accent1"/>
            </a:solidFill>
          </a:ln>
        </p:spPr>
        <p:txBody>
          <a:bodyPr lIns="45719" rIns="45719"/>
          <a:lstStyle/>
          <a:p>
            <a:pPr/>
          </a:p>
        </p:txBody>
      </p:sp>
      <p:sp>
        <p:nvSpPr>
          <p:cNvPr id="162" name="Text 5"/>
          <p:cNvSpPr txBox="1"/>
          <p:nvPr/>
        </p:nvSpPr>
        <p:spPr>
          <a:xfrm>
            <a:off x="1097279" y="2212848"/>
            <a:ext cx="4937762"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1F5F9"/>
                </a:solidFill>
              </a:defRPr>
            </a:pPr>
            <a:r>
              <a:t>Sorted data is fast to search.</a:t>
            </a:r>
            <a:endParaRPr sz="1400"/>
          </a:p>
          <a:p>
            <a:pPr>
              <a:defRPr sz="1400">
                <a:solidFill>
                  <a:srgbClr val="A9B8D4"/>
                </a:solidFill>
              </a:defRPr>
            </a:pPr>
            <a:r>
              <a:t>Binary search needs only about log n steps.</a:t>
            </a:r>
          </a:p>
        </p:txBody>
      </p:sp>
      <p:sp>
        <p:nvSpPr>
          <p:cNvPr id="163" name="Shape 6"/>
          <p:cNvSpPr/>
          <p:nvPr/>
        </p:nvSpPr>
        <p:spPr>
          <a:xfrm>
            <a:off x="777240" y="2990088"/>
            <a:ext cx="128017" cy="457201"/>
          </a:xfrm>
          <a:prstGeom prst="roundRect">
            <a:avLst>
              <a:gd name="adj" fmla="val 35714"/>
            </a:avLst>
          </a:prstGeom>
          <a:solidFill>
            <a:schemeClr val="accent6"/>
          </a:solidFill>
          <a:ln w="12700">
            <a:solidFill>
              <a:schemeClr val="accent6"/>
            </a:solidFill>
          </a:ln>
        </p:spPr>
        <p:txBody>
          <a:bodyPr lIns="45719" rIns="45719"/>
          <a:lstStyle/>
          <a:p>
            <a:pPr/>
          </a:p>
        </p:txBody>
      </p:sp>
      <p:sp>
        <p:nvSpPr>
          <p:cNvPr id="164" name="Text 7"/>
          <p:cNvSpPr txBox="1"/>
          <p:nvPr/>
        </p:nvSpPr>
        <p:spPr>
          <a:xfrm>
            <a:off x="1097279" y="2944367"/>
            <a:ext cx="4937762"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1F5F9"/>
                </a:solidFill>
              </a:defRPr>
            </a:pPr>
            <a:r>
              <a:t>Simple sorts are too slow.</a:t>
            </a:r>
            <a:endParaRPr sz="1400"/>
          </a:p>
          <a:p>
            <a:pPr>
              <a:defRPr sz="1400">
                <a:solidFill>
                  <a:srgbClr val="A9B8D4"/>
                </a:solidFill>
              </a:defRPr>
            </a:pPr>
            <a:r>
              <a:t>Bubble, Selection and Insertion sort take O(n²).</a:t>
            </a:r>
          </a:p>
        </p:txBody>
      </p:sp>
      <p:sp>
        <p:nvSpPr>
          <p:cNvPr id="165" name="Shape 8"/>
          <p:cNvSpPr/>
          <p:nvPr/>
        </p:nvSpPr>
        <p:spPr>
          <a:xfrm>
            <a:off x="777240" y="3721608"/>
            <a:ext cx="128017" cy="457201"/>
          </a:xfrm>
          <a:prstGeom prst="roundRect">
            <a:avLst>
              <a:gd name="adj" fmla="val 35714"/>
            </a:avLst>
          </a:prstGeom>
          <a:solidFill>
            <a:schemeClr val="accent3"/>
          </a:solidFill>
          <a:ln w="12700">
            <a:solidFill>
              <a:schemeClr val="accent3"/>
            </a:solidFill>
          </a:ln>
        </p:spPr>
        <p:txBody>
          <a:bodyPr lIns="45719" rIns="45719"/>
          <a:lstStyle/>
          <a:p>
            <a:pPr/>
          </a:p>
        </p:txBody>
      </p:sp>
      <p:sp>
        <p:nvSpPr>
          <p:cNvPr id="166" name="Text 9"/>
          <p:cNvSpPr txBox="1"/>
          <p:nvPr/>
        </p:nvSpPr>
        <p:spPr>
          <a:xfrm>
            <a:off x="1097279" y="3675888"/>
            <a:ext cx="4937762"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F1F5F9"/>
                </a:solidFill>
              </a:defRPr>
            </a:pPr>
            <a:r>
              <a:t>Merge Sort is predictable.</a:t>
            </a:r>
            <a:endParaRPr sz="1400"/>
          </a:p>
          <a:p>
            <a:pPr>
              <a:defRPr sz="1400">
                <a:solidFill>
                  <a:srgbClr val="A9B8D4"/>
                </a:solidFill>
              </a:defRPr>
            </a:pPr>
            <a:r>
              <a:t>O(n log n) in best, average and worst case.</a:t>
            </a:r>
          </a:p>
        </p:txBody>
      </p:sp>
      <p:sp>
        <p:nvSpPr>
          <p:cNvPr id="167" name="Shape 10"/>
          <p:cNvSpPr/>
          <p:nvPr/>
        </p:nvSpPr>
        <p:spPr>
          <a:xfrm>
            <a:off x="6492240" y="1280160"/>
            <a:ext cx="2560321" cy="2606040"/>
          </a:xfrm>
          <a:prstGeom prst="roundRect">
            <a:avLst>
              <a:gd name="adj" fmla="val 3571"/>
            </a:avLst>
          </a:prstGeom>
          <a:solidFill>
            <a:srgbClr val="14203F"/>
          </a:solidFill>
          <a:ln>
            <a:solidFill>
              <a:srgbClr val="2A3B6B"/>
            </a:solidFill>
          </a:ln>
        </p:spPr>
        <p:txBody>
          <a:bodyPr lIns="45719" rIns="45719"/>
          <a:lstStyle/>
          <a:p>
            <a:pPr/>
          </a:p>
        </p:txBody>
      </p:sp>
      <p:sp>
        <p:nvSpPr>
          <p:cNvPr id="168" name="Text 11"/>
          <p:cNvSpPr txBox="1"/>
          <p:nvPr/>
        </p:nvSpPr>
        <p:spPr>
          <a:xfrm>
            <a:off x="6492240" y="1463039"/>
            <a:ext cx="256032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500">
                <a:solidFill>
                  <a:srgbClr val="A9B8D4"/>
                </a:solidFill>
              </a:defRPr>
            </a:lvl1pPr>
          </a:lstStyle>
          <a:p>
            <a:pPr/>
            <a:r>
              <a:t>Simple sorts</a:t>
            </a:r>
          </a:p>
        </p:txBody>
      </p:sp>
      <p:sp>
        <p:nvSpPr>
          <p:cNvPr id="169" name="Text 12"/>
          <p:cNvSpPr txBox="1"/>
          <p:nvPr/>
        </p:nvSpPr>
        <p:spPr>
          <a:xfrm>
            <a:off x="6492240" y="2122348"/>
            <a:ext cx="256032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000">
                <a:solidFill>
                  <a:schemeClr val="accent6"/>
                </a:solidFill>
              </a:defRPr>
            </a:lvl1pPr>
          </a:lstStyle>
          <a:p>
            <a:pPr/>
            <a:r>
              <a:t>O(n²)</a:t>
            </a:r>
          </a:p>
        </p:txBody>
      </p:sp>
      <p:sp>
        <p:nvSpPr>
          <p:cNvPr id="170" name="Text 13"/>
          <p:cNvSpPr txBox="1"/>
          <p:nvPr/>
        </p:nvSpPr>
        <p:spPr>
          <a:xfrm>
            <a:off x="6492240" y="3017520"/>
            <a:ext cx="25603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F1F5F9"/>
                </a:solidFill>
              </a:defRPr>
            </a:lvl1pPr>
          </a:lstStyle>
          <a:p>
            <a:pPr/>
            <a:r>
              <a:t>≈ 1.1 trillion steps</a:t>
            </a:r>
          </a:p>
        </p:txBody>
      </p:sp>
      <p:sp>
        <p:nvSpPr>
          <p:cNvPr id="171" name="Shape 14"/>
          <p:cNvSpPr/>
          <p:nvPr/>
        </p:nvSpPr>
        <p:spPr>
          <a:xfrm>
            <a:off x="9144000" y="1280160"/>
            <a:ext cx="2560321" cy="2606040"/>
          </a:xfrm>
          <a:prstGeom prst="roundRect">
            <a:avLst>
              <a:gd name="adj" fmla="val 3571"/>
            </a:avLst>
          </a:prstGeom>
          <a:solidFill>
            <a:srgbClr val="14203F"/>
          </a:solidFill>
          <a:ln>
            <a:solidFill>
              <a:srgbClr val="2A3B6B"/>
            </a:solidFill>
          </a:ln>
        </p:spPr>
        <p:txBody>
          <a:bodyPr lIns="45719" rIns="45719"/>
          <a:lstStyle/>
          <a:p>
            <a:pPr/>
          </a:p>
        </p:txBody>
      </p:sp>
      <p:sp>
        <p:nvSpPr>
          <p:cNvPr id="172" name="Text 15"/>
          <p:cNvSpPr txBox="1"/>
          <p:nvPr/>
        </p:nvSpPr>
        <p:spPr>
          <a:xfrm>
            <a:off x="9144000" y="1463039"/>
            <a:ext cx="256032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500">
                <a:solidFill>
                  <a:srgbClr val="A9B8D4"/>
                </a:solidFill>
              </a:defRPr>
            </a:lvl1pPr>
          </a:lstStyle>
          <a:p>
            <a:pPr/>
            <a:r>
              <a:t>Merge Sort</a:t>
            </a:r>
          </a:p>
        </p:txBody>
      </p:sp>
      <p:sp>
        <p:nvSpPr>
          <p:cNvPr id="173" name="Text 16"/>
          <p:cNvSpPr txBox="1"/>
          <p:nvPr/>
        </p:nvSpPr>
        <p:spPr>
          <a:xfrm>
            <a:off x="9144000" y="2174636"/>
            <a:ext cx="2560321"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200">
                <a:solidFill>
                  <a:schemeClr val="accent3"/>
                </a:solidFill>
              </a:defRPr>
            </a:lvl1pPr>
          </a:lstStyle>
          <a:p>
            <a:pPr/>
            <a:r>
              <a:t>O(n log n)</a:t>
            </a:r>
          </a:p>
        </p:txBody>
      </p:sp>
      <p:sp>
        <p:nvSpPr>
          <p:cNvPr id="174" name="Text 17"/>
          <p:cNvSpPr txBox="1"/>
          <p:nvPr/>
        </p:nvSpPr>
        <p:spPr>
          <a:xfrm>
            <a:off x="9144000" y="3017520"/>
            <a:ext cx="25603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F1F5F9"/>
                </a:solidFill>
              </a:defRPr>
            </a:lvl1pPr>
          </a:lstStyle>
          <a:p>
            <a:pPr/>
            <a:r>
              <a:t>≈ 21 million steps</a:t>
            </a:r>
          </a:p>
        </p:txBody>
      </p:sp>
      <p:sp>
        <p:nvSpPr>
          <p:cNvPr id="175" name="Shape 18"/>
          <p:cNvSpPr/>
          <p:nvPr/>
        </p:nvSpPr>
        <p:spPr>
          <a:xfrm>
            <a:off x="6492240" y="4023359"/>
            <a:ext cx="5212081" cy="411481"/>
          </a:xfrm>
          <a:prstGeom prst="roundRect">
            <a:avLst>
              <a:gd name="adj" fmla="val 22222"/>
            </a:avLst>
          </a:prstGeom>
          <a:solidFill>
            <a:srgbClr val="1B2A52"/>
          </a:solidFill>
          <a:ln>
            <a:solidFill>
              <a:srgbClr val="2A3B6B"/>
            </a:solidFill>
          </a:ln>
        </p:spPr>
        <p:txBody>
          <a:bodyPr lIns="45719" rIns="45719"/>
          <a:lstStyle/>
          <a:p>
            <a:pPr/>
          </a:p>
        </p:txBody>
      </p:sp>
      <p:sp>
        <p:nvSpPr>
          <p:cNvPr id="176" name="Text 19"/>
          <p:cNvSpPr txBox="1"/>
          <p:nvPr/>
        </p:nvSpPr>
        <p:spPr>
          <a:xfrm>
            <a:off x="6492240" y="4134420"/>
            <a:ext cx="52120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chemeClr val="accent4"/>
                </a:solidFill>
              </a:defRPr>
            </a:lvl1pPr>
          </a:lstStyle>
          <a:p>
            <a:pPr/>
            <a:r>
              <a:t>For n = 1,048,576 items: about 50,000× fewer steps</a:t>
            </a:r>
          </a:p>
        </p:txBody>
      </p:sp>
      <p:sp>
        <p:nvSpPr>
          <p:cNvPr id="177" name="Shape 20"/>
          <p:cNvSpPr/>
          <p:nvPr/>
        </p:nvSpPr>
        <p:spPr>
          <a:xfrm>
            <a:off x="548640" y="4663440"/>
            <a:ext cx="3383280" cy="1691641"/>
          </a:xfrm>
          <a:prstGeom prst="roundRect">
            <a:avLst>
              <a:gd name="adj" fmla="val 5405"/>
            </a:avLst>
          </a:prstGeom>
          <a:solidFill>
            <a:srgbClr val="14203F"/>
          </a:solidFill>
          <a:ln>
            <a:solidFill>
              <a:srgbClr val="2A3B6B"/>
            </a:solidFill>
          </a:ln>
        </p:spPr>
        <p:txBody>
          <a:bodyPr lIns="45719" rIns="45719"/>
          <a:lstStyle/>
          <a:p>
            <a:pPr/>
          </a:p>
        </p:txBody>
      </p:sp>
      <p:sp>
        <p:nvSpPr>
          <p:cNvPr id="178" name="Shape 21"/>
          <p:cNvSpPr/>
          <p:nvPr/>
        </p:nvSpPr>
        <p:spPr>
          <a:xfrm>
            <a:off x="777240" y="4846320"/>
            <a:ext cx="457201" cy="457201"/>
          </a:xfrm>
          <a:prstGeom prst="ellipse">
            <a:avLst/>
          </a:prstGeom>
          <a:solidFill>
            <a:schemeClr val="accent1"/>
          </a:solidFill>
          <a:ln w="12700">
            <a:solidFill>
              <a:schemeClr val="accent1"/>
            </a:solidFill>
          </a:ln>
        </p:spPr>
        <p:txBody>
          <a:bodyPr lIns="45719" rIns="45719"/>
          <a:lstStyle/>
          <a:p>
            <a:pPr/>
          </a:p>
        </p:txBody>
      </p:sp>
      <p:sp>
        <p:nvSpPr>
          <p:cNvPr id="179" name="Text 22"/>
          <p:cNvSpPr txBox="1"/>
          <p:nvPr/>
        </p:nvSpPr>
        <p:spPr>
          <a:xfrm>
            <a:off x="777240" y="4954096"/>
            <a:ext cx="4572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1</a:t>
            </a:r>
          </a:p>
        </p:txBody>
      </p:sp>
      <p:sp>
        <p:nvSpPr>
          <p:cNvPr id="180" name="Text 23"/>
          <p:cNvSpPr txBox="1"/>
          <p:nvPr/>
        </p:nvSpPr>
        <p:spPr>
          <a:xfrm>
            <a:off x="1417319" y="4927952"/>
            <a:ext cx="237744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chemeClr val="accent1"/>
                </a:solidFill>
              </a:defRPr>
            </a:lvl1pPr>
          </a:lstStyle>
          <a:p>
            <a:pPr/>
            <a:r>
              <a:t>DIVIDE</a:t>
            </a:r>
          </a:p>
        </p:txBody>
      </p:sp>
      <p:sp>
        <p:nvSpPr>
          <p:cNvPr id="181" name="Text 24"/>
          <p:cNvSpPr txBox="1"/>
          <p:nvPr/>
        </p:nvSpPr>
        <p:spPr>
          <a:xfrm>
            <a:off x="777240" y="5440679"/>
            <a:ext cx="2971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F1F5F9"/>
                </a:solidFill>
              </a:defRPr>
            </a:lvl1pPr>
          </a:lstStyle>
          <a:p>
            <a:pPr/>
            <a:r>
              <a:t>Split the array into two halves.</a:t>
            </a:r>
          </a:p>
        </p:txBody>
      </p:sp>
      <p:sp>
        <p:nvSpPr>
          <p:cNvPr id="182" name="Shape 25"/>
          <p:cNvSpPr/>
          <p:nvPr/>
        </p:nvSpPr>
        <p:spPr>
          <a:xfrm>
            <a:off x="3950208" y="5303520"/>
            <a:ext cx="420625" cy="365761"/>
          </a:xfrm>
          <a:prstGeom prst="rightArrow">
            <a:avLst>
              <a:gd name="adj1" fmla="val 50000"/>
              <a:gd name="adj2" fmla="val 50000"/>
            </a:avLst>
          </a:prstGeom>
          <a:solidFill>
            <a:srgbClr val="A9B8D4"/>
          </a:solidFill>
          <a:ln w="12700">
            <a:solidFill>
              <a:srgbClr val="A9B8D4"/>
            </a:solidFill>
          </a:ln>
        </p:spPr>
        <p:txBody>
          <a:bodyPr lIns="45719" rIns="45719"/>
          <a:lstStyle/>
          <a:p>
            <a:pPr/>
          </a:p>
        </p:txBody>
      </p:sp>
      <p:sp>
        <p:nvSpPr>
          <p:cNvPr id="183" name="Shape 26"/>
          <p:cNvSpPr/>
          <p:nvPr/>
        </p:nvSpPr>
        <p:spPr>
          <a:xfrm>
            <a:off x="4389120" y="4663440"/>
            <a:ext cx="3383280" cy="1691641"/>
          </a:xfrm>
          <a:prstGeom prst="roundRect">
            <a:avLst>
              <a:gd name="adj" fmla="val 5405"/>
            </a:avLst>
          </a:prstGeom>
          <a:solidFill>
            <a:srgbClr val="14203F"/>
          </a:solidFill>
          <a:ln>
            <a:solidFill>
              <a:srgbClr val="2A3B6B"/>
            </a:solidFill>
          </a:ln>
        </p:spPr>
        <p:txBody>
          <a:bodyPr lIns="45719" rIns="45719"/>
          <a:lstStyle/>
          <a:p>
            <a:pPr/>
          </a:p>
        </p:txBody>
      </p:sp>
      <p:sp>
        <p:nvSpPr>
          <p:cNvPr id="184" name="Shape 27"/>
          <p:cNvSpPr/>
          <p:nvPr/>
        </p:nvSpPr>
        <p:spPr>
          <a:xfrm>
            <a:off x="4617720" y="4846320"/>
            <a:ext cx="457201" cy="457201"/>
          </a:xfrm>
          <a:prstGeom prst="ellipse">
            <a:avLst/>
          </a:prstGeom>
          <a:solidFill>
            <a:schemeClr val="accent5"/>
          </a:solidFill>
          <a:ln w="12700">
            <a:solidFill>
              <a:schemeClr val="accent5"/>
            </a:solidFill>
          </a:ln>
        </p:spPr>
        <p:txBody>
          <a:bodyPr lIns="45719" rIns="45719"/>
          <a:lstStyle/>
          <a:p>
            <a:pPr/>
          </a:p>
        </p:txBody>
      </p:sp>
      <p:sp>
        <p:nvSpPr>
          <p:cNvPr id="185" name="Text 28"/>
          <p:cNvSpPr txBox="1"/>
          <p:nvPr/>
        </p:nvSpPr>
        <p:spPr>
          <a:xfrm>
            <a:off x="4617720" y="4954096"/>
            <a:ext cx="4572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2</a:t>
            </a:r>
          </a:p>
        </p:txBody>
      </p:sp>
      <p:sp>
        <p:nvSpPr>
          <p:cNvPr id="186" name="Text 29"/>
          <p:cNvSpPr txBox="1"/>
          <p:nvPr/>
        </p:nvSpPr>
        <p:spPr>
          <a:xfrm>
            <a:off x="5257800" y="4927952"/>
            <a:ext cx="2377440"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chemeClr val="accent5"/>
                </a:solidFill>
              </a:defRPr>
            </a:lvl1pPr>
          </a:lstStyle>
          <a:p>
            <a:pPr/>
            <a:r>
              <a:t>CONQUER</a:t>
            </a:r>
          </a:p>
        </p:txBody>
      </p:sp>
      <p:sp>
        <p:nvSpPr>
          <p:cNvPr id="187" name="Text 30"/>
          <p:cNvSpPr txBox="1"/>
          <p:nvPr/>
        </p:nvSpPr>
        <p:spPr>
          <a:xfrm>
            <a:off x="4617720" y="5440679"/>
            <a:ext cx="297180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F1F5F9"/>
                </a:solidFill>
              </a:defRPr>
            </a:lvl1pPr>
          </a:lstStyle>
          <a:p>
            <a:pPr/>
            <a:r>
              <a:t>Sort each half recursively. A single element is already sorted.</a:t>
            </a:r>
          </a:p>
        </p:txBody>
      </p:sp>
      <p:sp>
        <p:nvSpPr>
          <p:cNvPr id="188" name="Shape 31"/>
          <p:cNvSpPr/>
          <p:nvPr/>
        </p:nvSpPr>
        <p:spPr>
          <a:xfrm>
            <a:off x="7790688" y="5303520"/>
            <a:ext cx="420625" cy="365761"/>
          </a:xfrm>
          <a:prstGeom prst="rightArrow">
            <a:avLst>
              <a:gd name="adj1" fmla="val 50000"/>
              <a:gd name="adj2" fmla="val 50000"/>
            </a:avLst>
          </a:prstGeom>
          <a:solidFill>
            <a:srgbClr val="A9B8D4"/>
          </a:solidFill>
          <a:ln w="12700">
            <a:solidFill>
              <a:srgbClr val="A9B8D4"/>
            </a:solidFill>
          </a:ln>
        </p:spPr>
        <p:txBody>
          <a:bodyPr lIns="45719" rIns="45719"/>
          <a:lstStyle/>
          <a:p>
            <a:pPr/>
          </a:p>
        </p:txBody>
      </p:sp>
      <p:sp>
        <p:nvSpPr>
          <p:cNvPr id="189" name="Shape 32"/>
          <p:cNvSpPr/>
          <p:nvPr/>
        </p:nvSpPr>
        <p:spPr>
          <a:xfrm>
            <a:off x="8229600" y="4663440"/>
            <a:ext cx="3383280" cy="1691641"/>
          </a:xfrm>
          <a:prstGeom prst="roundRect">
            <a:avLst>
              <a:gd name="adj" fmla="val 5405"/>
            </a:avLst>
          </a:prstGeom>
          <a:solidFill>
            <a:srgbClr val="14203F"/>
          </a:solidFill>
          <a:ln>
            <a:solidFill>
              <a:srgbClr val="2A3B6B"/>
            </a:solidFill>
          </a:ln>
        </p:spPr>
        <p:txBody>
          <a:bodyPr lIns="45719" rIns="45719"/>
          <a:lstStyle/>
          <a:p>
            <a:pPr/>
          </a:p>
        </p:txBody>
      </p:sp>
      <p:sp>
        <p:nvSpPr>
          <p:cNvPr id="190" name="Shape 33"/>
          <p:cNvSpPr/>
          <p:nvPr/>
        </p:nvSpPr>
        <p:spPr>
          <a:xfrm>
            <a:off x="8458200" y="4846320"/>
            <a:ext cx="457200" cy="457201"/>
          </a:xfrm>
          <a:prstGeom prst="ellipse">
            <a:avLst/>
          </a:prstGeom>
          <a:solidFill>
            <a:schemeClr val="accent2"/>
          </a:solidFill>
          <a:ln w="12700">
            <a:solidFill>
              <a:schemeClr val="accent2"/>
            </a:solidFill>
          </a:ln>
        </p:spPr>
        <p:txBody>
          <a:bodyPr lIns="45719" rIns="45719"/>
          <a:lstStyle/>
          <a:p>
            <a:pPr/>
          </a:p>
        </p:txBody>
      </p:sp>
      <p:sp>
        <p:nvSpPr>
          <p:cNvPr id="191" name="Text 34"/>
          <p:cNvSpPr txBox="1"/>
          <p:nvPr/>
        </p:nvSpPr>
        <p:spPr>
          <a:xfrm>
            <a:off x="8458200" y="4954096"/>
            <a:ext cx="4572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lvl1pPr>
          </a:lstStyle>
          <a:p>
            <a:pPr/>
            <a:r>
              <a:t>3</a:t>
            </a:r>
          </a:p>
        </p:txBody>
      </p:sp>
      <p:sp>
        <p:nvSpPr>
          <p:cNvPr id="192" name="Text 35"/>
          <p:cNvSpPr txBox="1"/>
          <p:nvPr/>
        </p:nvSpPr>
        <p:spPr>
          <a:xfrm>
            <a:off x="9098280" y="4927952"/>
            <a:ext cx="237744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chemeClr val="accent2"/>
                </a:solidFill>
              </a:defRPr>
            </a:lvl1pPr>
          </a:lstStyle>
          <a:p>
            <a:pPr/>
            <a:r>
              <a:t>COMBINE</a:t>
            </a:r>
          </a:p>
        </p:txBody>
      </p:sp>
      <p:sp>
        <p:nvSpPr>
          <p:cNvPr id="193" name="Text 36"/>
          <p:cNvSpPr txBox="1"/>
          <p:nvPr/>
        </p:nvSpPr>
        <p:spPr>
          <a:xfrm>
            <a:off x="8458200" y="5440679"/>
            <a:ext cx="297180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F1F5F9"/>
                </a:solidFill>
              </a:defRPr>
            </a:lvl1pPr>
          </a:lstStyle>
          <a:p>
            <a:pPr/>
            <a:r>
              <a:t>Merge the two sorted halves into one sorted array.</a:t>
            </a:r>
          </a:p>
        </p:txBody>
      </p:sp>
      <p:sp>
        <p:nvSpPr>
          <p:cNvPr id="194"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 0"/>
          <p:cNvSpPr txBox="1"/>
          <p:nvPr>
            <p:ph type="title"/>
          </p:nvPr>
        </p:nvSpPr>
        <p:spPr>
          <a:xfrm>
            <a:off x="548639" y="320039"/>
            <a:ext cx="11064242" cy="731522"/>
          </a:xfrm>
          <a:prstGeom prst="rect">
            <a:avLst/>
          </a:prstGeom>
        </p:spPr>
        <p:txBody>
          <a:bodyPr lIns="0" tIns="0" rIns="0" bIns="0" anchor="ctr"/>
          <a:lstStyle/>
          <a:p>
            <a:pPr/>
            <a:r>
              <a:t>How Merge Sort Works</a:t>
            </a:r>
          </a:p>
        </p:txBody>
      </p:sp>
      <p:sp>
        <p:nvSpPr>
          <p:cNvPr id="199" name="Text 1"/>
          <p:cNvSpPr txBox="1"/>
          <p:nvPr/>
        </p:nvSpPr>
        <p:spPr>
          <a:xfrm>
            <a:off x="457200" y="1280160"/>
            <a:ext cx="3383280"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700">
                <a:solidFill>
                  <a:schemeClr val="accent1"/>
                </a:solidFill>
              </a:defRPr>
            </a:lvl1pPr>
          </a:lstStyle>
          <a:p>
            <a:pPr/>
            <a:r>
              <a:t>DIVIDE  (top-down)</a:t>
            </a:r>
          </a:p>
        </p:txBody>
      </p:sp>
      <p:sp>
        <p:nvSpPr>
          <p:cNvPr id="200" name="Text 2"/>
          <p:cNvSpPr txBox="1"/>
          <p:nvPr/>
        </p:nvSpPr>
        <p:spPr>
          <a:xfrm>
            <a:off x="4526279" y="1280160"/>
            <a:ext cx="3383281"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700">
                <a:solidFill>
                  <a:schemeClr val="accent2"/>
                </a:solidFill>
              </a:defRPr>
            </a:lvl1pPr>
          </a:lstStyle>
          <a:p>
            <a:pPr/>
            <a:r>
              <a:t>MERGE  (bottom-up)</a:t>
            </a:r>
          </a:p>
        </p:txBody>
      </p:sp>
      <p:grpSp>
        <p:nvGrpSpPr>
          <p:cNvPr id="203" name="Text 3"/>
          <p:cNvGrpSpPr/>
          <p:nvPr/>
        </p:nvGrpSpPr>
        <p:grpSpPr>
          <a:xfrm>
            <a:off x="1014983" y="1783079"/>
            <a:ext cx="566929" cy="502920"/>
            <a:chOff x="0" y="0"/>
            <a:chExt cx="566927" cy="502919"/>
          </a:xfrm>
        </p:grpSpPr>
        <p:sp>
          <p:nvSpPr>
            <p:cNvPr id="201" name="Rectangle"/>
            <p:cNvSpPr/>
            <p:nvPr/>
          </p:nvSpPr>
          <p:spPr>
            <a:xfrm>
              <a:off x="0" y="-1"/>
              <a:ext cx="566928" cy="502921"/>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02"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06" name="Text 4"/>
          <p:cNvGrpSpPr/>
          <p:nvPr/>
        </p:nvGrpSpPr>
        <p:grpSpPr>
          <a:xfrm>
            <a:off x="1581911" y="1783079"/>
            <a:ext cx="566929" cy="502920"/>
            <a:chOff x="0" y="0"/>
            <a:chExt cx="566927" cy="502919"/>
          </a:xfrm>
        </p:grpSpPr>
        <p:sp>
          <p:nvSpPr>
            <p:cNvPr id="204" name="Rectangle"/>
            <p:cNvSpPr/>
            <p:nvPr/>
          </p:nvSpPr>
          <p:spPr>
            <a:xfrm>
              <a:off x="0" y="-1"/>
              <a:ext cx="566928" cy="502921"/>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05"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09" name="Text 5"/>
          <p:cNvGrpSpPr/>
          <p:nvPr/>
        </p:nvGrpSpPr>
        <p:grpSpPr>
          <a:xfrm>
            <a:off x="2148839" y="1783079"/>
            <a:ext cx="566929" cy="502920"/>
            <a:chOff x="0" y="0"/>
            <a:chExt cx="566927" cy="502919"/>
          </a:xfrm>
        </p:grpSpPr>
        <p:sp>
          <p:nvSpPr>
            <p:cNvPr id="207" name="Rectangle"/>
            <p:cNvSpPr/>
            <p:nvPr/>
          </p:nvSpPr>
          <p:spPr>
            <a:xfrm>
              <a:off x="0" y="-1"/>
              <a:ext cx="566928" cy="502921"/>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08"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212" name="Text 6"/>
          <p:cNvGrpSpPr/>
          <p:nvPr/>
        </p:nvGrpSpPr>
        <p:grpSpPr>
          <a:xfrm>
            <a:off x="2715767" y="1783079"/>
            <a:ext cx="566929" cy="502920"/>
            <a:chOff x="0" y="0"/>
            <a:chExt cx="566927" cy="502919"/>
          </a:xfrm>
        </p:grpSpPr>
        <p:sp>
          <p:nvSpPr>
            <p:cNvPr id="210" name="Rectangle"/>
            <p:cNvSpPr/>
            <p:nvPr/>
          </p:nvSpPr>
          <p:spPr>
            <a:xfrm>
              <a:off x="0" y="-1"/>
              <a:ext cx="566928" cy="502921"/>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11"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215" name="Text 7"/>
          <p:cNvGrpSpPr/>
          <p:nvPr/>
        </p:nvGrpSpPr>
        <p:grpSpPr>
          <a:xfrm>
            <a:off x="758951" y="3154679"/>
            <a:ext cx="566929" cy="502920"/>
            <a:chOff x="0" y="0"/>
            <a:chExt cx="566927" cy="502919"/>
          </a:xfrm>
        </p:grpSpPr>
        <p:sp>
          <p:nvSpPr>
            <p:cNvPr id="213" name="Rectangle"/>
            <p:cNvSpPr/>
            <p:nvPr/>
          </p:nvSpPr>
          <p:spPr>
            <a:xfrm>
              <a:off x="0" y="-1"/>
              <a:ext cx="566928" cy="502921"/>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14"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18" name="Text 8"/>
          <p:cNvGrpSpPr/>
          <p:nvPr/>
        </p:nvGrpSpPr>
        <p:grpSpPr>
          <a:xfrm>
            <a:off x="1325880" y="3154679"/>
            <a:ext cx="566929" cy="502920"/>
            <a:chOff x="0" y="0"/>
            <a:chExt cx="566927" cy="502919"/>
          </a:xfrm>
        </p:grpSpPr>
        <p:sp>
          <p:nvSpPr>
            <p:cNvPr id="216" name="Rectangle"/>
            <p:cNvSpPr/>
            <p:nvPr/>
          </p:nvSpPr>
          <p:spPr>
            <a:xfrm>
              <a:off x="0" y="-1"/>
              <a:ext cx="566928" cy="502921"/>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17"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21" name="Text 9"/>
          <p:cNvGrpSpPr/>
          <p:nvPr/>
        </p:nvGrpSpPr>
        <p:grpSpPr>
          <a:xfrm>
            <a:off x="2404872" y="3154679"/>
            <a:ext cx="566929" cy="502920"/>
            <a:chOff x="0" y="0"/>
            <a:chExt cx="566927" cy="502919"/>
          </a:xfrm>
        </p:grpSpPr>
        <p:sp>
          <p:nvSpPr>
            <p:cNvPr id="219" name="Rectangle"/>
            <p:cNvSpPr/>
            <p:nvPr/>
          </p:nvSpPr>
          <p:spPr>
            <a:xfrm>
              <a:off x="0" y="-1"/>
              <a:ext cx="566928" cy="502921"/>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20"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224" name="Text 10"/>
          <p:cNvGrpSpPr/>
          <p:nvPr/>
        </p:nvGrpSpPr>
        <p:grpSpPr>
          <a:xfrm>
            <a:off x="2971800" y="3154679"/>
            <a:ext cx="566928" cy="502920"/>
            <a:chOff x="0" y="0"/>
            <a:chExt cx="566927" cy="502919"/>
          </a:xfrm>
        </p:grpSpPr>
        <p:sp>
          <p:nvSpPr>
            <p:cNvPr id="222" name="Rectangle"/>
            <p:cNvSpPr/>
            <p:nvPr/>
          </p:nvSpPr>
          <p:spPr>
            <a:xfrm>
              <a:off x="0" y="-1"/>
              <a:ext cx="566928" cy="502921"/>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23"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227" name="Text 11"/>
          <p:cNvGrpSpPr/>
          <p:nvPr/>
        </p:nvGrpSpPr>
        <p:grpSpPr>
          <a:xfrm>
            <a:off x="630936" y="4526279"/>
            <a:ext cx="566928" cy="502920"/>
            <a:chOff x="0" y="0"/>
            <a:chExt cx="566927" cy="502919"/>
          </a:xfrm>
        </p:grpSpPr>
        <p:sp>
          <p:nvSpPr>
            <p:cNvPr id="225"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26"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30" name="Text 12"/>
          <p:cNvGrpSpPr/>
          <p:nvPr/>
        </p:nvGrpSpPr>
        <p:grpSpPr>
          <a:xfrm>
            <a:off x="1453896" y="4526279"/>
            <a:ext cx="566929" cy="502920"/>
            <a:chOff x="0" y="0"/>
            <a:chExt cx="566927" cy="502919"/>
          </a:xfrm>
        </p:grpSpPr>
        <p:sp>
          <p:nvSpPr>
            <p:cNvPr id="228"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29"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33" name="Text 13"/>
          <p:cNvGrpSpPr/>
          <p:nvPr/>
        </p:nvGrpSpPr>
        <p:grpSpPr>
          <a:xfrm>
            <a:off x="2276855" y="4526279"/>
            <a:ext cx="566929" cy="502920"/>
            <a:chOff x="0" y="0"/>
            <a:chExt cx="566927" cy="502919"/>
          </a:xfrm>
        </p:grpSpPr>
        <p:sp>
          <p:nvSpPr>
            <p:cNvPr id="231"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32"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236" name="Text 14"/>
          <p:cNvGrpSpPr/>
          <p:nvPr/>
        </p:nvGrpSpPr>
        <p:grpSpPr>
          <a:xfrm>
            <a:off x="3099816" y="4526279"/>
            <a:ext cx="566929" cy="502920"/>
            <a:chOff x="0" y="0"/>
            <a:chExt cx="566927" cy="502919"/>
          </a:xfrm>
        </p:grpSpPr>
        <p:sp>
          <p:nvSpPr>
            <p:cNvPr id="234"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35"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sp>
        <p:nvSpPr>
          <p:cNvPr id="237" name="Shape 15"/>
          <p:cNvSpPr/>
          <p:nvPr/>
        </p:nvSpPr>
        <p:spPr>
          <a:xfrm flipH="1">
            <a:off x="1417319" y="2331720"/>
            <a:ext cx="411482" cy="777241"/>
          </a:xfrm>
          <a:prstGeom prst="line">
            <a:avLst/>
          </a:prstGeom>
          <a:ln w="25400">
            <a:solidFill>
              <a:schemeClr val="accent1"/>
            </a:solidFill>
            <a:tailEnd type="triangle"/>
          </a:ln>
        </p:spPr>
        <p:txBody>
          <a:bodyPr lIns="45719" rIns="45719"/>
          <a:lstStyle/>
          <a:p>
            <a:pPr/>
          </a:p>
        </p:txBody>
      </p:sp>
      <p:sp>
        <p:nvSpPr>
          <p:cNvPr id="238" name="Shape 16"/>
          <p:cNvSpPr/>
          <p:nvPr/>
        </p:nvSpPr>
        <p:spPr>
          <a:xfrm>
            <a:off x="2468879" y="2331720"/>
            <a:ext cx="411481" cy="777241"/>
          </a:xfrm>
          <a:prstGeom prst="line">
            <a:avLst/>
          </a:prstGeom>
          <a:ln w="25400">
            <a:solidFill>
              <a:schemeClr val="accent1"/>
            </a:solidFill>
            <a:tailEnd type="triangle"/>
          </a:ln>
        </p:spPr>
        <p:txBody>
          <a:bodyPr lIns="45719" rIns="45719"/>
          <a:lstStyle/>
          <a:p>
            <a:pPr/>
          </a:p>
        </p:txBody>
      </p:sp>
      <p:sp>
        <p:nvSpPr>
          <p:cNvPr id="239" name="Shape 17"/>
          <p:cNvSpPr/>
          <p:nvPr/>
        </p:nvSpPr>
        <p:spPr>
          <a:xfrm flipH="1">
            <a:off x="914399" y="3703320"/>
            <a:ext cx="411482" cy="777241"/>
          </a:xfrm>
          <a:prstGeom prst="line">
            <a:avLst/>
          </a:prstGeom>
          <a:ln w="25400">
            <a:solidFill>
              <a:schemeClr val="accent1"/>
            </a:solidFill>
            <a:tailEnd type="triangle"/>
          </a:ln>
        </p:spPr>
        <p:txBody>
          <a:bodyPr lIns="45719" rIns="45719"/>
          <a:lstStyle/>
          <a:p>
            <a:pPr/>
          </a:p>
        </p:txBody>
      </p:sp>
      <p:sp>
        <p:nvSpPr>
          <p:cNvPr id="240" name="Shape 18"/>
          <p:cNvSpPr/>
          <p:nvPr/>
        </p:nvSpPr>
        <p:spPr>
          <a:xfrm>
            <a:off x="1325879" y="3703320"/>
            <a:ext cx="411482" cy="777241"/>
          </a:xfrm>
          <a:prstGeom prst="line">
            <a:avLst/>
          </a:prstGeom>
          <a:ln w="25400">
            <a:solidFill>
              <a:schemeClr val="accent1"/>
            </a:solidFill>
            <a:tailEnd type="triangle"/>
          </a:ln>
        </p:spPr>
        <p:txBody>
          <a:bodyPr lIns="45719" rIns="45719"/>
          <a:lstStyle/>
          <a:p>
            <a:pPr/>
          </a:p>
        </p:txBody>
      </p:sp>
      <p:sp>
        <p:nvSpPr>
          <p:cNvPr id="241" name="Shape 19"/>
          <p:cNvSpPr/>
          <p:nvPr/>
        </p:nvSpPr>
        <p:spPr>
          <a:xfrm flipH="1">
            <a:off x="2560320" y="3703320"/>
            <a:ext cx="411481" cy="777241"/>
          </a:xfrm>
          <a:prstGeom prst="line">
            <a:avLst/>
          </a:prstGeom>
          <a:ln w="25400">
            <a:solidFill>
              <a:schemeClr val="accent1"/>
            </a:solidFill>
            <a:tailEnd type="triangle"/>
          </a:ln>
        </p:spPr>
        <p:txBody>
          <a:bodyPr lIns="45719" rIns="45719"/>
          <a:lstStyle/>
          <a:p>
            <a:pPr/>
          </a:p>
        </p:txBody>
      </p:sp>
      <p:sp>
        <p:nvSpPr>
          <p:cNvPr id="242" name="Shape 20"/>
          <p:cNvSpPr/>
          <p:nvPr/>
        </p:nvSpPr>
        <p:spPr>
          <a:xfrm>
            <a:off x="2971799" y="3703320"/>
            <a:ext cx="411482" cy="777241"/>
          </a:xfrm>
          <a:prstGeom prst="line">
            <a:avLst/>
          </a:prstGeom>
          <a:ln w="25400">
            <a:solidFill>
              <a:schemeClr val="accent1"/>
            </a:solidFill>
            <a:tailEnd type="triangle"/>
          </a:ln>
        </p:spPr>
        <p:txBody>
          <a:bodyPr lIns="45719" rIns="45719"/>
          <a:lstStyle/>
          <a:p>
            <a:pPr/>
          </a:p>
        </p:txBody>
      </p:sp>
      <p:grpSp>
        <p:nvGrpSpPr>
          <p:cNvPr id="245" name="Text 21"/>
          <p:cNvGrpSpPr/>
          <p:nvPr/>
        </p:nvGrpSpPr>
        <p:grpSpPr>
          <a:xfrm>
            <a:off x="4745735" y="4526279"/>
            <a:ext cx="566929" cy="502920"/>
            <a:chOff x="0" y="0"/>
            <a:chExt cx="566927" cy="502919"/>
          </a:xfrm>
        </p:grpSpPr>
        <p:sp>
          <p:nvSpPr>
            <p:cNvPr id="243"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44"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48" name="Text 22"/>
          <p:cNvGrpSpPr/>
          <p:nvPr/>
        </p:nvGrpSpPr>
        <p:grpSpPr>
          <a:xfrm>
            <a:off x="5568696" y="4526279"/>
            <a:ext cx="566929" cy="502920"/>
            <a:chOff x="0" y="0"/>
            <a:chExt cx="566927" cy="502919"/>
          </a:xfrm>
        </p:grpSpPr>
        <p:sp>
          <p:nvSpPr>
            <p:cNvPr id="246"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47"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51" name="Text 23"/>
          <p:cNvGrpSpPr/>
          <p:nvPr/>
        </p:nvGrpSpPr>
        <p:grpSpPr>
          <a:xfrm>
            <a:off x="6391655" y="4526279"/>
            <a:ext cx="566929" cy="502920"/>
            <a:chOff x="0" y="0"/>
            <a:chExt cx="566927" cy="502919"/>
          </a:xfrm>
        </p:grpSpPr>
        <p:sp>
          <p:nvSpPr>
            <p:cNvPr id="249"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50"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254" name="Text 24"/>
          <p:cNvGrpSpPr/>
          <p:nvPr/>
        </p:nvGrpSpPr>
        <p:grpSpPr>
          <a:xfrm>
            <a:off x="7214616" y="4526279"/>
            <a:ext cx="566929" cy="502920"/>
            <a:chOff x="0" y="0"/>
            <a:chExt cx="566927" cy="502919"/>
          </a:xfrm>
        </p:grpSpPr>
        <p:sp>
          <p:nvSpPr>
            <p:cNvPr id="252" name="Rectangle"/>
            <p:cNvSpPr/>
            <p:nvPr/>
          </p:nvSpPr>
          <p:spPr>
            <a:xfrm>
              <a:off x="0" y="-1"/>
              <a:ext cx="566928"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53"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257" name="Text 25"/>
          <p:cNvGrpSpPr/>
          <p:nvPr/>
        </p:nvGrpSpPr>
        <p:grpSpPr>
          <a:xfrm>
            <a:off x="4873752" y="3154679"/>
            <a:ext cx="566929" cy="502920"/>
            <a:chOff x="0" y="0"/>
            <a:chExt cx="566927" cy="502919"/>
          </a:xfrm>
        </p:grpSpPr>
        <p:sp>
          <p:nvSpPr>
            <p:cNvPr id="255" name="Rectangle"/>
            <p:cNvSpPr/>
            <p:nvPr/>
          </p:nvSpPr>
          <p:spPr>
            <a:xfrm>
              <a:off x="0" y="-1"/>
              <a:ext cx="566928"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56"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60" name="Text 26"/>
          <p:cNvGrpSpPr/>
          <p:nvPr/>
        </p:nvGrpSpPr>
        <p:grpSpPr>
          <a:xfrm>
            <a:off x="5440679" y="3154679"/>
            <a:ext cx="566929" cy="502920"/>
            <a:chOff x="0" y="0"/>
            <a:chExt cx="566927" cy="502919"/>
          </a:xfrm>
        </p:grpSpPr>
        <p:sp>
          <p:nvSpPr>
            <p:cNvPr id="258" name="Rectangle"/>
            <p:cNvSpPr/>
            <p:nvPr/>
          </p:nvSpPr>
          <p:spPr>
            <a:xfrm>
              <a:off x="0" y="-1"/>
              <a:ext cx="566928"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59"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63" name="Text 27"/>
          <p:cNvGrpSpPr/>
          <p:nvPr/>
        </p:nvGrpSpPr>
        <p:grpSpPr>
          <a:xfrm>
            <a:off x="6519671" y="3154679"/>
            <a:ext cx="566929" cy="502920"/>
            <a:chOff x="0" y="0"/>
            <a:chExt cx="566927" cy="502919"/>
          </a:xfrm>
        </p:grpSpPr>
        <p:sp>
          <p:nvSpPr>
            <p:cNvPr id="261" name="Rectangle"/>
            <p:cNvSpPr/>
            <p:nvPr/>
          </p:nvSpPr>
          <p:spPr>
            <a:xfrm>
              <a:off x="0" y="-1"/>
              <a:ext cx="566928"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62"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266" name="Text 28"/>
          <p:cNvGrpSpPr/>
          <p:nvPr/>
        </p:nvGrpSpPr>
        <p:grpSpPr>
          <a:xfrm>
            <a:off x="7086600" y="3154679"/>
            <a:ext cx="566928" cy="502920"/>
            <a:chOff x="0" y="0"/>
            <a:chExt cx="566927" cy="502919"/>
          </a:xfrm>
        </p:grpSpPr>
        <p:sp>
          <p:nvSpPr>
            <p:cNvPr id="264" name="Rectangle"/>
            <p:cNvSpPr/>
            <p:nvPr/>
          </p:nvSpPr>
          <p:spPr>
            <a:xfrm>
              <a:off x="0" y="-1"/>
              <a:ext cx="566928"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65"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269" name="Text 29"/>
          <p:cNvGrpSpPr/>
          <p:nvPr/>
        </p:nvGrpSpPr>
        <p:grpSpPr>
          <a:xfrm>
            <a:off x="5129784" y="1783079"/>
            <a:ext cx="566929" cy="502920"/>
            <a:chOff x="0" y="0"/>
            <a:chExt cx="566927" cy="502919"/>
          </a:xfrm>
        </p:grpSpPr>
        <p:sp>
          <p:nvSpPr>
            <p:cNvPr id="267" name="Rectangle"/>
            <p:cNvSpPr/>
            <p:nvPr/>
          </p:nvSpPr>
          <p:spPr>
            <a:xfrm>
              <a:off x="0" y="-1"/>
              <a:ext cx="566928"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68" name="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272" name="Text 30"/>
          <p:cNvGrpSpPr/>
          <p:nvPr/>
        </p:nvGrpSpPr>
        <p:grpSpPr>
          <a:xfrm>
            <a:off x="5696711" y="1783079"/>
            <a:ext cx="566929" cy="502920"/>
            <a:chOff x="0" y="0"/>
            <a:chExt cx="566927" cy="502919"/>
          </a:xfrm>
        </p:grpSpPr>
        <p:sp>
          <p:nvSpPr>
            <p:cNvPr id="270" name="Rectangle"/>
            <p:cNvSpPr/>
            <p:nvPr/>
          </p:nvSpPr>
          <p:spPr>
            <a:xfrm>
              <a:off x="0" y="-1"/>
              <a:ext cx="566928"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71" name="27"/>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275" name="Text 31"/>
          <p:cNvGrpSpPr/>
          <p:nvPr/>
        </p:nvGrpSpPr>
        <p:grpSpPr>
          <a:xfrm>
            <a:off x="6263640" y="1783079"/>
            <a:ext cx="566929" cy="502920"/>
            <a:chOff x="0" y="0"/>
            <a:chExt cx="566927" cy="502919"/>
          </a:xfrm>
        </p:grpSpPr>
        <p:sp>
          <p:nvSpPr>
            <p:cNvPr id="273" name="Rectangle"/>
            <p:cNvSpPr/>
            <p:nvPr/>
          </p:nvSpPr>
          <p:spPr>
            <a:xfrm>
              <a:off x="0" y="-1"/>
              <a:ext cx="566928"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74" name="38"/>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278" name="Text 32"/>
          <p:cNvGrpSpPr/>
          <p:nvPr/>
        </p:nvGrpSpPr>
        <p:grpSpPr>
          <a:xfrm>
            <a:off x="6830568" y="1783079"/>
            <a:ext cx="566929" cy="502920"/>
            <a:chOff x="0" y="0"/>
            <a:chExt cx="566927" cy="502919"/>
          </a:xfrm>
        </p:grpSpPr>
        <p:sp>
          <p:nvSpPr>
            <p:cNvPr id="276" name="Rectangle"/>
            <p:cNvSpPr/>
            <p:nvPr/>
          </p:nvSpPr>
          <p:spPr>
            <a:xfrm>
              <a:off x="0" y="-1"/>
              <a:ext cx="566928"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277" name="43"/>
            <p:cNvSpPr txBox="1"/>
            <p:nvPr/>
          </p:nvSpPr>
          <p:spPr>
            <a:xfrm>
              <a:off x="9525" y="146882"/>
              <a:ext cx="547878"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sp>
        <p:nvSpPr>
          <p:cNvPr id="279" name="Shape 33"/>
          <p:cNvSpPr/>
          <p:nvPr/>
        </p:nvSpPr>
        <p:spPr>
          <a:xfrm flipV="1">
            <a:off x="5029199" y="3703320"/>
            <a:ext cx="411481" cy="777241"/>
          </a:xfrm>
          <a:prstGeom prst="line">
            <a:avLst/>
          </a:prstGeom>
          <a:ln w="25400">
            <a:solidFill>
              <a:schemeClr val="accent2"/>
            </a:solidFill>
            <a:tailEnd type="triangle"/>
          </a:ln>
        </p:spPr>
        <p:txBody>
          <a:bodyPr lIns="45719" rIns="45719"/>
          <a:lstStyle/>
          <a:p>
            <a:pPr/>
          </a:p>
        </p:txBody>
      </p:sp>
      <p:sp>
        <p:nvSpPr>
          <p:cNvPr id="280" name="Shape 34"/>
          <p:cNvSpPr/>
          <p:nvPr/>
        </p:nvSpPr>
        <p:spPr>
          <a:xfrm flipH="1" flipV="1">
            <a:off x="5440680" y="3703320"/>
            <a:ext cx="411481" cy="777241"/>
          </a:xfrm>
          <a:prstGeom prst="line">
            <a:avLst/>
          </a:prstGeom>
          <a:ln w="25400">
            <a:solidFill>
              <a:schemeClr val="accent2"/>
            </a:solidFill>
            <a:tailEnd type="triangle"/>
          </a:ln>
        </p:spPr>
        <p:txBody>
          <a:bodyPr lIns="45719" rIns="45719"/>
          <a:lstStyle/>
          <a:p>
            <a:pPr/>
          </a:p>
        </p:txBody>
      </p:sp>
      <p:sp>
        <p:nvSpPr>
          <p:cNvPr id="281" name="Shape 35"/>
          <p:cNvSpPr/>
          <p:nvPr/>
        </p:nvSpPr>
        <p:spPr>
          <a:xfrm flipV="1">
            <a:off x="6675119" y="3703320"/>
            <a:ext cx="411481" cy="777241"/>
          </a:xfrm>
          <a:prstGeom prst="line">
            <a:avLst/>
          </a:prstGeom>
          <a:ln w="25400">
            <a:solidFill>
              <a:schemeClr val="accent2"/>
            </a:solidFill>
            <a:tailEnd type="triangle"/>
          </a:ln>
        </p:spPr>
        <p:txBody>
          <a:bodyPr lIns="45719" rIns="45719"/>
          <a:lstStyle/>
          <a:p>
            <a:pPr/>
          </a:p>
        </p:txBody>
      </p:sp>
      <p:sp>
        <p:nvSpPr>
          <p:cNvPr id="282" name="Shape 36"/>
          <p:cNvSpPr/>
          <p:nvPr/>
        </p:nvSpPr>
        <p:spPr>
          <a:xfrm flipH="1" flipV="1">
            <a:off x="7086599" y="3703320"/>
            <a:ext cx="411481" cy="777241"/>
          </a:xfrm>
          <a:prstGeom prst="line">
            <a:avLst/>
          </a:prstGeom>
          <a:ln w="25400">
            <a:solidFill>
              <a:schemeClr val="accent2"/>
            </a:solidFill>
            <a:tailEnd type="triangle"/>
          </a:ln>
        </p:spPr>
        <p:txBody>
          <a:bodyPr lIns="45719" rIns="45719"/>
          <a:lstStyle/>
          <a:p>
            <a:pPr/>
          </a:p>
        </p:txBody>
      </p:sp>
      <p:sp>
        <p:nvSpPr>
          <p:cNvPr id="283" name="Shape 37"/>
          <p:cNvSpPr/>
          <p:nvPr/>
        </p:nvSpPr>
        <p:spPr>
          <a:xfrm flipV="1">
            <a:off x="5440679" y="2331720"/>
            <a:ext cx="502920" cy="777241"/>
          </a:xfrm>
          <a:prstGeom prst="line">
            <a:avLst/>
          </a:prstGeom>
          <a:ln w="25400">
            <a:solidFill>
              <a:schemeClr val="accent2"/>
            </a:solidFill>
            <a:tailEnd type="triangle"/>
          </a:ln>
        </p:spPr>
        <p:txBody>
          <a:bodyPr lIns="45719" rIns="45719"/>
          <a:lstStyle/>
          <a:p>
            <a:pPr/>
          </a:p>
        </p:txBody>
      </p:sp>
      <p:sp>
        <p:nvSpPr>
          <p:cNvPr id="284" name="Shape 38"/>
          <p:cNvSpPr/>
          <p:nvPr/>
        </p:nvSpPr>
        <p:spPr>
          <a:xfrm flipH="1" flipV="1">
            <a:off x="6583681" y="2331720"/>
            <a:ext cx="502920" cy="777241"/>
          </a:xfrm>
          <a:prstGeom prst="line">
            <a:avLst/>
          </a:prstGeom>
          <a:ln w="25400">
            <a:solidFill>
              <a:schemeClr val="accent2"/>
            </a:solidFill>
            <a:tailEnd type="triangle"/>
          </a:ln>
        </p:spPr>
        <p:txBody>
          <a:bodyPr lIns="45719" rIns="45719"/>
          <a:lstStyle/>
          <a:p>
            <a:pPr/>
          </a:p>
        </p:txBody>
      </p:sp>
      <p:sp>
        <p:nvSpPr>
          <p:cNvPr id="285" name="Shape 39"/>
          <p:cNvSpPr/>
          <p:nvPr/>
        </p:nvSpPr>
        <p:spPr>
          <a:xfrm>
            <a:off x="3749040" y="4777740"/>
            <a:ext cx="914401" cy="1"/>
          </a:xfrm>
          <a:prstGeom prst="line">
            <a:avLst/>
          </a:prstGeom>
          <a:ln w="31750">
            <a:solidFill>
              <a:schemeClr val="accent4"/>
            </a:solidFill>
            <a:tailEnd type="triangle"/>
          </a:ln>
        </p:spPr>
        <p:txBody>
          <a:bodyPr lIns="45719" rIns="45719"/>
          <a:lstStyle/>
          <a:p>
            <a:pPr/>
          </a:p>
        </p:txBody>
      </p:sp>
      <p:sp>
        <p:nvSpPr>
          <p:cNvPr id="286" name="Text 40"/>
          <p:cNvSpPr txBox="1"/>
          <p:nvPr/>
        </p:nvSpPr>
        <p:spPr>
          <a:xfrm>
            <a:off x="3611879" y="5120640"/>
            <a:ext cx="1188721"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200">
                <a:solidFill>
                  <a:schemeClr val="accent4"/>
                </a:solidFill>
              </a:defRPr>
            </a:pPr>
            <a:r>
              <a:t>base case:</a:t>
            </a:r>
          </a:p>
          <a:p>
            <a:pPr algn="ctr">
              <a:defRPr sz="1200">
                <a:solidFill>
                  <a:schemeClr val="accent4"/>
                </a:solidFill>
              </a:defRPr>
            </a:pPr>
            <a:r>
              <a:t>1 element is sorted</a:t>
            </a:r>
          </a:p>
        </p:txBody>
      </p:sp>
      <p:sp>
        <p:nvSpPr>
          <p:cNvPr id="287" name="Shape 41"/>
          <p:cNvSpPr/>
          <p:nvPr/>
        </p:nvSpPr>
        <p:spPr>
          <a:xfrm>
            <a:off x="457200" y="5577840"/>
            <a:ext cx="7452360" cy="731521"/>
          </a:xfrm>
          <a:prstGeom prst="roundRect">
            <a:avLst>
              <a:gd name="adj" fmla="val 12500"/>
            </a:avLst>
          </a:prstGeom>
          <a:solidFill>
            <a:srgbClr val="1B2A52"/>
          </a:solidFill>
          <a:ln>
            <a:solidFill>
              <a:srgbClr val="2A3B6B"/>
            </a:solidFill>
          </a:ln>
        </p:spPr>
        <p:txBody>
          <a:bodyPr lIns="45719" rIns="45719"/>
          <a:lstStyle/>
          <a:p>
            <a:pPr/>
          </a:p>
        </p:txBody>
      </p:sp>
      <p:sp>
        <p:nvSpPr>
          <p:cNvPr id="288" name="Text 42"/>
          <p:cNvSpPr txBox="1"/>
          <p:nvPr/>
        </p:nvSpPr>
        <p:spPr>
          <a:xfrm>
            <a:off x="685799" y="5839023"/>
            <a:ext cx="704088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4"/>
                </a:solidFill>
              </a:defRPr>
            </a:pPr>
            <a:r>
              <a:t>Key idea: </a:t>
            </a:r>
            <a:r>
              <a:rPr b="0">
                <a:solidFill>
                  <a:srgbClr val="F1F5F9"/>
                </a:solidFill>
              </a:rPr>
              <a:t>splitting does no sorting. All the sorting happens while merging.</a:t>
            </a:r>
          </a:p>
        </p:txBody>
      </p:sp>
      <p:sp>
        <p:nvSpPr>
          <p:cNvPr id="289" name="Shape 43"/>
          <p:cNvSpPr/>
          <p:nvPr/>
        </p:nvSpPr>
        <p:spPr>
          <a:xfrm>
            <a:off x="8183880" y="1325880"/>
            <a:ext cx="3520441" cy="1143001"/>
          </a:xfrm>
          <a:prstGeom prst="roundRect">
            <a:avLst>
              <a:gd name="adj" fmla="val 8000"/>
            </a:avLst>
          </a:prstGeom>
          <a:solidFill>
            <a:srgbClr val="14203F"/>
          </a:solidFill>
          <a:ln>
            <a:solidFill>
              <a:srgbClr val="2A3B6B"/>
            </a:solidFill>
          </a:ln>
        </p:spPr>
        <p:txBody>
          <a:bodyPr lIns="45719" rIns="45719"/>
          <a:lstStyle/>
          <a:p>
            <a:pPr/>
          </a:p>
        </p:txBody>
      </p:sp>
      <p:sp>
        <p:nvSpPr>
          <p:cNvPr id="290" name="Shape 44"/>
          <p:cNvSpPr/>
          <p:nvPr/>
        </p:nvSpPr>
        <p:spPr>
          <a:xfrm>
            <a:off x="8366759" y="1453896"/>
            <a:ext cx="420625" cy="420625"/>
          </a:xfrm>
          <a:prstGeom prst="ellipse">
            <a:avLst/>
          </a:prstGeom>
          <a:solidFill>
            <a:schemeClr val="accent1"/>
          </a:solidFill>
          <a:ln w="12700">
            <a:solidFill>
              <a:schemeClr val="accent1"/>
            </a:solidFill>
          </a:ln>
        </p:spPr>
        <p:txBody>
          <a:bodyPr lIns="45719" rIns="45719"/>
          <a:lstStyle/>
          <a:p>
            <a:pPr/>
          </a:p>
        </p:txBody>
      </p:sp>
      <p:sp>
        <p:nvSpPr>
          <p:cNvPr id="291" name="Text 45"/>
          <p:cNvSpPr txBox="1"/>
          <p:nvPr/>
        </p:nvSpPr>
        <p:spPr>
          <a:xfrm>
            <a:off x="8366759" y="1559631"/>
            <a:ext cx="42062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1</a:t>
            </a:r>
          </a:p>
        </p:txBody>
      </p:sp>
      <p:sp>
        <p:nvSpPr>
          <p:cNvPr id="292" name="Text 46"/>
          <p:cNvSpPr txBox="1"/>
          <p:nvPr/>
        </p:nvSpPr>
        <p:spPr>
          <a:xfrm>
            <a:off x="8915400" y="1543384"/>
            <a:ext cx="26517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1"/>
                </a:solidFill>
              </a:defRPr>
            </a:lvl1pPr>
          </a:lstStyle>
          <a:p>
            <a:pPr/>
            <a:r>
              <a:t>Divide</a:t>
            </a:r>
          </a:p>
        </p:txBody>
      </p:sp>
      <p:sp>
        <p:nvSpPr>
          <p:cNvPr id="293" name="Text 47"/>
          <p:cNvSpPr txBox="1"/>
          <p:nvPr/>
        </p:nvSpPr>
        <p:spPr>
          <a:xfrm>
            <a:off x="8366759" y="1947672"/>
            <a:ext cx="3200401"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Split the array into a left half and a right half.</a:t>
            </a:r>
          </a:p>
        </p:txBody>
      </p:sp>
      <p:sp>
        <p:nvSpPr>
          <p:cNvPr id="294" name="Shape 48"/>
          <p:cNvSpPr/>
          <p:nvPr/>
        </p:nvSpPr>
        <p:spPr>
          <a:xfrm>
            <a:off x="8183880" y="2587751"/>
            <a:ext cx="3520441" cy="1143001"/>
          </a:xfrm>
          <a:prstGeom prst="roundRect">
            <a:avLst>
              <a:gd name="adj" fmla="val 8000"/>
            </a:avLst>
          </a:prstGeom>
          <a:solidFill>
            <a:srgbClr val="14203F"/>
          </a:solidFill>
          <a:ln>
            <a:solidFill>
              <a:srgbClr val="2A3B6B"/>
            </a:solidFill>
          </a:ln>
        </p:spPr>
        <p:txBody>
          <a:bodyPr lIns="45719" rIns="45719"/>
          <a:lstStyle/>
          <a:p>
            <a:pPr/>
          </a:p>
        </p:txBody>
      </p:sp>
      <p:sp>
        <p:nvSpPr>
          <p:cNvPr id="295" name="Shape 49"/>
          <p:cNvSpPr/>
          <p:nvPr/>
        </p:nvSpPr>
        <p:spPr>
          <a:xfrm>
            <a:off x="8366759" y="2715767"/>
            <a:ext cx="420625" cy="420625"/>
          </a:xfrm>
          <a:prstGeom prst="ellipse">
            <a:avLst/>
          </a:prstGeom>
          <a:solidFill>
            <a:srgbClr val="06B6D4"/>
          </a:solidFill>
          <a:ln w="12700">
            <a:solidFill>
              <a:srgbClr val="06B6D4"/>
            </a:solidFill>
          </a:ln>
        </p:spPr>
        <p:txBody>
          <a:bodyPr lIns="45719" rIns="45719"/>
          <a:lstStyle/>
          <a:p>
            <a:pPr/>
          </a:p>
        </p:txBody>
      </p:sp>
      <p:sp>
        <p:nvSpPr>
          <p:cNvPr id="296" name="Text 50"/>
          <p:cNvSpPr txBox="1"/>
          <p:nvPr/>
        </p:nvSpPr>
        <p:spPr>
          <a:xfrm>
            <a:off x="8366759" y="2821503"/>
            <a:ext cx="42062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2</a:t>
            </a:r>
          </a:p>
        </p:txBody>
      </p:sp>
      <p:sp>
        <p:nvSpPr>
          <p:cNvPr id="297" name="Text 51"/>
          <p:cNvSpPr txBox="1"/>
          <p:nvPr/>
        </p:nvSpPr>
        <p:spPr>
          <a:xfrm>
            <a:off x="8915400" y="2805256"/>
            <a:ext cx="26517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06B6D4"/>
                </a:solidFill>
              </a:defRPr>
            </a:lvl1pPr>
          </a:lstStyle>
          <a:p>
            <a:pPr/>
            <a:r>
              <a:t>Recurse</a:t>
            </a:r>
          </a:p>
        </p:txBody>
      </p:sp>
      <p:sp>
        <p:nvSpPr>
          <p:cNvPr id="298" name="Text 52"/>
          <p:cNvSpPr txBox="1"/>
          <p:nvPr/>
        </p:nvSpPr>
        <p:spPr>
          <a:xfrm>
            <a:off x="8366759" y="3209544"/>
            <a:ext cx="3200401"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Repeat on each half until pieces have 1 element.</a:t>
            </a:r>
          </a:p>
        </p:txBody>
      </p:sp>
      <p:sp>
        <p:nvSpPr>
          <p:cNvPr id="299" name="Shape 53"/>
          <p:cNvSpPr/>
          <p:nvPr/>
        </p:nvSpPr>
        <p:spPr>
          <a:xfrm>
            <a:off x="8183880" y="3849623"/>
            <a:ext cx="3520441" cy="1143001"/>
          </a:xfrm>
          <a:prstGeom prst="roundRect">
            <a:avLst>
              <a:gd name="adj" fmla="val 8000"/>
            </a:avLst>
          </a:prstGeom>
          <a:solidFill>
            <a:srgbClr val="14203F"/>
          </a:solidFill>
          <a:ln>
            <a:solidFill>
              <a:srgbClr val="2A3B6B"/>
            </a:solidFill>
          </a:ln>
        </p:spPr>
        <p:txBody>
          <a:bodyPr lIns="45719" rIns="45719"/>
          <a:lstStyle/>
          <a:p>
            <a:pPr/>
          </a:p>
        </p:txBody>
      </p:sp>
      <p:sp>
        <p:nvSpPr>
          <p:cNvPr id="300" name="Shape 54"/>
          <p:cNvSpPr/>
          <p:nvPr/>
        </p:nvSpPr>
        <p:spPr>
          <a:xfrm>
            <a:off x="8366759" y="3977640"/>
            <a:ext cx="420625" cy="420625"/>
          </a:xfrm>
          <a:prstGeom prst="ellipse">
            <a:avLst/>
          </a:prstGeom>
          <a:solidFill>
            <a:schemeClr val="accent4"/>
          </a:solidFill>
          <a:ln w="12700">
            <a:solidFill>
              <a:schemeClr val="accent4"/>
            </a:solidFill>
          </a:ln>
        </p:spPr>
        <p:txBody>
          <a:bodyPr lIns="45719" rIns="45719"/>
          <a:lstStyle/>
          <a:p>
            <a:pPr/>
          </a:p>
        </p:txBody>
      </p:sp>
      <p:sp>
        <p:nvSpPr>
          <p:cNvPr id="301" name="Text 55"/>
          <p:cNvSpPr txBox="1"/>
          <p:nvPr/>
        </p:nvSpPr>
        <p:spPr>
          <a:xfrm>
            <a:off x="8366759" y="4083375"/>
            <a:ext cx="42062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3</a:t>
            </a:r>
          </a:p>
        </p:txBody>
      </p:sp>
      <p:sp>
        <p:nvSpPr>
          <p:cNvPr id="302" name="Text 56"/>
          <p:cNvSpPr txBox="1"/>
          <p:nvPr/>
        </p:nvSpPr>
        <p:spPr>
          <a:xfrm>
            <a:off x="8915400" y="4067128"/>
            <a:ext cx="26517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Base case</a:t>
            </a:r>
          </a:p>
        </p:txBody>
      </p:sp>
      <p:sp>
        <p:nvSpPr>
          <p:cNvPr id="303" name="Text 57"/>
          <p:cNvSpPr txBox="1"/>
          <p:nvPr/>
        </p:nvSpPr>
        <p:spPr>
          <a:xfrm>
            <a:off x="8366759" y="4471415"/>
            <a:ext cx="3200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A one-element array is already sorted. Stop.</a:t>
            </a:r>
          </a:p>
        </p:txBody>
      </p:sp>
      <p:sp>
        <p:nvSpPr>
          <p:cNvPr id="304" name="Shape 58"/>
          <p:cNvSpPr/>
          <p:nvPr/>
        </p:nvSpPr>
        <p:spPr>
          <a:xfrm>
            <a:off x="8183880" y="5111496"/>
            <a:ext cx="3520441" cy="1143001"/>
          </a:xfrm>
          <a:prstGeom prst="roundRect">
            <a:avLst>
              <a:gd name="adj" fmla="val 8000"/>
            </a:avLst>
          </a:prstGeom>
          <a:solidFill>
            <a:srgbClr val="14203F"/>
          </a:solidFill>
          <a:ln>
            <a:solidFill>
              <a:srgbClr val="2A3B6B"/>
            </a:solidFill>
          </a:ln>
        </p:spPr>
        <p:txBody>
          <a:bodyPr lIns="45719" rIns="45719"/>
          <a:lstStyle/>
          <a:p>
            <a:pPr/>
          </a:p>
        </p:txBody>
      </p:sp>
      <p:sp>
        <p:nvSpPr>
          <p:cNvPr id="305" name="Shape 59"/>
          <p:cNvSpPr/>
          <p:nvPr/>
        </p:nvSpPr>
        <p:spPr>
          <a:xfrm>
            <a:off x="8366759" y="5239511"/>
            <a:ext cx="420625" cy="420625"/>
          </a:xfrm>
          <a:prstGeom prst="ellipse">
            <a:avLst/>
          </a:prstGeom>
          <a:solidFill>
            <a:schemeClr val="accent2"/>
          </a:solidFill>
          <a:ln w="12700">
            <a:solidFill>
              <a:schemeClr val="accent2"/>
            </a:solidFill>
          </a:ln>
        </p:spPr>
        <p:txBody>
          <a:bodyPr lIns="45719" rIns="45719"/>
          <a:lstStyle/>
          <a:p>
            <a:pPr/>
          </a:p>
        </p:txBody>
      </p:sp>
      <p:sp>
        <p:nvSpPr>
          <p:cNvPr id="306" name="Text 60"/>
          <p:cNvSpPr txBox="1"/>
          <p:nvPr/>
        </p:nvSpPr>
        <p:spPr>
          <a:xfrm>
            <a:off x="8366759" y="5345247"/>
            <a:ext cx="42062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4</a:t>
            </a:r>
          </a:p>
        </p:txBody>
      </p:sp>
      <p:sp>
        <p:nvSpPr>
          <p:cNvPr id="307" name="Text 61"/>
          <p:cNvSpPr txBox="1"/>
          <p:nvPr/>
        </p:nvSpPr>
        <p:spPr>
          <a:xfrm>
            <a:off x="8915400" y="5329000"/>
            <a:ext cx="26517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2"/>
                </a:solidFill>
              </a:defRPr>
            </a:lvl1pPr>
          </a:lstStyle>
          <a:p>
            <a:pPr/>
            <a:r>
              <a:t>Merge</a:t>
            </a:r>
          </a:p>
        </p:txBody>
      </p:sp>
      <p:sp>
        <p:nvSpPr>
          <p:cNvPr id="308" name="Text 62"/>
          <p:cNvSpPr txBox="1"/>
          <p:nvPr/>
        </p:nvSpPr>
        <p:spPr>
          <a:xfrm>
            <a:off x="8366759" y="5733288"/>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Combine two sorted halves into one sorted array.</a:t>
            </a:r>
          </a:p>
        </p:txBody>
      </p:sp>
      <p:sp>
        <p:nvSpPr>
          <p:cNvPr id="309"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Text 0"/>
          <p:cNvSpPr txBox="1"/>
          <p:nvPr>
            <p:ph type="title"/>
          </p:nvPr>
        </p:nvSpPr>
        <p:spPr>
          <a:xfrm>
            <a:off x="548639" y="320039"/>
            <a:ext cx="11064242" cy="731522"/>
          </a:xfrm>
          <a:prstGeom prst="rect">
            <a:avLst/>
          </a:prstGeom>
        </p:spPr>
        <p:txBody>
          <a:bodyPr lIns="0" tIns="0" rIns="0" bIns="0" anchor="ctr"/>
          <a:lstStyle/>
          <a:p>
            <a:pPr/>
            <a:r>
              <a:t>Step-by-Step Example — Dividing the Array</a:t>
            </a:r>
          </a:p>
        </p:txBody>
      </p:sp>
      <p:grpSp>
        <p:nvGrpSpPr>
          <p:cNvPr id="316" name="Text 1"/>
          <p:cNvGrpSpPr/>
          <p:nvPr/>
        </p:nvGrpSpPr>
        <p:grpSpPr>
          <a:xfrm>
            <a:off x="2524886" y="1463039"/>
            <a:ext cx="566929" cy="548641"/>
            <a:chOff x="0" y="0"/>
            <a:chExt cx="566927" cy="548640"/>
          </a:xfrm>
        </p:grpSpPr>
        <p:sp>
          <p:nvSpPr>
            <p:cNvPr id="314"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15" name="38"/>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319" name="Text 2"/>
          <p:cNvGrpSpPr/>
          <p:nvPr/>
        </p:nvGrpSpPr>
        <p:grpSpPr>
          <a:xfrm>
            <a:off x="3091814" y="1463039"/>
            <a:ext cx="566929" cy="548641"/>
            <a:chOff x="0" y="0"/>
            <a:chExt cx="566927" cy="548640"/>
          </a:xfrm>
        </p:grpSpPr>
        <p:sp>
          <p:nvSpPr>
            <p:cNvPr id="317"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18" name="27"/>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322" name="Text 3"/>
          <p:cNvGrpSpPr/>
          <p:nvPr/>
        </p:nvGrpSpPr>
        <p:grpSpPr>
          <a:xfrm>
            <a:off x="3658742" y="1463039"/>
            <a:ext cx="566929" cy="548641"/>
            <a:chOff x="0" y="0"/>
            <a:chExt cx="566927" cy="548640"/>
          </a:xfrm>
        </p:grpSpPr>
        <p:sp>
          <p:nvSpPr>
            <p:cNvPr id="320"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21" name="4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325" name="Text 4"/>
          <p:cNvGrpSpPr/>
          <p:nvPr/>
        </p:nvGrpSpPr>
        <p:grpSpPr>
          <a:xfrm>
            <a:off x="4225671" y="1463039"/>
            <a:ext cx="566929" cy="548641"/>
            <a:chOff x="0" y="0"/>
            <a:chExt cx="566927" cy="548640"/>
          </a:xfrm>
        </p:grpSpPr>
        <p:sp>
          <p:nvSpPr>
            <p:cNvPr id="323"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24" name="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328" name="Text 5"/>
          <p:cNvGrpSpPr/>
          <p:nvPr/>
        </p:nvGrpSpPr>
        <p:grpSpPr>
          <a:xfrm>
            <a:off x="4792598" y="1463039"/>
            <a:ext cx="566929" cy="548641"/>
            <a:chOff x="0" y="0"/>
            <a:chExt cx="566927" cy="548640"/>
          </a:xfrm>
        </p:grpSpPr>
        <p:sp>
          <p:nvSpPr>
            <p:cNvPr id="326"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27" name="9"/>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9</a:t>
              </a:r>
            </a:p>
          </p:txBody>
        </p:sp>
      </p:grpSp>
      <p:grpSp>
        <p:nvGrpSpPr>
          <p:cNvPr id="331" name="Text 6"/>
          <p:cNvGrpSpPr/>
          <p:nvPr/>
        </p:nvGrpSpPr>
        <p:grpSpPr>
          <a:xfrm>
            <a:off x="5359527" y="1463039"/>
            <a:ext cx="566929" cy="548641"/>
            <a:chOff x="0" y="0"/>
            <a:chExt cx="566927" cy="548640"/>
          </a:xfrm>
        </p:grpSpPr>
        <p:sp>
          <p:nvSpPr>
            <p:cNvPr id="329"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30" name="82"/>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82</a:t>
              </a:r>
            </a:p>
          </p:txBody>
        </p:sp>
      </p:grpSp>
      <p:grpSp>
        <p:nvGrpSpPr>
          <p:cNvPr id="334" name="Text 7"/>
          <p:cNvGrpSpPr/>
          <p:nvPr/>
        </p:nvGrpSpPr>
        <p:grpSpPr>
          <a:xfrm>
            <a:off x="5926454" y="1463039"/>
            <a:ext cx="566929" cy="548641"/>
            <a:chOff x="0" y="0"/>
            <a:chExt cx="566927" cy="548640"/>
          </a:xfrm>
        </p:grpSpPr>
        <p:sp>
          <p:nvSpPr>
            <p:cNvPr id="332" name="Rectangle"/>
            <p:cNvSpPr/>
            <p:nvPr/>
          </p:nvSpPr>
          <p:spPr>
            <a:xfrm>
              <a:off x="0" y="-1"/>
              <a:ext cx="566928" cy="548642"/>
            </a:xfrm>
            <a:prstGeom prst="rect">
              <a:avLst/>
            </a:prstGeom>
            <a:solidFill>
              <a:srgbClr val="A5F3FC"/>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33" name="10"/>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10</a:t>
              </a:r>
            </a:p>
          </p:txBody>
        </p:sp>
      </p:grpSp>
      <p:grpSp>
        <p:nvGrpSpPr>
          <p:cNvPr id="337" name="Text 8"/>
          <p:cNvGrpSpPr/>
          <p:nvPr/>
        </p:nvGrpSpPr>
        <p:grpSpPr>
          <a:xfrm>
            <a:off x="1403603" y="2697479"/>
            <a:ext cx="566929" cy="548641"/>
            <a:chOff x="0" y="0"/>
            <a:chExt cx="566927" cy="548640"/>
          </a:xfrm>
        </p:grpSpPr>
        <p:sp>
          <p:nvSpPr>
            <p:cNvPr id="335"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36" name="38"/>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340" name="Text 9"/>
          <p:cNvGrpSpPr/>
          <p:nvPr/>
        </p:nvGrpSpPr>
        <p:grpSpPr>
          <a:xfrm>
            <a:off x="1970532" y="2697479"/>
            <a:ext cx="566929" cy="548641"/>
            <a:chOff x="0" y="0"/>
            <a:chExt cx="566927" cy="548640"/>
          </a:xfrm>
        </p:grpSpPr>
        <p:sp>
          <p:nvSpPr>
            <p:cNvPr id="338"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39" name="27"/>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343" name="Text 10"/>
          <p:cNvGrpSpPr/>
          <p:nvPr/>
        </p:nvGrpSpPr>
        <p:grpSpPr>
          <a:xfrm>
            <a:off x="2537460" y="2697479"/>
            <a:ext cx="566929" cy="548641"/>
            <a:chOff x="0" y="0"/>
            <a:chExt cx="566927" cy="548640"/>
          </a:xfrm>
        </p:grpSpPr>
        <p:sp>
          <p:nvSpPr>
            <p:cNvPr id="341"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42" name="4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346" name="Text 11"/>
          <p:cNvGrpSpPr/>
          <p:nvPr/>
        </p:nvGrpSpPr>
        <p:grpSpPr>
          <a:xfrm>
            <a:off x="3104388" y="2697479"/>
            <a:ext cx="566929" cy="548641"/>
            <a:chOff x="0" y="0"/>
            <a:chExt cx="566927" cy="548640"/>
          </a:xfrm>
        </p:grpSpPr>
        <p:sp>
          <p:nvSpPr>
            <p:cNvPr id="344"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45" name="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349" name="Text 12"/>
          <p:cNvGrpSpPr/>
          <p:nvPr/>
        </p:nvGrpSpPr>
        <p:grpSpPr>
          <a:xfrm>
            <a:off x="5630417" y="2697479"/>
            <a:ext cx="566929" cy="548641"/>
            <a:chOff x="0" y="0"/>
            <a:chExt cx="566927" cy="548640"/>
          </a:xfrm>
        </p:grpSpPr>
        <p:sp>
          <p:nvSpPr>
            <p:cNvPr id="347"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48" name="9"/>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9</a:t>
              </a:r>
            </a:p>
          </p:txBody>
        </p:sp>
      </p:grpSp>
      <p:grpSp>
        <p:nvGrpSpPr>
          <p:cNvPr id="352" name="Text 13"/>
          <p:cNvGrpSpPr/>
          <p:nvPr/>
        </p:nvGrpSpPr>
        <p:grpSpPr>
          <a:xfrm>
            <a:off x="6197346" y="2697479"/>
            <a:ext cx="566929" cy="548641"/>
            <a:chOff x="0" y="0"/>
            <a:chExt cx="566927" cy="548640"/>
          </a:xfrm>
        </p:grpSpPr>
        <p:sp>
          <p:nvSpPr>
            <p:cNvPr id="350"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51" name="82"/>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82</a:t>
              </a:r>
            </a:p>
          </p:txBody>
        </p:sp>
      </p:grpSp>
      <p:grpSp>
        <p:nvGrpSpPr>
          <p:cNvPr id="355" name="Text 14"/>
          <p:cNvGrpSpPr/>
          <p:nvPr/>
        </p:nvGrpSpPr>
        <p:grpSpPr>
          <a:xfrm>
            <a:off x="6764273" y="2697479"/>
            <a:ext cx="566929" cy="548641"/>
            <a:chOff x="0" y="0"/>
            <a:chExt cx="566927" cy="548640"/>
          </a:xfrm>
        </p:grpSpPr>
        <p:sp>
          <p:nvSpPr>
            <p:cNvPr id="353" name="Rectangle"/>
            <p:cNvSpPr/>
            <p:nvPr/>
          </p:nvSpPr>
          <p:spPr>
            <a:xfrm>
              <a:off x="0" y="-1"/>
              <a:ext cx="566928" cy="548642"/>
            </a:xfrm>
            <a:prstGeom prst="rect">
              <a:avLst/>
            </a:prstGeom>
            <a:solidFill>
              <a:srgbClr val="67E8F9"/>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54" name="10"/>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10</a:t>
              </a:r>
            </a:p>
          </p:txBody>
        </p:sp>
      </p:grpSp>
      <p:grpSp>
        <p:nvGrpSpPr>
          <p:cNvPr id="358" name="Text 15"/>
          <p:cNvGrpSpPr/>
          <p:nvPr/>
        </p:nvGrpSpPr>
        <p:grpSpPr>
          <a:xfrm>
            <a:off x="918972" y="3931920"/>
            <a:ext cx="566929" cy="548641"/>
            <a:chOff x="0" y="0"/>
            <a:chExt cx="566927" cy="548640"/>
          </a:xfrm>
        </p:grpSpPr>
        <p:sp>
          <p:nvSpPr>
            <p:cNvPr id="356"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57" name="38"/>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361" name="Text 16"/>
          <p:cNvGrpSpPr/>
          <p:nvPr/>
        </p:nvGrpSpPr>
        <p:grpSpPr>
          <a:xfrm>
            <a:off x="1485900" y="3931920"/>
            <a:ext cx="566928" cy="548641"/>
            <a:chOff x="0" y="0"/>
            <a:chExt cx="566927" cy="548640"/>
          </a:xfrm>
        </p:grpSpPr>
        <p:sp>
          <p:nvSpPr>
            <p:cNvPr id="359"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60" name="27"/>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364" name="Text 17"/>
          <p:cNvGrpSpPr/>
          <p:nvPr/>
        </p:nvGrpSpPr>
        <p:grpSpPr>
          <a:xfrm>
            <a:off x="3022092" y="3931920"/>
            <a:ext cx="566929" cy="548641"/>
            <a:chOff x="0" y="0"/>
            <a:chExt cx="566927" cy="548640"/>
          </a:xfrm>
        </p:grpSpPr>
        <p:sp>
          <p:nvSpPr>
            <p:cNvPr id="362"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63" name="4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367" name="Text 18"/>
          <p:cNvGrpSpPr/>
          <p:nvPr/>
        </p:nvGrpSpPr>
        <p:grpSpPr>
          <a:xfrm>
            <a:off x="3589020" y="3931920"/>
            <a:ext cx="566929" cy="548641"/>
            <a:chOff x="0" y="0"/>
            <a:chExt cx="566927" cy="548640"/>
          </a:xfrm>
        </p:grpSpPr>
        <p:sp>
          <p:nvSpPr>
            <p:cNvPr id="365"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66" name="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370" name="Text 19"/>
          <p:cNvGrpSpPr/>
          <p:nvPr/>
        </p:nvGrpSpPr>
        <p:grpSpPr>
          <a:xfrm>
            <a:off x="5125211" y="3931920"/>
            <a:ext cx="566929" cy="548641"/>
            <a:chOff x="0" y="0"/>
            <a:chExt cx="566927" cy="548640"/>
          </a:xfrm>
        </p:grpSpPr>
        <p:sp>
          <p:nvSpPr>
            <p:cNvPr id="368"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69" name="9"/>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9</a:t>
              </a:r>
            </a:p>
          </p:txBody>
        </p:sp>
      </p:grpSp>
      <p:grpSp>
        <p:nvGrpSpPr>
          <p:cNvPr id="373" name="Text 20"/>
          <p:cNvGrpSpPr/>
          <p:nvPr/>
        </p:nvGrpSpPr>
        <p:grpSpPr>
          <a:xfrm>
            <a:off x="5692140" y="3931920"/>
            <a:ext cx="566929" cy="548641"/>
            <a:chOff x="0" y="0"/>
            <a:chExt cx="566927" cy="548640"/>
          </a:xfrm>
        </p:grpSpPr>
        <p:sp>
          <p:nvSpPr>
            <p:cNvPr id="371"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72" name="82"/>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82</a:t>
              </a:r>
            </a:p>
          </p:txBody>
        </p:sp>
      </p:grpSp>
      <p:grpSp>
        <p:nvGrpSpPr>
          <p:cNvPr id="376" name="Text 21"/>
          <p:cNvGrpSpPr/>
          <p:nvPr/>
        </p:nvGrpSpPr>
        <p:grpSpPr>
          <a:xfrm>
            <a:off x="6986016" y="3931920"/>
            <a:ext cx="566929" cy="548641"/>
            <a:chOff x="0" y="0"/>
            <a:chExt cx="566927" cy="548640"/>
          </a:xfrm>
        </p:grpSpPr>
        <p:sp>
          <p:nvSpPr>
            <p:cNvPr id="374" name="Rectangle"/>
            <p:cNvSpPr/>
            <p:nvPr/>
          </p:nvSpPr>
          <p:spPr>
            <a:xfrm>
              <a:off x="0" y="-1"/>
              <a:ext cx="566928" cy="548642"/>
            </a:xfrm>
            <a:prstGeom prst="rect">
              <a:avLst/>
            </a:prstGeom>
            <a:solidFill>
              <a:schemeClr val="accent1"/>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75" name="10"/>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10</a:t>
              </a:r>
            </a:p>
          </p:txBody>
        </p:sp>
      </p:grpSp>
      <p:grpSp>
        <p:nvGrpSpPr>
          <p:cNvPr id="379" name="Text 22"/>
          <p:cNvGrpSpPr/>
          <p:nvPr/>
        </p:nvGrpSpPr>
        <p:grpSpPr>
          <a:xfrm>
            <a:off x="676655" y="5166359"/>
            <a:ext cx="566929" cy="548641"/>
            <a:chOff x="0" y="0"/>
            <a:chExt cx="566927" cy="548640"/>
          </a:xfrm>
        </p:grpSpPr>
        <p:sp>
          <p:nvSpPr>
            <p:cNvPr id="377"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78" name="38"/>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38</a:t>
              </a:r>
            </a:p>
          </p:txBody>
        </p:sp>
      </p:grpSp>
      <p:grpSp>
        <p:nvGrpSpPr>
          <p:cNvPr id="382" name="Text 23"/>
          <p:cNvGrpSpPr/>
          <p:nvPr/>
        </p:nvGrpSpPr>
        <p:grpSpPr>
          <a:xfrm>
            <a:off x="1728216" y="5166359"/>
            <a:ext cx="566929" cy="548641"/>
            <a:chOff x="0" y="0"/>
            <a:chExt cx="566927" cy="548640"/>
          </a:xfrm>
        </p:grpSpPr>
        <p:sp>
          <p:nvSpPr>
            <p:cNvPr id="380"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81" name="27"/>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27</a:t>
              </a:r>
            </a:p>
          </p:txBody>
        </p:sp>
      </p:grpSp>
      <p:grpSp>
        <p:nvGrpSpPr>
          <p:cNvPr id="385" name="Text 24"/>
          <p:cNvGrpSpPr/>
          <p:nvPr/>
        </p:nvGrpSpPr>
        <p:grpSpPr>
          <a:xfrm>
            <a:off x="2779776" y="5166359"/>
            <a:ext cx="566929" cy="548641"/>
            <a:chOff x="0" y="0"/>
            <a:chExt cx="566927" cy="548640"/>
          </a:xfrm>
        </p:grpSpPr>
        <p:sp>
          <p:nvSpPr>
            <p:cNvPr id="383"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84" name="4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43</a:t>
              </a:r>
            </a:p>
          </p:txBody>
        </p:sp>
      </p:grpSp>
      <p:grpSp>
        <p:nvGrpSpPr>
          <p:cNvPr id="388" name="Text 25"/>
          <p:cNvGrpSpPr/>
          <p:nvPr/>
        </p:nvGrpSpPr>
        <p:grpSpPr>
          <a:xfrm>
            <a:off x="3831335" y="5166359"/>
            <a:ext cx="566929" cy="548641"/>
            <a:chOff x="0" y="0"/>
            <a:chExt cx="566927" cy="548640"/>
          </a:xfrm>
        </p:grpSpPr>
        <p:sp>
          <p:nvSpPr>
            <p:cNvPr id="386"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87" name="3"/>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grpSp>
        <p:nvGrpSpPr>
          <p:cNvPr id="391" name="Text 26"/>
          <p:cNvGrpSpPr/>
          <p:nvPr/>
        </p:nvGrpSpPr>
        <p:grpSpPr>
          <a:xfrm>
            <a:off x="4882896" y="5166359"/>
            <a:ext cx="566929" cy="548641"/>
            <a:chOff x="0" y="0"/>
            <a:chExt cx="566927" cy="548640"/>
          </a:xfrm>
        </p:grpSpPr>
        <p:sp>
          <p:nvSpPr>
            <p:cNvPr id="389"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90" name="9"/>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9</a:t>
              </a:r>
            </a:p>
          </p:txBody>
        </p:sp>
      </p:grpSp>
      <p:grpSp>
        <p:nvGrpSpPr>
          <p:cNvPr id="394" name="Text 27"/>
          <p:cNvGrpSpPr/>
          <p:nvPr/>
        </p:nvGrpSpPr>
        <p:grpSpPr>
          <a:xfrm>
            <a:off x="5934455" y="5166359"/>
            <a:ext cx="566929" cy="548641"/>
            <a:chOff x="0" y="0"/>
            <a:chExt cx="566927" cy="548640"/>
          </a:xfrm>
        </p:grpSpPr>
        <p:sp>
          <p:nvSpPr>
            <p:cNvPr id="392"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93" name="82"/>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82</a:t>
              </a:r>
            </a:p>
          </p:txBody>
        </p:sp>
      </p:grpSp>
      <p:grpSp>
        <p:nvGrpSpPr>
          <p:cNvPr id="397" name="Text 28"/>
          <p:cNvGrpSpPr/>
          <p:nvPr/>
        </p:nvGrpSpPr>
        <p:grpSpPr>
          <a:xfrm>
            <a:off x="6986016" y="5166359"/>
            <a:ext cx="566929" cy="548641"/>
            <a:chOff x="0" y="0"/>
            <a:chExt cx="566927" cy="548640"/>
          </a:xfrm>
        </p:grpSpPr>
        <p:sp>
          <p:nvSpPr>
            <p:cNvPr id="395" name="Rectangle"/>
            <p:cNvSpPr/>
            <p:nvPr/>
          </p:nvSpPr>
          <p:spPr>
            <a:xfrm>
              <a:off x="0" y="-1"/>
              <a:ext cx="566928" cy="548642"/>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600"/>
              </a:pPr>
            </a:p>
          </p:txBody>
        </p:sp>
        <p:sp>
          <p:nvSpPr>
            <p:cNvPr id="396" name="10"/>
            <p:cNvSpPr txBox="1"/>
            <p:nvPr/>
          </p:nvSpPr>
          <p:spPr>
            <a:xfrm>
              <a:off x="9525" y="169743"/>
              <a:ext cx="547878"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10</a:t>
              </a:r>
            </a:p>
          </p:txBody>
        </p:sp>
      </p:grpSp>
      <p:sp>
        <p:nvSpPr>
          <p:cNvPr id="398" name="Shape 29"/>
          <p:cNvSpPr/>
          <p:nvPr/>
        </p:nvSpPr>
        <p:spPr>
          <a:xfrm flipH="1">
            <a:off x="2537459" y="2057399"/>
            <a:ext cx="1971676" cy="594361"/>
          </a:xfrm>
          <a:prstGeom prst="line">
            <a:avLst/>
          </a:prstGeom>
          <a:ln w="25400">
            <a:solidFill>
              <a:schemeClr val="accent1"/>
            </a:solidFill>
            <a:tailEnd type="triangle"/>
          </a:ln>
        </p:spPr>
        <p:txBody>
          <a:bodyPr lIns="45719" rIns="45719"/>
          <a:lstStyle/>
          <a:p>
            <a:pPr/>
          </a:p>
        </p:txBody>
      </p:sp>
      <p:sp>
        <p:nvSpPr>
          <p:cNvPr id="399" name="Shape 30"/>
          <p:cNvSpPr/>
          <p:nvPr/>
        </p:nvSpPr>
        <p:spPr>
          <a:xfrm>
            <a:off x="4509134" y="2057399"/>
            <a:ext cx="1971676" cy="594361"/>
          </a:xfrm>
          <a:prstGeom prst="line">
            <a:avLst/>
          </a:prstGeom>
          <a:ln w="25400">
            <a:solidFill>
              <a:schemeClr val="accent1"/>
            </a:solidFill>
            <a:tailEnd type="triangle"/>
          </a:ln>
        </p:spPr>
        <p:txBody>
          <a:bodyPr lIns="45719" rIns="45719"/>
          <a:lstStyle/>
          <a:p>
            <a:pPr/>
          </a:p>
        </p:txBody>
      </p:sp>
      <p:sp>
        <p:nvSpPr>
          <p:cNvPr id="400" name="Shape 31"/>
          <p:cNvSpPr/>
          <p:nvPr/>
        </p:nvSpPr>
        <p:spPr>
          <a:xfrm flipH="1">
            <a:off x="1485900" y="3291840"/>
            <a:ext cx="1051561" cy="594361"/>
          </a:xfrm>
          <a:prstGeom prst="line">
            <a:avLst/>
          </a:prstGeom>
          <a:ln w="25400">
            <a:solidFill>
              <a:schemeClr val="accent1"/>
            </a:solidFill>
            <a:tailEnd type="triangle"/>
          </a:ln>
        </p:spPr>
        <p:txBody>
          <a:bodyPr lIns="45719" rIns="45719"/>
          <a:lstStyle/>
          <a:p>
            <a:pPr/>
          </a:p>
        </p:txBody>
      </p:sp>
      <p:sp>
        <p:nvSpPr>
          <p:cNvPr id="401" name="Shape 32"/>
          <p:cNvSpPr/>
          <p:nvPr/>
        </p:nvSpPr>
        <p:spPr>
          <a:xfrm>
            <a:off x="2537460" y="3291840"/>
            <a:ext cx="1051561" cy="594361"/>
          </a:xfrm>
          <a:prstGeom prst="line">
            <a:avLst/>
          </a:prstGeom>
          <a:ln w="25400">
            <a:solidFill>
              <a:schemeClr val="accent1"/>
            </a:solidFill>
            <a:tailEnd type="triangle"/>
          </a:ln>
        </p:spPr>
        <p:txBody>
          <a:bodyPr lIns="45719" rIns="45719"/>
          <a:lstStyle/>
          <a:p>
            <a:pPr/>
          </a:p>
        </p:txBody>
      </p:sp>
      <p:sp>
        <p:nvSpPr>
          <p:cNvPr id="402" name="Shape 33"/>
          <p:cNvSpPr/>
          <p:nvPr/>
        </p:nvSpPr>
        <p:spPr>
          <a:xfrm flipH="1">
            <a:off x="5692140" y="3291840"/>
            <a:ext cx="788671" cy="594361"/>
          </a:xfrm>
          <a:prstGeom prst="line">
            <a:avLst/>
          </a:prstGeom>
          <a:ln w="25400">
            <a:solidFill>
              <a:schemeClr val="accent1"/>
            </a:solidFill>
            <a:tailEnd type="triangle"/>
          </a:ln>
        </p:spPr>
        <p:txBody>
          <a:bodyPr lIns="45719" rIns="45719"/>
          <a:lstStyle/>
          <a:p>
            <a:pPr/>
          </a:p>
        </p:txBody>
      </p:sp>
      <p:sp>
        <p:nvSpPr>
          <p:cNvPr id="403" name="Shape 34"/>
          <p:cNvSpPr/>
          <p:nvPr/>
        </p:nvSpPr>
        <p:spPr>
          <a:xfrm>
            <a:off x="6480809" y="3291840"/>
            <a:ext cx="788671" cy="594361"/>
          </a:xfrm>
          <a:prstGeom prst="line">
            <a:avLst/>
          </a:prstGeom>
          <a:ln w="25400">
            <a:solidFill>
              <a:schemeClr val="accent1"/>
            </a:solidFill>
            <a:tailEnd type="triangle"/>
          </a:ln>
        </p:spPr>
        <p:txBody>
          <a:bodyPr lIns="45719" rIns="45719"/>
          <a:lstStyle/>
          <a:p>
            <a:pPr/>
          </a:p>
        </p:txBody>
      </p:sp>
      <p:sp>
        <p:nvSpPr>
          <p:cNvPr id="404" name="Shape 35"/>
          <p:cNvSpPr/>
          <p:nvPr/>
        </p:nvSpPr>
        <p:spPr>
          <a:xfrm flipH="1">
            <a:off x="960120" y="4526279"/>
            <a:ext cx="525781" cy="594361"/>
          </a:xfrm>
          <a:prstGeom prst="line">
            <a:avLst/>
          </a:prstGeom>
          <a:ln w="25400">
            <a:solidFill>
              <a:schemeClr val="accent1"/>
            </a:solidFill>
            <a:tailEnd type="triangle"/>
          </a:ln>
        </p:spPr>
        <p:txBody>
          <a:bodyPr lIns="45719" rIns="45719"/>
          <a:lstStyle/>
          <a:p>
            <a:pPr/>
          </a:p>
        </p:txBody>
      </p:sp>
      <p:sp>
        <p:nvSpPr>
          <p:cNvPr id="405" name="Shape 36"/>
          <p:cNvSpPr/>
          <p:nvPr/>
        </p:nvSpPr>
        <p:spPr>
          <a:xfrm>
            <a:off x="1485900" y="4526279"/>
            <a:ext cx="525780" cy="594361"/>
          </a:xfrm>
          <a:prstGeom prst="line">
            <a:avLst/>
          </a:prstGeom>
          <a:ln w="25400">
            <a:solidFill>
              <a:schemeClr val="accent1"/>
            </a:solidFill>
            <a:tailEnd type="triangle"/>
          </a:ln>
        </p:spPr>
        <p:txBody>
          <a:bodyPr lIns="45719" rIns="45719"/>
          <a:lstStyle/>
          <a:p>
            <a:pPr/>
          </a:p>
        </p:txBody>
      </p:sp>
      <p:sp>
        <p:nvSpPr>
          <p:cNvPr id="406" name="Shape 37"/>
          <p:cNvSpPr/>
          <p:nvPr/>
        </p:nvSpPr>
        <p:spPr>
          <a:xfrm flipH="1">
            <a:off x="3063239" y="4526279"/>
            <a:ext cx="525782" cy="594361"/>
          </a:xfrm>
          <a:prstGeom prst="line">
            <a:avLst/>
          </a:prstGeom>
          <a:ln w="25400">
            <a:solidFill>
              <a:schemeClr val="accent1"/>
            </a:solidFill>
            <a:tailEnd type="triangle"/>
          </a:ln>
        </p:spPr>
        <p:txBody>
          <a:bodyPr lIns="45719" rIns="45719"/>
          <a:lstStyle/>
          <a:p>
            <a:pPr/>
          </a:p>
        </p:txBody>
      </p:sp>
      <p:sp>
        <p:nvSpPr>
          <p:cNvPr id="407" name="Shape 38"/>
          <p:cNvSpPr/>
          <p:nvPr/>
        </p:nvSpPr>
        <p:spPr>
          <a:xfrm>
            <a:off x="3589019" y="4526279"/>
            <a:ext cx="525781" cy="594361"/>
          </a:xfrm>
          <a:prstGeom prst="line">
            <a:avLst/>
          </a:prstGeom>
          <a:ln w="25400">
            <a:solidFill>
              <a:schemeClr val="accent1"/>
            </a:solidFill>
            <a:tailEnd type="triangle"/>
          </a:ln>
        </p:spPr>
        <p:txBody>
          <a:bodyPr lIns="45719" rIns="45719"/>
          <a:lstStyle/>
          <a:p>
            <a:pPr/>
          </a:p>
        </p:txBody>
      </p:sp>
      <p:sp>
        <p:nvSpPr>
          <p:cNvPr id="408" name="Shape 39"/>
          <p:cNvSpPr/>
          <p:nvPr/>
        </p:nvSpPr>
        <p:spPr>
          <a:xfrm flipH="1">
            <a:off x="5166359" y="4526279"/>
            <a:ext cx="525781" cy="594361"/>
          </a:xfrm>
          <a:prstGeom prst="line">
            <a:avLst/>
          </a:prstGeom>
          <a:ln w="25400">
            <a:solidFill>
              <a:schemeClr val="accent1"/>
            </a:solidFill>
            <a:tailEnd type="triangle"/>
          </a:ln>
        </p:spPr>
        <p:txBody>
          <a:bodyPr lIns="45719" rIns="45719"/>
          <a:lstStyle/>
          <a:p>
            <a:pPr/>
          </a:p>
        </p:txBody>
      </p:sp>
      <p:sp>
        <p:nvSpPr>
          <p:cNvPr id="409" name="Shape 40"/>
          <p:cNvSpPr/>
          <p:nvPr/>
        </p:nvSpPr>
        <p:spPr>
          <a:xfrm>
            <a:off x="5692140" y="4526279"/>
            <a:ext cx="525781" cy="594361"/>
          </a:xfrm>
          <a:prstGeom prst="line">
            <a:avLst/>
          </a:prstGeom>
          <a:ln w="25400">
            <a:solidFill>
              <a:schemeClr val="accent1"/>
            </a:solidFill>
            <a:tailEnd type="triangle"/>
          </a:ln>
        </p:spPr>
        <p:txBody>
          <a:bodyPr lIns="45719" rIns="45719"/>
          <a:lstStyle/>
          <a:p>
            <a:pPr/>
          </a:p>
        </p:txBody>
      </p:sp>
      <p:sp>
        <p:nvSpPr>
          <p:cNvPr id="410" name="Shape 41"/>
          <p:cNvSpPr/>
          <p:nvPr/>
        </p:nvSpPr>
        <p:spPr>
          <a:xfrm>
            <a:off x="7269479" y="4526279"/>
            <a:ext cx="1" cy="594361"/>
          </a:xfrm>
          <a:prstGeom prst="line">
            <a:avLst/>
          </a:prstGeom>
          <a:ln w="25400">
            <a:solidFill>
              <a:schemeClr val="accent1"/>
            </a:solidFill>
            <a:tailEnd type="triangle"/>
          </a:ln>
        </p:spPr>
        <p:txBody>
          <a:bodyPr lIns="45719" rIns="45719"/>
          <a:lstStyle/>
          <a:p>
            <a:pPr/>
          </a:p>
        </p:txBody>
      </p:sp>
      <p:sp>
        <p:nvSpPr>
          <p:cNvPr id="411" name="Shape 42"/>
          <p:cNvSpPr/>
          <p:nvPr/>
        </p:nvSpPr>
        <p:spPr>
          <a:xfrm>
            <a:off x="5566409" y="2633472"/>
            <a:ext cx="1828801" cy="676656"/>
          </a:xfrm>
          <a:prstGeom prst="roundRect">
            <a:avLst>
              <a:gd name="adj" fmla="val 8108"/>
            </a:avLst>
          </a:prstGeom>
          <a:solidFill>
            <a:srgbClr val="0B1226">
              <a:alpha val="0"/>
            </a:srgbClr>
          </a:solidFill>
          <a:ln w="25400">
            <a:solidFill>
              <a:schemeClr val="accent4"/>
            </a:solidFill>
            <a:prstDash val="dash"/>
          </a:ln>
        </p:spPr>
        <p:txBody>
          <a:bodyPr lIns="45719" rIns="45719"/>
          <a:lstStyle/>
          <a:p>
            <a:pPr/>
          </a:p>
        </p:txBody>
      </p:sp>
      <p:sp>
        <p:nvSpPr>
          <p:cNvPr id="412" name="Shape 43"/>
          <p:cNvSpPr/>
          <p:nvPr/>
        </p:nvSpPr>
        <p:spPr>
          <a:xfrm>
            <a:off x="8138159" y="1371600"/>
            <a:ext cx="3566161" cy="2286000"/>
          </a:xfrm>
          <a:prstGeom prst="roundRect">
            <a:avLst>
              <a:gd name="adj" fmla="val 4000"/>
            </a:avLst>
          </a:prstGeom>
          <a:solidFill>
            <a:srgbClr val="14203F"/>
          </a:solidFill>
          <a:ln>
            <a:solidFill>
              <a:srgbClr val="2A3B6B"/>
            </a:solidFill>
          </a:ln>
        </p:spPr>
        <p:txBody>
          <a:bodyPr lIns="45719" rIns="45719"/>
          <a:lstStyle/>
          <a:p>
            <a:pPr/>
          </a:p>
        </p:txBody>
      </p:sp>
      <p:sp>
        <p:nvSpPr>
          <p:cNvPr id="413" name="Text 44"/>
          <p:cNvSpPr txBox="1"/>
          <p:nvPr/>
        </p:nvSpPr>
        <p:spPr>
          <a:xfrm>
            <a:off x="8366759" y="1481327"/>
            <a:ext cx="310896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F1F5F9"/>
                </a:solidFill>
              </a:defRPr>
            </a:lvl1pPr>
          </a:lstStyle>
          <a:p>
            <a:pPr/>
            <a:r>
              <a:t>Division stages</a:t>
            </a:r>
          </a:p>
        </p:txBody>
      </p:sp>
      <p:sp>
        <p:nvSpPr>
          <p:cNvPr id="414" name="Shape 45"/>
          <p:cNvSpPr/>
          <p:nvPr/>
        </p:nvSpPr>
        <p:spPr>
          <a:xfrm>
            <a:off x="8366759" y="1956816"/>
            <a:ext cx="274321" cy="274321"/>
          </a:xfrm>
          <a:prstGeom prst="roundRect">
            <a:avLst>
              <a:gd name="adj" fmla="val 16667"/>
            </a:avLst>
          </a:prstGeom>
          <a:solidFill>
            <a:srgbClr val="A5F3FC"/>
          </a:solidFill>
          <a:ln w="12700">
            <a:solidFill>
              <a:srgbClr val="A5F3FC"/>
            </a:solidFill>
          </a:ln>
        </p:spPr>
        <p:txBody>
          <a:bodyPr lIns="45719" rIns="45719"/>
          <a:lstStyle/>
          <a:p>
            <a:pPr/>
          </a:p>
        </p:txBody>
      </p:sp>
      <p:sp>
        <p:nvSpPr>
          <p:cNvPr id="415" name="Text 46"/>
          <p:cNvSpPr txBox="1"/>
          <p:nvPr/>
        </p:nvSpPr>
        <p:spPr>
          <a:xfrm>
            <a:off x="8778240" y="2000697"/>
            <a:ext cx="283464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1F5F9"/>
                </a:solidFill>
              </a:defRPr>
            </a:lvl1pPr>
          </a:lstStyle>
          <a:p>
            <a:pPr/>
            <a:r>
              <a:t>Level 0:  7 elements</a:t>
            </a:r>
          </a:p>
        </p:txBody>
      </p:sp>
      <p:sp>
        <p:nvSpPr>
          <p:cNvPr id="416" name="Shape 47"/>
          <p:cNvSpPr/>
          <p:nvPr/>
        </p:nvSpPr>
        <p:spPr>
          <a:xfrm>
            <a:off x="8366759" y="2368295"/>
            <a:ext cx="274321" cy="274321"/>
          </a:xfrm>
          <a:prstGeom prst="roundRect">
            <a:avLst>
              <a:gd name="adj" fmla="val 16667"/>
            </a:avLst>
          </a:prstGeom>
          <a:solidFill>
            <a:srgbClr val="67E8F9"/>
          </a:solidFill>
          <a:ln w="12700">
            <a:solidFill>
              <a:srgbClr val="67E8F9"/>
            </a:solidFill>
          </a:ln>
        </p:spPr>
        <p:txBody>
          <a:bodyPr lIns="45719" rIns="45719"/>
          <a:lstStyle/>
          <a:p>
            <a:pPr/>
          </a:p>
        </p:txBody>
      </p:sp>
      <p:sp>
        <p:nvSpPr>
          <p:cNvPr id="417" name="Text 48"/>
          <p:cNvSpPr txBox="1"/>
          <p:nvPr/>
        </p:nvSpPr>
        <p:spPr>
          <a:xfrm>
            <a:off x="8778240" y="2412177"/>
            <a:ext cx="283464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1F5F9"/>
                </a:solidFill>
              </a:defRPr>
            </a:lvl1pPr>
          </a:lstStyle>
          <a:p>
            <a:pPr/>
            <a:r>
              <a:t>Level 1:  4 + 3  (unequal)</a:t>
            </a:r>
          </a:p>
        </p:txBody>
      </p:sp>
      <p:sp>
        <p:nvSpPr>
          <p:cNvPr id="418" name="Shape 49"/>
          <p:cNvSpPr/>
          <p:nvPr/>
        </p:nvSpPr>
        <p:spPr>
          <a:xfrm>
            <a:off x="8366759" y="2779776"/>
            <a:ext cx="274321" cy="274321"/>
          </a:xfrm>
          <a:prstGeom prst="roundRect">
            <a:avLst>
              <a:gd name="adj" fmla="val 16667"/>
            </a:avLst>
          </a:prstGeom>
          <a:solidFill>
            <a:schemeClr val="accent1"/>
          </a:solidFill>
          <a:ln w="12700">
            <a:solidFill>
              <a:schemeClr val="accent1"/>
            </a:solidFill>
          </a:ln>
        </p:spPr>
        <p:txBody>
          <a:bodyPr lIns="45719" rIns="45719"/>
          <a:lstStyle/>
          <a:p>
            <a:pPr/>
          </a:p>
        </p:txBody>
      </p:sp>
      <p:sp>
        <p:nvSpPr>
          <p:cNvPr id="419" name="Text 50"/>
          <p:cNvSpPr txBox="1"/>
          <p:nvPr/>
        </p:nvSpPr>
        <p:spPr>
          <a:xfrm>
            <a:off x="8778240" y="2823657"/>
            <a:ext cx="283464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1F5F9"/>
                </a:solidFill>
              </a:defRPr>
            </a:lvl1pPr>
          </a:lstStyle>
          <a:p>
            <a:pPr/>
            <a:r>
              <a:t>Level 2:  2 + 2 + 2 + 1</a:t>
            </a:r>
          </a:p>
        </p:txBody>
      </p:sp>
      <p:sp>
        <p:nvSpPr>
          <p:cNvPr id="420" name="Shape 51"/>
          <p:cNvSpPr/>
          <p:nvPr/>
        </p:nvSpPr>
        <p:spPr>
          <a:xfrm>
            <a:off x="8366759" y="3191255"/>
            <a:ext cx="274321" cy="274321"/>
          </a:xfrm>
          <a:prstGeom prst="roundRect">
            <a:avLst>
              <a:gd name="adj" fmla="val 16667"/>
            </a:avLst>
          </a:prstGeom>
          <a:solidFill>
            <a:srgbClr val="06B6D4"/>
          </a:solidFill>
          <a:ln w="12700">
            <a:solidFill>
              <a:srgbClr val="06B6D4"/>
            </a:solidFill>
          </a:ln>
        </p:spPr>
        <p:txBody>
          <a:bodyPr lIns="45719" rIns="45719"/>
          <a:lstStyle/>
          <a:p>
            <a:pPr/>
          </a:p>
        </p:txBody>
      </p:sp>
      <p:sp>
        <p:nvSpPr>
          <p:cNvPr id="421" name="Text 52"/>
          <p:cNvSpPr txBox="1"/>
          <p:nvPr/>
        </p:nvSpPr>
        <p:spPr>
          <a:xfrm>
            <a:off x="8778240" y="3235137"/>
            <a:ext cx="283464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1F5F9"/>
                </a:solidFill>
              </a:defRPr>
            </a:lvl1pPr>
          </a:lstStyle>
          <a:p>
            <a:pPr/>
            <a:r>
              <a:t>Level 3:  seven 1-element arrays</a:t>
            </a:r>
          </a:p>
        </p:txBody>
      </p:sp>
      <p:sp>
        <p:nvSpPr>
          <p:cNvPr id="422" name="Shape 53"/>
          <p:cNvSpPr/>
          <p:nvPr/>
        </p:nvSpPr>
        <p:spPr>
          <a:xfrm>
            <a:off x="8138159" y="3840479"/>
            <a:ext cx="3566161" cy="1920241"/>
          </a:xfrm>
          <a:prstGeom prst="roundRect">
            <a:avLst>
              <a:gd name="adj" fmla="val 4762"/>
            </a:avLst>
          </a:prstGeom>
          <a:solidFill>
            <a:srgbClr val="14203F"/>
          </a:solidFill>
          <a:ln>
            <a:solidFill>
              <a:srgbClr val="2A3B6B"/>
            </a:solidFill>
          </a:ln>
        </p:spPr>
        <p:txBody>
          <a:bodyPr lIns="45719" rIns="45719"/>
          <a:lstStyle/>
          <a:p>
            <a:pPr/>
          </a:p>
        </p:txBody>
      </p:sp>
      <p:sp>
        <p:nvSpPr>
          <p:cNvPr id="423" name="Text 54"/>
          <p:cNvSpPr txBox="1"/>
          <p:nvPr/>
        </p:nvSpPr>
        <p:spPr>
          <a:xfrm>
            <a:off x="8366759" y="3950208"/>
            <a:ext cx="3108961" cy="219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chemeClr val="accent4"/>
                </a:solidFill>
              </a:defRPr>
            </a:lvl1pPr>
          </a:lstStyle>
          <a:p>
            <a:pPr/>
            <a:r>
              <a:t>Why an unequal split?</a:t>
            </a:r>
          </a:p>
        </p:txBody>
      </p:sp>
      <p:sp>
        <p:nvSpPr>
          <p:cNvPr id="424" name="Text 55"/>
          <p:cNvSpPr txBox="1"/>
          <p:nvPr/>
        </p:nvSpPr>
        <p:spPr>
          <a:xfrm>
            <a:off x="8366759" y="4343400"/>
            <a:ext cx="3154681" cy="8751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7 is odd, so the halves cannot be equal. With mid = floor((0 + 6) / 2) = 3, the left part takes indices 0–3 (4 elements) and the right part takes 4–6 (3 elements).</a:t>
            </a:r>
          </a:p>
        </p:txBody>
      </p:sp>
      <p:sp>
        <p:nvSpPr>
          <p:cNvPr id="425" name="Text 56"/>
          <p:cNvSpPr txBox="1"/>
          <p:nvPr/>
        </p:nvSpPr>
        <p:spPr>
          <a:xfrm>
            <a:off x="548639" y="5989320"/>
            <a:ext cx="1115568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chemeClr val="accent3"/>
                </a:solidFill>
              </a:defRPr>
            </a:pPr>
            <a:r>
              <a:t>Check:  </a:t>
            </a:r>
            <a:r>
              <a:rPr b="0">
                <a:solidFill>
                  <a:srgbClr val="F1F5F9"/>
                </a:solidFill>
              </a:rPr>
              <a:t>7 = 4 + 3 = 2 + 2 + 2 + 1 = seven single elements. Every number is accounted for.</a:t>
            </a:r>
          </a:p>
        </p:txBody>
      </p:sp>
      <p:sp>
        <p:nvSpPr>
          <p:cNvPr id="426"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Text 0"/>
          <p:cNvSpPr txBox="1"/>
          <p:nvPr>
            <p:ph type="title"/>
          </p:nvPr>
        </p:nvSpPr>
        <p:spPr>
          <a:xfrm>
            <a:off x="548639" y="320039"/>
            <a:ext cx="11064242" cy="731522"/>
          </a:xfrm>
          <a:prstGeom prst="rect">
            <a:avLst/>
          </a:prstGeom>
        </p:spPr>
        <p:txBody>
          <a:bodyPr lIns="0" tIns="0" rIns="0" bIns="0" anchor="ctr"/>
          <a:lstStyle/>
          <a:p>
            <a:pPr/>
            <a:r>
              <a:t>Step-by-Step Example — Merging the Array</a:t>
            </a:r>
          </a:p>
        </p:txBody>
      </p:sp>
      <p:grpSp>
        <p:nvGrpSpPr>
          <p:cNvPr id="433" name="Text 1"/>
          <p:cNvGrpSpPr/>
          <p:nvPr/>
        </p:nvGrpSpPr>
        <p:grpSpPr>
          <a:xfrm>
            <a:off x="2245995" y="1371599"/>
            <a:ext cx="457201" cy="502921"/>
            <a:chOff x="0" y="0"/>
            <a:chExt cx="457200" cy="502919"/>
          </a:xfrm>
        </p:grpSpPr>
        <p:sp>
          <p:nvSpPr>
            <p:cNvPr id="431"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32" name="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a:t>
              </a:r>
            </a:p>
          </p:txBody>
        </p:sp>
      </p:grpSp>
      <p:grpSp>
        <p:nvGrpSpPr>
          <p:cNvPr id="436" name="Text 2"/>
          <p:cNvGrpSpPr/>
          <p:nvPr/>
        </p:nvGrpSpPr>
        <p:grpSpPr>
          <a:xfrm>
            <a:off x="2703195" y="1371599"/>
            <a:ext cx="457201" cy="502921"/>
            <a:chOff x="0" y="0"/>
            <a:chExt cx="457200" cy="502919"/>
          </a:xfrm>
        </p:grpSpPr>
        <p:sp>
          <p:nvSpPr>
            <p:cNvPr id="434"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35" name="9"/>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9</a:t>
              </a:r>
            </a:p>
          </p:txBody>
        </p:sp>
      </p:grpSp>
      <p:grpSp>
        <p:nvGrpSpPr>
          <p:cNvPr id="439" name="Text 3"/>
          <p:cNvGrpSpPr/>
          <p:nvPr/>
        </p:nvGrpSpPr>
        <p:grpSpPr>
          <a:xfrm>
            <a:off x="3160395" y="1371599"/>
            <a:ext cx="457201" cy="502921"/>
            <a:chOff x="0" y="0"/>
            <a:chExt cx="457200" cy="502919"/>
          </a:xfrm>
        </p:grpSpPr>
        <p:sp>
          <p:nvSpPr>
            <p:cNvPr id="437"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38" name="10"/>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10</a:t>
              </a:r>
            </a:p>
          </p:txBody>
        </p:sp>
      </p:grpSp>
      <p:grpSp>
        <p:nvGrpSpPr>
          <p:cNvPr id="442" name="Text 4"/>
          <p:cNvGrpSpPr/>
          <p:nvPr/>
        </p:nvGrpSpPr>
        <p:grpSpPr>
          <a:xfrm>
            <a:off x="3617595" y="1371599"/>
            <a:ext cx="457201" cy="502921"/>
            <a:chOff x="0" y="0"/>
            <a:chExt cx="457200" cy="502919"/>
          </a:xfrm>
        </p:grpSpPr>
        <p:sp>
          <p:nvSpPr>
            <p:cNvPr id="440"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41" name="27"/>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27</a:t>
              </a:r>
            </a:p>
          </p:txBody>
        </p:sp>
      </p:grpSp>
      <p:grpSp>
        <p:nvGrpSpPr>
          <p:cNvPr id="445" name="Text 5"/>
          <p:cNvGrpSpPr/>
          <p:nvPr/>
        </p:nvGrpSpPr>
        <p:grpSpPr>
          <a:xfrm>
            <a:off x="4074795" y="1371599"/>
            <a:ext cx="457201" cy="502921"/>
            <a:chOff x="0" y="0"/>
            <a:chExt cx="457200" cy="502919"/>
          </a:xfrm>
        </p:grpSpPr>
        <p:sp>
          <p:nvSpPr>
            <p:cNvPr id="443"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44" name="38"/>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38</a:t>
              </a:r>
            </a:p>
          </p:txBody>
        </p:sp>
      </p:grpSp>
      <p:grpSp>
        <p:nvGrpSpPr>
          <p:cNvPr id="448" name="Text 6"/>
          <p:cNvGrpSpPr/>
          <p:nvPr/>
        </p:nvGrpSpPr>
        <p:grpSpPr>
          <a:xfrm>
            <a:off x="4531995" y="1371599"/>
            <a:ext cx="457201" cy="502921"/>
            <a:chOff x="0" y="0"/>
            <a:chExt cx="457200" cy="502919"/>
          </a:xfrm>
        </p:grpSpPr>
        <p:sp>
          <p:nvSpPr>
            <p:cNvPr id="446"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47" name="4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43</a:t>
              </a:r>
            </a:p>
          </p:txBody>
        </p:sp>
      </p:grpSp>
      <p:grpSp>
        <p:nvGrpSpPr>
          <p:cNvPr id="451" name="Text 7"/>
          <p:cNvGrpSpPr/>
          <p:nvPr/>
        </p:nvGrpSpPr>
        <p:grpSpPr>
          <a:xfrm>
            <a:off x="4989195" y="1371599"/>
            <a:ext cx="457201" cy="502921"/>
            <a:chOff x="0" y="0"/>
            <a:chExt cx="457200" cy="502919"/>
          </a:xfrm>
        </p:grpSpPr>
        <p:sp>
          <p:nvSpPr>
            <p:cNvPr id="449" name="Rectangle"/>
            <p:cNvSpPr/>
            <p:nvPr/>
          </p:nvSpPr>
          <p:spPr>
            <a:xfrm>
              <a:off x="0" y="-1"/>
              <a:ext cx="457200" cy="502921"/>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50" name="82"/>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82</a:t>
              </a:r>
            </a:p>
          </p:txBody>
        </p:sp>
      </p:grpSp>
      <p:grpSp>
        <p:nvGrpSpPr>
          <p:cNvPr id="454" name="Text 8"/>
          <p:cNvGrpSpPr/>
          <p:nvPr/>
        </p:nvGrpSpPr>
        <p:grpSpPr>
          <a:xfrm>
            <a:off x="1303019" y="2651760"/>
            <a:ext cx="457201" cy="502920"/>
            <a:chOff x="0" y="0"/>
            <a:chExt cx="457200" cy="502919"/>
          </a:xfrm>
        </p:grpSpPr>
        <p:sp>
          <p:nvSpPr>
            <p:cNvPr id="452"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53" name="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a:t>
              </a:r>
            </a:p>
          </p:txBody>
        </p:sp>
      </p:grpSp>
      <p:grpSp>
        <p:nvGrpSpPr>
          <p:cNvPr id="457" name="Text 9"/>
          <p:cNvGrpSpPr/>
          <p:nvPr/>
        </p:nvGrpSpPr>
        <p:grpSpPr>
          <a:xfrm>
            <a:off x="1760220" y="2651760"/>
            <a:ext cx="457201" cy="502920"/>
            <a:chOff x="0" y="0"/>
            <a:chExt cx="457200" cy="502919"/>
          </a:xfrm>
        </p:grpSpPr>
        <p:sp>
          <p:nvSpPr>
            <p:cNvPr id="455"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56" name="27"/>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27</a:t>
              </a:r>
            </a:p>
          </p:txBody>
        </p:sp>
      </p:grpSp>
      <p:grpSp>
        <p:nvGrpSpPr>
          <p:cNvPr id="460" name="Text 10"/>
          <p:cNvGrpSpPr/>
          <p:nvPr/>
        </p:nvGrpSpPr>
        <p:grpSpPr>
          <a:xfrm>
            <a:off x="2217420" y="2651760"/>
            <a:ext cx="457201" cy="502920"/>
            <a:chOff x="0" y="0"/>
            <a:chExt cx="457200" cy="502919"/>
          </a:xfrm>
        </p:grpSpPr>
        <p:sp>
          <p:nvSpPr>
            <p:cNvPr id="458"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59" name="38"/>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38</a:t>
              </a:r>
            </a:p>
          </p:txBody>
        </p:sp>
      </p:grpSp>
      <p:grpSp>
        <p:nvGrpSpPr>
          <p:cNvPr id="463" name="Text 11"/>
          <p:cNvGrpSpPr/>
          <p:nvPr/>
        </p:nvGrpSpPr>
        <p:grpSpPr>
          <a:xfrm>
            <a:off x="2674620" y="2651760"/>
            <a:ext cx="457201" cy="502920"/>
            <a:chOff x="0" y="0"/>
            <a:chExt cx="457200" cy="502919"/>
          </a:xfrm>
        </p:grpSpPr>
        <p:sp>
          <p:nvSpPr>
            <p:cNvPr id="461"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62" name="4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43</a:t>
              </a:r>
            </a:p>
          </p:txBody>
        </p:sp>
      </p:grpSp>
      <p:grpSp>
        <p:nvGrpSpPr>
          <p:cNvPr id="466" name="Text 12"/>
          <p:cNvGrpSpPr/>
          <p:nvPr/>
        </p:nvGrpSpPr>
        <p:grpSpPr>
          <a:xfrm>
            <a:off x="4789170" y="2651760"/>
            <a:ext cx="457201" cy="502920"/>
            <a:chOff x="0" y="0"/>
            <a:chExt cx="457200" cy="502919"/>
          </a:xfrm>
        </p:grpSpPr>
        <p:sp>
          <p:nvSpPr>
            <p:cNvPr id="464"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65" name="9"/>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9</a:t>
              </a:r>
            </a:p>
          </p:txBody>
        </p:sp>
      </p:grpSp>
      <p:grpSp>
        <p:nvGrpSpPr>
          <p:cNvPr id="469" name="Text 13"/>
          <p:cNvGrpSpPr/>
          <p:nvPr/>
        </p:nvGrpSpPr>
        <p:grpSpPr>
          <a:xfrm>
            <a:off x="5246370" y="2651760"/>
            <a:ext cx="457201" cy="502920"/>
            <a:chOff x="0" y="0"/>
            <a:chExt cx="457200" cy="502919"/>
          </a:xfrm>
        </p:grpSpPr>
        <p:sp>
          <p:nvSpPr>
            <p:cNvPr id="467"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68" name="10"/>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10</a:t>
              </a:r>
            </a:p>
          </p:txBody>
        </p:sp>
      </p:grpSp>
      <p:grpSp>
        <p:nvGrpSpPr>
          <p:cNvPr id="472" name="Text 14"/>
          <p:cNvGrpSpPr/>
          <p:nvPr/>
        </p:nvGrpSpPr>
        <p:grpSpPr>
          <a:xfrm>
            <a:off x="5703570" y="2651760"/>
            <a:ext cx="457201" cy="502920"/>
            <a:chOff x="0" y="0"/>
            <a:chExt cx="457200" cy="502919"/>
          </a:xfrm>
        </p:grpSpPr>
        <p:sp>
          <p:nvSpPr>
            <p:cNvPr id="470" name="Rectangle"/>
            <p:cNvSpPr/>
            <p:nvPr/>
          </p:nvSpPr>
          <p:spPr>
            <a:xfrm>
              <a:off x="0" y="-1"/>
              <a:ext cx="457200" cy="502921"/>
            </a:xfrm>
            <a:prstGeom prst="rect">
              <a:avLst/>
            </a:prstGeom>
            <a:solidFill>
              <a:srgbClr val="C4B5FD"/>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71" name="82"/>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82</a:t>
              </a:r>
            </a:p>
          </p:txBody>
        </p:sp>
      </p:grpSp>
      <p:grpSp>
        <p:nvGrpSpPr>
          <p:cNvPr id="475" name="Text 15"/>
          <p:cNvGrpSpPr/>
          <p:nvPr/>
        </p:nvGrpSpPr>
        <p:grpSpPr>
          <a:xfrm>
            <a:off x="891539" y="3931920"/>
            <a:ext cx="457201" cy="502920"/>
            <a:chOff x="0" y="0"/>
            <a:chExt cx="457200" cy="502919"/>
          </a:xfrm>
        </p:grpSpPr>
        <p:sp>
          <p:nvSpPr>
            <p:cNvPr id="473"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74" name="27"/>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27</a:t>
              </a:r>
            </a:p>
          </p:txBody>
        </p:sp>
      </p:grpSp>
      <p:grpSp>
        <p:nvGrpSpPr>
          <p:cNvPr id="478" name="Text 16"/>
          <p:cNvGrpSpPr/>
          <p:nvPr/>
        </p:nvGrpSpPr>
        <p:grpSpPr>
          <a:xfrm>
            <a:off x="1348739" y="3931920"/>
            <a:ext cx="457201" cy="502920"/>
            <a:chOff x="0" y="0"/>
            <a:chExt cx="457200" cy="502919"/>
          </a:xfrm>
        </p:grpSpPr>
        <p:sp>
          <p:nvSpPr>
            <p:cNvPr id="476"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77" name="38"/>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38</a:t>
              </a:r>
            </a:p>
          </p:txBody>
        </p:sp>
      </p:grpSp>
      <p:grpSp>
        <p:nvGrpSpPr>
          <p:cNvPr id="481" name="Text 17"/>
          <p:cNvGrpSpPr/>
          <p:nvPr/>
        </p:nvGrpSpPr>
        <p:grpSpPr>
          <a:xfrm>
            <a:off x="2628900" y="3931920"/>
            <a:ext cx="457200" cy="502920"/>
            <a:chOff x="0" y="0"/>
            <a:chExt cx="457200" cy="502919"/>
          </a:xfrm>
        </p:grpSpPr>
        <p:sp>
          <p:nvSpPr>
            <p:cNvPr id="479"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80" name="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a:t>
              </a:r>
            </a:p>
          </p:txBody>
        </p:sp>
      </p:grpSp>
      <p:grpSp>
        <p:nvGrpSpPr>
          <p:cNvPr id="484" name="Text 18"/>
          <p:cNvGrpSpPr/>
          <p:nvPr/>
        </p:nvGrpSpPr>
        <p:grpSpPr>
          <a:xfrm>
            <a:off x="3086100" y="3931920"/>
            <a:ext cx="457200" cy="502920"/>
            <a:chOff x="0" y="0"/>
            <a:chExt cx="457200" cy="502919"/>
          </a:xfrm>
        </p:grpSpPr>
        <p:sp>
          <p:nvSpPr>
            <p:cNvPr id="482"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83" name="4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43</a:t>
              </a:r>
            </a:p>
          </p:txBody>
        </p:sp>
      </p:grpSp>
      <p:grpSp>
        <p:nvGrpSpPr>
          <p:cNvPr id="487" name="Text 19"/>
          <p:cNvGrpSpPr/>
          <p:nvPr/>
        </p:nvGrpSpPr>
        <p:grpSpPr>
          <a:xfrm>
            <a:off x="4366259" y="3931920"/>
            <a:ext cx="457201" cy="502920"/>
            <a:chOff x="0" y="0"/>
            <a:chExt cx="457200" cy="502919"/>
          </a:xfrm>
        </p:grpSpPr>
        <p:sp>
          <p:nvSpPr>
            <p:cNvPr id="485"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86" name="9"/>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9</a:t>
              </a:r>
            </a:p>
          </p:txBody>
        </p:sp>
      </p:grpSp>
      <p:grpSp>
        <p:nvGrpSpPr>
          <p:cNvPr id="490" name="Text 20"/>
          <p:cNvGrpSpPr/>
          <p:nvPr/>
        </p:nvGrpSpPr>
        <p:grpSpPr>
          <a:xfrm>
            <a:off x="4823459" y="3931920"/>
            <a:ext cx="457201" cy="502920"/>
            <a:chOff x="0" y="0"/>
            <a:chExt cx="457200" cy="502919"/>
          </a:xfrm>
        </p:grpSpPr>
        <p:sp>
          <p:nvSpPr>
            <p:cNvPr id="488"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89" name="82"/>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82</a:t>
              </a:r>
            </a:p>
          </p:txBody>
        </p:sp>
      </p:grpSp>
      <p:grpSp>
        <p:nvGrpSpPr>
          <p:cNvPr id="493" name="Text 21"/>
          <p:cNvGrpSpPr/>
          <p:nvPr/>
        </p:nvGrpSpPr>
        <p:grpSpPr>
          <a:xfrm>
            <a:off x="5897879" y="3931920"/>
            <a:ext cx="457201" cy="502920"/>
            <a:chOff x="0" y="0"/>
            <a:chExt cx="457200" cy="502919"/>
          </a:xfrm>
        </p:grpSpPr>
        <p:sp>
          <p:nvSpPr>
            <p:cNvPr id="491" name="Rectangle"/>
            <p:cNvSpPr/>
            <p:nvPr/>
          </p:nvSpPr>
          <p:spPr>
            <a:xfrm>
              <a:off x="0" y="-1"/>
              <a:ext cx="457200" cy="502921"/>
            </a:xfrm>
            <a:prstGeom prst="rect">
              <a:avLst/>
            </a:prstGeom>
            <a:solidFill>
              <a:srgbClr val="DDD6FE"/>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92" name="10"/>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10</a:t>
              </a:r>
            </a:p>
          </p:txBody>
        </p:sp>
      </p:grpSp>
      <p:grpSp>
        <p:nvGrpSpPr>
          <p:cNvPr id="496" name="Text 22"/>
          <p:cNvGrpSpPr/>
          <p:nvPr/>
        </p:nvGrpSpPr>
        <p:grpSpPr>
          <a:xfrm>
            <a:off x="685800" y="5212079"/>
            <a:ext cx="457200" cy="502920"/>
            <a:chOff x="0" y="0"/>
            <a:chExt cx="457200" cy="502919"/>
          </a:xfrm>
        </p:grpSpPr>
        <p:sp>
          <p:nvSpPr>
            <p:cNvPr id="494"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95" name="38"/>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38</a:t>
              </a:r>
            </a:p>
          </p:txBody>
        </p:sp>
      </p:grpSp>
      <p:grpSp>
        <p:nvGrpSpPr>
          <p:cNvPr id="499" name="Text 23"/>
          <p:cNvGrpSpPr/>
          <p:nvPr/>
        </p:nvGrpSpPr>
        <p:grpSpPr>
          <a:xfrm>
            <a:off x="1554480" y="5212079"/>
            <a:ext cx="457201" cy="502920"/>
            <a:chOff x="0" y="0"/>
            <a:chExt cx="457200" cy="502919"/>
          </a:xfrm>
        </p:grpSpPr>
        <p:sp>
          <p:nvSpPr>
            <p:cNvPr id="497"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498" name="27"/>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27</a:t>
              </a:r>
            </a:p>
          </p:txBody>
        </p:sp>
      </p:grpSp>
      <p:grpSp>
        <p:nvGrpSpPr>
          <p:cNvPr id="502" name="Text 24"/>
          <p:cNvGrpSpPr/>
          <p:nvPr/>
        </p:nvGrpSpPr>
        <p:grpSpPr>
          <a:xfrm>
            <a:off x="2423160" y="5212079"/>
            <a:ext cx="457201" cy="502920"/>
            <a:chOff x="0" y="0"/>
            <a:chExt cx="457200" cy="502919"/>
          </a:xfrm>
        </p:grpSpPr>
        <p:sp>
          <p:nvSpPr>
            <p:cNvPr id="500"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501" name="4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43</a:t>
              </a:r>
            </a:p>
          </p:txBody>
        </p:sp>
      </p:grpSp>
      <p:grpSp>
        <p:nvGrpSpPr>
          <p:cNvPr id="505" name="Text 25"/>
          <p:cNvGrpSpPr/>
          <p:nvPr/>
        </p:nvGrpSpPr>
        <p:grpSpPr>
          <a:xfrm>
            <a:off x="3291840" y="5212079"/>
            <a:ext cx="457201" cy="502920"/>
            <a:chOff x="0" y="0"/>
            <a:chExt cx="457200" cy="502919"/>
          </a:xfrm>
        </p:grpSpPr>
        <p:sp>
          <p:nvSpPr>
            <p:cNvPr id="503"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504" name="3"/>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3</a:t>
              </a:r>
            </a:p>
          </p:txBody>
        </p:sp>
      </p:grpSp>
      <p:grpSp>
        <p:nvGrpSpPr>
          <p:cNvPr id="508" name="Text 26"/>
          <p:cNvGrpSpPr/>
          <p:nvPr/>
        </p:nvGrpSpPr>
        <p:grpSpPr>
          <a:xfrm>
            <a:off x="4160520" y="5212079"/>
            <a:ext cx="457201" cy="502920"/>
            <a:chOff x="0" y="0"/>
            <a:chExt cx="457200" cy="502919"/>
          </a:xfrm>
        </p:grpSpPr>
        <p:sp>
          <p:nvSpPr>
            <p:cNvPr id="506"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507" name="9"/>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9</a:t>
              </a:r>
            </a:p>
          </p:txBody>
        </p:sp>
      </p:grpSp>
      <p:grpSp>
        <p:nvGrpSpPr>
          <p:cNvPr id="511" name="Text 27"/>
          <p:cNvGrpSpPr/>
          <p:nvPr/>
        </p:nvGrpSpPr>
        <p:grpSpPr>
          <a:xfrm>
            <a:off x="5029200" y="5212079"/>
            <a:ext cx="457200" cy="502920"/>
            <a:chOff x="0" y="0"/>
            <a:chExt cx="457200" cy="502919"/>
          </a:xfrm>
        </p:grpSpPr>
        <p:sp>
          <p:nvSpPr>
            <p:cNvPr id="509"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510" name="82"/>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82</a:t>
              </a:r>
            </a:p>
          </p:txBody>
        </p:sp>
      </p:grpSp>
      <p:grpSp>
        <p:nvGrpSpPr>
          <p:cNvPr id="514" name="Text 28"/>
          <p:cNvGrpSpPr/>
          <p:nvPr/>
        </p:nvGrpSpPr>
        <p:grpSpPr>
          <a:xfrm>
            <a:off x="5897879" y="5212079"/>
            <a:ext cx="457201" cy="502920"/>
            <a:chOff x="0" y="0"/>
            <a:chExt cx="457200" cy="502919"/>
          </a:xfrm>
        </p:grpSpPr>
        <p:sp>
          <p:nvSpPr>
            <p:cNvPr id="512" name="Rectangle"/>
            <p:cNvSpPr/>
            <p:nvPr/>
          </p:nvSpPr>
          <p:spPr>
            <a:xfrm>
              <a:off x="0" y="-1"/>
              <a:ext cx="457200" cy="502921"/>
            </a:xfrm>
            <a:prstGeom prst="rect">
              <a:avLst/>
            </a:prstGeom>
            <a:solidFill>
              <a:srgbClr val="06B6D4"/>
            </a:solidFill>
            <a:ln w="19050" cap="flat">
              <a:solidFill>
                <a:srgbClr val="0B1226"/>
              </a:solidFill>
              <a:prstDash val="solid"/>
              <a:round/>
            </a:ln>
            <a:effectLst/>
          </p:spPr>
          <p:txBody>
            <a:bodyPr wrap="square" lIns="45719" tIns="45719" rIns="45719" bIns="45719" numCol="1" anchor="ctr">
              <a:noAutofit/>
            </a:bodyPr>
            <a:lstStyle/>
            <a:p>
              <a:pPr algn="ctr">
                <a:defRPr sz="1500"/>
              </a:pPr>
            </a:p>
          </p:txBody>
        </p:sp>
        <p:sp>
          <p:nvSpPr>
            <p:cNvPr id="513" name="10"/>
            <p:cNvSpPr txBox="1"/>
            <p:nvPr/>
          </p:nvSpPr>
          <p:spPr>
            <a:xfrm>
              <a:off x="9525" y="158181"/>
              <a:ext cx="438150" cy="1865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lvl1pPr>
            </a:lstStyle>
            <a:p>
              <a:pPr/>
              <a:r>
                <a:t>10</a:t>
              </a:r>
            </a:p>
          </p:txBody>
        </p:sp>
      </p:grpSp>
      <p:sp>
        <p:nvSpPr>
          <p:cNvPr id="515" name="Shape 29"/>
          <p:cNvSpPr/>
          <p:nvPr/>
        </p:nvSpPr>
        <p:spPr>
          <a:xfrm flipV="1">
            <a:off x="914400" y="4480559"/>
            <a:ext cx="434341" cy="685801"/>
          </a:xfrm>
          <a:prstGeom prst="line">
            <a:avLst/>
          </a:prstGeom>
          <a:ln w="25400">
            <a:solidFill>
              <a:schemeClr val="accent2"/>
            </a:solidFill>
            <a:tailEnd type="triangle"/>
          </a:ln>
        </p:spPr>
        <p:txBody>
          <a:bodyPr lIns="45719" rIns="45719"/>
          <a:lstStyle/>
          <a:p>
            <a:pPr/>
          </a:p>
        </p:txBody>
      </p:sp>
      <p:sp>
        <p:nvSpPr>
          <p:cNvPr id="516" name="Shape 30"/>
          <p:cNvSpPr/>
          <p:nvPr/>
        </p:nvSpPr>
        <p:spPr>
          <a:xfrm flipH="1" flipV="1">
            <a:off x="1348739" y="4480559"/>
            <a:ext cx="434341" cy="685801"/>
          </a:xfrm>
          <a:prstGeom prst="line">
            <a:avLst/>
          </a:prstGeom>
          <a:ln w="25400">
            <a:solidFill>
              <a:schemeClr val="accent2"/>
            </a:solidFill>
            <a:tailEnd type="triangle"/>
          </a:ln>
        </p:spPr>
        <p:txBody>
          <a:bodyPr lIns="45719" rIns="45719"/>
          <a:lstStyle/>
          <a:p>
            <a:pPr/>
          </a:p>
        </p:txBody>
      </p:sp>
      <p:sp>
        <p:nvSpPr>
          <p:cNvPr id="517" name="Shape 31"/>
          <p:cNvSpPr/>
          <p:nvPr/>
        </p:nvSpPr>
        <p:spPr>
          <a:xfrm flipV="1">
            <a:off x="2651759" y="4480559"/>
            <a:ext cx="434341" cy="685801"/>
          </a:xfrm>
          <a:prstGeom prst="line">
            <a:avLst/>
          </a:prstGeom>
          <a:ln w="25400">
            <a:solidFill>
              <a:schemeClr val="accent2"/>
            </a:solidFill>
            <a:tailEnd type="triangle"/>
          </a:ln>
        </p:spPr>
        <p:txBody>
          <a:bodyPr lIns="45719" rIns="45719"/>
          <a:lstStyle/>
          <a:p>
            <a:pPr/>
          </a:p>
        </p:txBody>
      </p:sp>
      <p:sp>
        <p:nvSpPr>
          <p:cNvPr id="518" name="Shape 32"/>
          <p:cNvSpPr/>
          <p:nvPr/>
        </p:nvSpPr>
        <p:spPr>
          <a:xfrm flipH="1" flipV="1">
            <a:off x="3086099" y="4480559"/>
            <a:ext cx="434341" cy="685801"/>
          </a:xfrm>
          <a:prstGeom prst="line">
            <a:avLst/>
          </a:prstGeom>
          <a:ln w="25400">
            <a:solidFill>
              <a:schemeClr val="accent2"/>
            </a:solidFill>
            <a:tailEnd type="triangle"/>
          </a:ln>
        </p:spPr>
        <p:txBody>
          <a:bodyPr lIns="45719" rIns="45719"/>
          <a:lstStyle/>
          <a:p>
            <a:pPr/>
          </a:p>
        </p:txBody>
      </p:sp>
      <p:sp>
        <p:nvSpPr>
          <p:cNvPr id="519" name="Shape 33"/>
          <p:cNvSpPr/>
          <p:nvPr/>
        </p:nvSpPr>
        <p:spPr>
          <a:xfrm flipV="1">
            <a:off x="4389120" y="4480559"/>
            <a:ext cx="434341" cy="685801"/>
          </a:xfrm>
          <a:prstGeom prst="line">
            <a:avLst/>
          </a:prstGeom>
          <a:ln w="25400">
            <a:solidFill>
              <a:schemeClr val="accent2"/>
            </a:solidFill>
            <a:tailEnd type="triangle"/>
          </a:ln>
        </p:spPr>
        <p:txBody>
          <a:bodyPr lIns="45719" rIns="45719"/>
          <a:lstStyle/>
          <a:p>
            <a:pPr/>
          </a:p>
        </p:txBody>
      </p:sp>
      <p:sp>
        <p:nvSpPr>
          <p:cNvPr id="520" name="Shape 34"/>
          <p:cNvSpPr/>
          <p:nvPr/>
        </p:nvSpPr>
        <p:spPr>
          <a:xfrm flipH="1" flipV="1">
            <a:off x="4823459" y="4480559"/>
            <a:ext cx="434341" cy="685801"/>
          </a:xfrm>
          <a:prstGeom prst="line">
            <a:avLst/>
          </a:prstGeom>
          <a:ln w="25400">
            <a:solidFill>
              <a:schemeClr val="accent2"/>
            </a:solidFill>
            <a:tailEnd type="triangle"/>
          </a:ln>
        </p:spPr>
        <p:txBody>
          <a:bodyPr lIns="45719" rIns="45719"/>
          <a:lstStyle/>
          <a:p>
            <a:pPr/>
          </a:p>
        </p:txBody>
      </p:sp>
      <p:sp>
        <p:nvSpPr>
          <p:cNvPr id="521" name="Shape 35"/>
          <p:cNvSpPr/>
          <p:nvPr/>
        </p:nvSpPr>
        <p:spPr>
          <a:xfrm flipV="1">
            <a:off x="6126479" y="4480559"/>
            <a:ext cx="1" cy="685801"/>
          </a:xfrm>
          <a:prstGeom prst="line">
            <a:avLst/>
          </a:prstGeom>
          <a:ln w="25400">
            <a:solidFill>
              <a:schemeClr val="accent2"/>
            </a:solidFill>
            <a:tailEnd type="triangle"/>
          </a:ln>
        </p:spPr>
        <p:txBody>
          <a:bodyPr lIns="45719" rIns="45719"/>
          <a:lstStyle/>
          <a:p>
            <a:pPr/>
          </a:p>
        </p:txBody>
      </p:sp>
      <p:sp>
        <p:nvSpPr>
          <p:cNvPr id="522" name="Shape 36"/>
          <p:cNvSpPr/>
          <p:nvPr/>
        </p:nvSpPr>
        <p:spPr>
          <a:xfrm flipV="1">
            <a:off x="1348739" y="3200399"/>
            <a:ext cx="868681" cy="685802"/>
          </a:xfrm>
          <a:prstGeom prst="line">
            <a:avLst/>
          </a:prstGeom>
          <a:ln w="25400">
            <a:solidFill>
              <a:schemeClr val="accent2"/>
            </a:solidFill>
            <a:tailEnd type="triangle"/>
          </a:ln>
        </p:spPr>
        <p:txBody>
          <a:bodyPr lIns="45719" rIns="45719"/>
          <a:lstStyle/>
          <a:p>
            <a:pPr/>
          </a:p>
        </p:txBody>
      </p:sp>
      <p:sp>
        <p:nvSpPr>
          <p:cNvPr id="523" name="Shape 37"/>
          <p:cNvSpPr/>
          <p:nvPr/>
        </p:nvSpPr>
        <p:spPr>
          <a:xfrm flipH="1" flipV="1">
            <a:off x="2217420" y="3200400"/>
            <a:ext cx="868681" cy="685800"/>
          </a:xfrm>
          <a:prstGeom prst="line">
            <a:avLst/>
          </a:prstGeom>
          <a:ln w="25400">
            <a:solidFill>
              <a:schemeClr val="accent2"/>
            </a:solidFill>
            <a:tailEnd type="triangle"/>
          </a:ln>
        </p:spPr>
        <p:txBody>
          <a:bodyPr lIns="45719" rIns="45719"/>
          <a:lstStyle/>
          <a:p>
            <a:pPr/>
          </a:p>
        </p:txBody>
      </p:sp>
      <p:sp>
        <p:nvSpPr>
          <p:cNvPr id="524" name="Shape 38"/>
          <p:cNvSpPr/>
          <p:nvPr/>
        </p:nvSpPr>
        <p:spPr>
          <a:xfrm flipV="1">
            <a:off x="4823459" y="3200399"/>
            <a:ext cx="651511" cy="685802"/>
          </a:xfrm>
          <a:prstGeom prst="line">
            <a:avLst/>
          </a:prstGeom>
          <a:ln w="25400">
            <a:solidFill>
              <a:schemeClr val="accent2"/>
            </a:solidFill>
            <a:tailEnd type="triangle"/>
          </a:ln>
        </p:spPr>
        <p:txBody>
          <a:bodyPr lIns="45719" rIns="45719"/>
          <a:lstStyle/>
          <a:p>
            <a:pPr/>
          </a:p>
        </p:txBody>
      </p:sp>
      <p:sp>
        <p:nvSpPr>
          <p:cNvPr id="525" name="Shape 39"/>
          <p:cNvSpPr/>
          <p:nvPr/>
        </p:nvSpPr>
        <p:spPr>
          <a:xfrm flipH="1" flipV="1">
            <a:off x="5474970" y="3200400"/>
            <a:ext cx="651511" cy="685800"/>
          </a:xfrm>
          <a:prstGeom prst="line">
            <a:avLst/>
          </a:prstGeom>
          <a:ln w="25400">
            <a:solidFill>
              <a:schemeClr val="accent2"/>
            </a:solidFill>
            <a:tailEnd type="triangle"/>
          </a:ln>
        </p:spPr>
        <p:txBody>
          <a:bodyPr lIns="45719" rIns="45719"/>
          <a:lstStyle/>
          <a:p>
            <a:pPr/>
          </a:p>
        </p:txBody>
      </p:sp>
      <p:sp>
        <p:nvSpPr>
          <p:cNvPr id="526" name="Shape 40"/>
          <p:cNvSpPr/>
          <p:nvPr/>
        </p:nvSpPr>
        <p:spPr>
          <a:xfrm flipV="1">
            <a:off x="2217420" y="1920239"/>
            <a:ext cx="1628776" cy="685801"/>
          </a:xfrm>
          <a:prstGeom prst="line">
            <a:avLst/>
          </a:prstGeom>
          <a:ln w="25400">
            <a:solidFill>
              <a:schemeClr val="accent2"/>
            </a:solidFill>
            <a:tailEnd type="triangle"/>
          </a:ln>
        </p:spPr>
        <p:txBody>
          <a:bodyPr lIns="45719" rIns="45719"/>
          <a:lstStyle/>
          <a:p>
            <a:pPr/>
          </a:p>
        </p:txBody>
      </p:sp>
      <p:sp>
        <p:nvSpPr>
          <p:cNvPr id="527" name="Shape 41"/>
          <p:cNvSpPr/>
          <p:nvPr/>
        </p:nvSpPr>
        <p:spPr>
          <a:xfrm flipH="1" flipV="1">
            <a:off x="3846194" y="1920240"/>
            <a:ext cx="1628776" cy="685800"/>
          </a:xfrm>
          <a:prstGeom prst="line">
            <a:avLst/>
          </a:prstGeom>
          <a:ln w="25400">
            <a:solidFill>
              <a:schemeClr val="accent2"/>
            </a:solidFill>
            <a:tailEnd type="triangle"/>
          </a:ln>
        </p:spPr>
        <p:txBody>
          <a:bodyPr lIns="45719" rIns="45719"/>
          <a:lstStyle/>
          <a:p>
            <a:pPr/>
          </a:p>
        </p:txBody>
      </p:sp>
      <p:sp>
        <p:nvSpPr>
          <p:cNvPr id="528" name="Shape 42"/>
          <p:cNvSpPr/>
          <p:nvPr/>
        </p:nvSpPr>
        <p:spPr>
          <a:xfrm>
            <a:off x="548640" y="6016752"/>
            <a:ext cx="201169" cy="201169"/>
          </a:xfrm>
          <a:prstGeom prst="roundRect">
            <a:avLst>
              <a:gd name="adj" fmla="val 18182"/>
            </a:avLst>
          </a:prstGeom>
          <a:solidFill>
            <a:srgbClr val="06B6D4"/>
          </a:solidFill>
          <a:ln w="12700">
            <a:solidFill>
              <a:srgbClr val="06B6D4"/>
            </a:solidFill>
          </a:ln>
        </p:spPr>
        <p:txBody>
          <a:bodyPr lIns="45719" rIns="45719"/>
          <a:lstStyle/>
          <a:p>
            <a:pPr/>
          </a:p>
        </p:txBody>
      </p:sp>
      <p:sp>
        <p:nvSpPr>
          <p:cNvPr id="529" name="Text 43"/>
          <p:cNvSpPr txBox="1"/>
          <p:nvPr/>
        </p:nvSpPr>
        <p:spPr>
          <a:xfrm>
            <a:off x="822960" y="6033954"/>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A9B8D4"/>
                </a:solidFill>
              </a:defRPr>
            </a:lvl1pPr>
          </a:lstStyle>
          <a:p>
            <a:pPr/>
            <a:r>
              <a:t>split leaves</a:t>
            </a:r>
          </a:p>
        </p:txBody>
      </p:sp>
      <p:sp>
        <p:nvSpPr>
          <p:cNvPr id="530" name="Shape 44"/>
          <p:cNvSpPr/>
          <p:nvPr/>
        </p:nvSpPr>
        <p:spPr>
          <a:xfrm>
            <a:off x="2057400" y="6016752"/>
            <a:ext cx="201169" cy="201169"/>
          </a:xfrm>
          <a:prstGeom prst="roundRect">
            <a:avLst>
              <a:gd name="adj" fmla="val 18182"/>
            </a:avLst>
          </a:prstGeom>
          <a:solidFill>
            <a:srgbClr val="DDD6FE"/>
          </a:solidFill>
          <a:ln w="12700">
            <a:solidFill>
              <a:srgbClr val="DDD6FE"/>
            </a:solidFill>
          </a:ln>
        </p:spPr>
        <p:txBody>
          <a:bodyPr lIns="45719" rIns="45719"/>
          <a:lstStyle/>
          <a:p>
            <a:pPr/>
          </a:p>
        </p:txBody>
      </p:sp>
      <p:sp>
        <p:nvSpPr>
          <p:cNvPr id="531" name="Text 45"/>
          <p:cNvSpPr txBox="1"/>
          <p:nvPr/>
        </p:nvSpPr>
        <p:spPr>
          <a:xfrm>
            <a:off x="2331720" y="6033954"/>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A9B8D4"/>
                </a:solidFill>
              </a:defRPr>
            </a:lvl1pPr>
          </a:lstStyle>
          <a:p>
            <a:pPr/>
            <a:r>
              <a:t>merged pairs</a:t>
            </a:r>
          </a:p>
        </p:txBody>
      </p:sp>
      <p:sp>
        <p:nvSpPr>
          <p:cNvPr id="532" name="Shape 46"/>
          <p:cNvSpPr/>
          <p:nvPr/>
        </p:nvSpPr>
        <p:spPr>
          <a:xfrm>
            <a:off x="3566159" y="6016752"/>
            <a:ext cx="201169" cy="201169"/>
          </a:xfrm>
          <a:prstGeom prst="roundRect">
            <a:avLst>
              <a:gd name="adj" fmla="val 18182"/>
            </a:avLst>
          </a:prstGeom>
          <a:solidFill>
            <a:srgbClr val="C4B5FD"/>
          </a:solidFill>
          <a:ln w="12700">
            <a:solidFill>
              <a:srgbClr val="C4B5FD"/>
            </a:solidFill>
          </a:ln>
        </p:spPr>
        <p:txBody>
          <a:bodyPr lIns="45719" rIns="45719"/>
          <a:lstStyle/>
          <a:p>
            <a:pPr/>
          </a:p>
        </p:txBody>
      </p:sp>
      <p:sp>
        <p:nvSpPr>
          <p:cNvPr id="533" name="Text 47"/>
          <p:cNvSpPr txBox="1"/>
          <p:nvPr/>
        </p:nvSpPr>
        <p:spPr>
          <a:xfrm>
            <a:off x="3840479" y="6033954"/>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A9B8D4"/>
                </a:solidFill>
              </a:defRPr>
            </a:lvl1pPr>
          </a:lstStyle>
          <a:p>
            <a:pPr/>
            <a:r>
              <a:t>merged fours</a:t>
            </a:r>
          </a:p>
        </p:txBody>
      </p:sp>
      <p:sp>
        <p:nvSpPr>
          <p:cNvPr id="534" name="Shape 48"/>
          <p:cNvSpPr/>
          <p:nvPr/>
        </p:nvSpPr>
        <p:spPr>
          <a:xfrm>
            <a:off x="5074920" y="6016752"/>
            <a:ext cx="201169" cy="201169"/>
          </a:xfrm>
          <a:prstGeom prst="roundRect">
            <a:avLst>
              <a:gd name="adj" fmla="val 18182"/>
            </a:avLst>
          </a:prstGeom>
          <a:solidFill>
            <a:schemeClr val="accent3"/>
          </a:solidFill>
          <a:ln w="12700">
            <a:solidFill>
              <a:schemeClr val="accent3"/>
            </a:solidFill>
          </a:ln>
        </p:spPr>
        <p:txBody>
          <a:bodyPr lIns="45719" rIns="45719"/>
          <a:lstStyle/>
          <a:p>
            <a:pPr/>
          </a:p>
        </p:txBody>
      </p:sp>
      <p:sp>
        <p:nvSpPr>
          <p:cNvPr id="535" name="Text 49"/>
          <p:cNvSpPr txBox="1"/>
          <p:nvPr/>
        </p:nvSpPr>
        <p:spPr>
          <a:xfrm>
            <a:off x="5349240" y="6033954"/>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A9B8D4"/>
                </a:solidFill>
              </a:defRPr>
            </a:lvl1pPr>
          </a:lstStyle>
          <a:p>
            <a:pPr/>
            <a:r>
              <a:t>sorted</a:t>
            </a:r>
          </a:p>
        </p:txBody>
      </p:sp>
      <p:sp>
        <p:nvSpPr>
          <p:cNvPr id="536" name="Text 50"/>
          <p:cNvSpPr txBox="1"/>
          <p:nvPr/>
        </p:nvSpPr>
        <p:spPr>
          <a:xfrm>
            <a:off x="6812280" y="1280160"/>
            <a:ext cx="493776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chemeClr val="accent4"/>
                </a:solidFill>
              </a:defRPr>
            </a:pPr>
            <a:r>
              <a:t>Merge rule: </a:t>
            </a:r>
            <a:r>
              <a:rPr b="0">
                <a:solidFill>
                  <a:srgbClr val="F1F5F9"/>
                </a:solidFill>
              </a:rPr>
              <a:t>compare the two front elements, take the smaller, repeat. When one list is empty, append the rest of the other.</a:t>
            </a:r>
          </a:p>
        </p:txBody>
      </p:sp>
      <p:sp>
        <p:nvSpPr>
          <p:cNvPr id="537" name="Text 51"/>
          <p:cNvSpPr txBox="1"/>
          <p:nvPr/>
        </p:nvSpPr>
        <p:spPr>
          <a:xfrm>
            <a:off x="6812280" y="2103120"/>
            <a:ext cx="493776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chemeClr val="accent2"/>
                </a:solidFill>
              </a:defRPr>
            </a:lvl1pPr>
          </a:lstStyle>
          <a:p>
            <a:pPr/>
            <a:r>
              <a:t>Final merge:  [3, 27, 38, 43]  +  [9, 10, 82]</a:t>
            </a:r>
          </a:p>
        </p:txBody>
      </p:sp>
      <p:graphicFrame>
        <p:nvGraphicFramePr>
          <p:cNvPr id="538" name="Table 0"/>
          <p:cNvGraphicFramePr/>
          <p:nvPr/>
        </p:nvGraphicFramePr>
        <p:xfrm>
          <a:off x="6812280" y="2423160"/>
          <a:ext cx="4937761" cy="263347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2919"/>
                <a:gridCol w="1143000"/>
                <a:gridCol w="1005839"/>
                <a:gridCol w="2286000"/>
              </a:tblGrid>
              <a:tr h="329184">
                <a:tc>
                  <a:txBody>
                    <a:bodyPr/>
                    <a:lstStyle/>
                    <a:p>
                      <a:pPr algn="ctr">
                        <a:defRPr sz="1800">
                          <a:solidFill>
                            <a:srgbClr val="000000"/>
                          </a:solidFill>
                        </a:defRPr>
                      </a:pPr>
                      <a:r>
                        <a:rPr b="1" sz="1400">
                          <a:solidFill>
                            <a:schemeClr val="accent1"/>
                          </a:solidFill>
                        </a:rPr>
                        <a:t>Step</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400">
                          <a:solidFill>
                            <a:schemeClr val="accent1"/>
                          </a:solidFill>
                        </a:rPr>
                        <a:t>Compare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400">
                          <a:solidFill>
                            <a:schemeClr val="accent1"/>
                          </a:solidFill>
                        </a:rPr>
                        <a:t>Take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400">
                          <a:solidFill>
                            <a:schemeClr val="accent1"/>
                          </a:solidFill>
                        </a:rPr>
                        <a:t>Output so far</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r>
              <a:tr h="329184">
                <a:tc>
                  <a:txBody>
                    <a:bodyPr/>
                    <a:lstStyle/>
                    <a:p>
                      <a:pPr algn="ctr">
                        <a:defRPr sz="1800">
                          <a:solidFill>
                            <a:srgbClr val="000000"/>
                          </a:solidFill>
                        </a:defRPr>
                      </a:pPr>
                      <a:r>
                        <a:rPr sz="1400">
                          <a:solidFill>
                            <a:srgbClr val="F1F5F9"/>
                          </a:solidFill>
                        </a:rPr>
                        <a:t>1</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3 vs 9</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3</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2</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27 vs 9</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9</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 9]</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3</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27 vs 10</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10</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 9, 10]</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4</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27 vs 82</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27</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 9, 10, 27]</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5</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38 vs 82</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38</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 9, 10, 27, 38]</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6</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43 vs 82</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43</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sz="1400">
                          <a:solidFill>
                            <a:srgbClr val="F1F5F9"/>
                          </a:solidFill>
                        </a:rPr>
                        <a:t>[3, 9, 10, 27, 38, 43]</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29184">
                <a:tc>
                  <a:txBody>
                    <a:bodyPr/>
                    <a:lstStyle/>
                    <a:p>
                      <a:pPr algn="ctr">
                        <a:defRPr sz="1800">
                          <a:solidFill>
                            <a:srgbClr val="000000"/>
                          </a:solidFill>
                        </a:defRPr>
                      </a:pPr>
                      <a:r>
                        <a:rPr sz="1400">
                          <a:solidFill>
                            <a:srgbClr val="F1F5F9"/>
                          </a:solidFill>
                        </a:rPr>
                        <a:t>7</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400">
                          <a:solidFill>
                            <a:srgbClr val="F1F5F9"/>
                          </a:solidFill>
                        </a:rPr>
                        <a:t>left is empty</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4"/>
                          </a:solidFill>
                        </a:rPr>
                        <a:t>82 (rest)</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l">
                        <a:defRPr sz="1800">
                          <a:solidFill>
                            <a:srgbClr val="000000"/>
                          </a:solidFill>
                        </a:defRPr>
                      </a:pPr>
                      <a:r>
                        <a:rPr b="1" sz="1400">
                          <a:solidFill>
                            <a:schemeClr val="accent3"/>
                          </a:solidFill>
                        </a:rPr>
                        <a:t>[3, 9, 10, 27, 38, 43, 82]</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bl>
          </a:graphicData>
        </a:graphic>
      </p:graphicFrame>
      <p:sp>
        <p:nvSpPr>
          <p:cNvPr id="539" name="Shape 52"/>
          <p:cNvSpPr/>
          <p:nvPr/>
        </p:nvSpPr>
        <p:spPr>
          <a:xfrm>
            <a:off x="6812280" y="5120640"/>
            <a:ext cx="4937761" cy="1234441"/>
          </a:xfrm>
          <a:prstGeom prst="roundRect">
            <a:avLst>
              <a:gd name="adj" fmla="val 7407"/>
            </a:avLst>
          </a:prstGeom>
          <a:solidFill>
            <a:srgbClr val="14203F"/>
          </a:solidFill>
          <a:ln>
            <a:solidFill>
              <a:srgbClr val="2A3B6B"/>
            </a:solidFill>
          </a:ln>
        </p:spPr>
        <p:txBody>
          <a:bodyPr lIns="45719" rIns="45719"/>
          <a:lstStyle/>
          <a:p>
            <a:pPr/>
          </a:p>
        </p:txBody>
      </p:sp>
      <p:sp>
        <p:nvSpPr>
          <p:cNvPr id="540" name="Text 53"/>
          <p:cNvSpPr txBox="1"/>
          <p:nvPr/>
        </p:nvSpPr>
        <p:spPr>
          <a:xfrm>
            <a:off x="6995159" y="5193791"/>
            <a:ext cx="4663441" cy="11418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b="1" sz="1400">
                <a:solidFill>
                  <a:schemeClr val="accent2"/>
                </a:solidFill>
              </a:defRPr>
            </a:pPr>
            <a:r>
              <a:t>Earlier merges (same rule)</a:t>
            </a:r>
          </a:p>
          <a:p>
            <a:pPr>
              <a:defRPr sz="1400">
                <a:solidFill>
                  <a:srgbClr val="F1F5F9"/>
                </a:solidFill>
              </a:defRPr>
            </a:pPr>
            <a:r>
              <a:t>[38]+[27] → [27, 38]    [43]+[3] → [3, 43]</a:t>
            </a:r>
          </a:p>
          <a:p>
            <a:pPr>
              <a:defRPr sz="1400">
                <a:solidFill>
                  <a:srgbClr val="F1F5F9"/>
                </a:solidFill>
              </a:defRPr>
            </a:pPr>
            <a:r>
              <a:t>[9]+[82] → [9, 82]    [10] has no partner</a:t>
            </a:r>
          </a:p>
          <a:p>
            <a:pPr>
              <a:defRPr sz="1400">
                <a:solidFill>
                  <a:srgbClr val="F1F5F9"/>
                </a:solidFill>
              </a:defRPr>
            </a:pPr>
            <a:r>
              <a:t>[27,38]+[3,43]: 3, 27, 38, then append 43</a:t>
            </a:r>
          </a:p>
          <a:p>
            <a:pPr>
              <a:defRPr sz="1400">
                <a:solidFill>
                  <a:srgbClr val="F1F5F9"/>
                </a:solidFill>
              </a:defRPr>
            </a:pPr>
            <a:r>
              <a:t>[9,82]+[10]: 9, 10, then append 82</a:t>
            </a:r>
          </a:p>
        </p:txBody>
      </p:sp>
      <p:sp>
        <p:nvSpPr>
          <p:cNvPr id="541"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5" name="Text 0"/>
          <p:cNvSpPr txBox="1"/>
          <p:nvPr>
            <p:ph type="title"/>
          </p:nvPr>
        </p:nvSpPr>
        <p:spPr>
          <a:xfrm>
            <a:off x="548639" y="320039"/>
            <a:ext cx="11064242" cy="731522"/>
          </a:xfrm>
          <a:prstGeom prst="rect">
            <a:avLst/>
          </a:prstGeom>
        </p:spPr>
        <p:txBody>
          <a:bodyPr lIns="0" tIns="0" rIns="0" bIns="0" anchor="ctr"/>
          <a:lstStyle/>
          <a:p>
            <a:pPr/>
            <a:r>
              <a:t>Merge Sort Algorithm and Pseudocode</a:t>
            </a:r>
          </a:p>
        </p:txBody>
      </p:sp>
      <p:sp>
        <p:nvSpPr>
          <p:cNvPr id="546" name="Shape 1"/>
          <p:cNvSpPr/>
          <p:nvPr/>
        </p:nvSpPr>
        <p:spPr>
          <a:xfrm>
            <a:off x="548640" y="1280160"/>
            <a:ext cx="6583681" cy="5074921"/>
          </a:xfrm>
          <a:prstGeom prst="roundRect">
            <a:avLst>
              <a:gd name="adj" fmla="val 1802"/>
            </a:avLst>
          </a:prstGeom>
          <a:solidFill>
            <a:srgbClr val="0A0F1F"/>
          </a:solidFill>
          <a:ln>
            <a:solidFill>
              <a:srgbClr val="2A3B6B"/>
            </a:solidFill>
          </a:ln>
        </p:spPr>
        <p:txBody>
          <a:bodyPr lIns="45719" rIns="45719"/>
          <a:lstStyle/>
          <a:p>
            <a:pPr/>
          </a:p>
        </p:txBody>
      </p:sp>
      <p:sp>
        <p:nvSpPr>
          <p:cNvPr id="547" name="Text 2"/>
          <p:cNvSpPr txBox="1"/>
          <p:nvPr/>
        </p:nvSpPr>
        <p:spPr>
          <a:xfrm>
            <a:off x="822960" y="1468881"/>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latin typeface="Courier New"/>
                <a:ea typeface="Courier New"/>
                <a:cs typeface="Courier New"/>
                <a:sym typeface="Courier New"/>
              </a:defRPr>
            </a:lvl1pPr>
          </a:lstStyle>
          <a:p>
            <a:pPr/>
            <a:r>
              <a:t>MERGE-SORT(A, left, right)</a:t>
            </a:r>
          </a:p>
        </p:txBody>
      </p:sp>
      <p:sp>
        <p:nvSpPr>
          <p:cNvPr id="548" name="Shape 3"/>
          <p:cNvSpPr/>
          <p:nvPr/>
        </p:nvSpPr>
        <p:spPr>
          <a:xfrm>
            <a:off x="685799" y="1682495"/>
            <a:ext cx="6309362" cy="224029"/>
          </a:xfrm>
          <a:prstGeom prst="rect">
            <a:avLst/>
          </a:prstGeom>
          <a:solidFill>
            <a:schemeClr val="accent4">
              <a:alpha val="22000"/>
            </a:schemeClr>
          </a:solidFill>
          <a:ln w="12700">
            <a:solidFill>
              <a:schemeClr val="accent4"/>
            </a:solidFill>
          </a:ln>
        </p:spPr>
        <p:txBody>
          <a:bodyPr lIns="45719" rIns="45719"/>
          <a:lstStyle/>
          <a:p>
            <a:pPr/>
          </a:p>
        </p:txBody>
      </p:sp>
      <p:sp>
        <p:nvSpPr>
          <p:cNvPr id="549" name="Text 4"/>
          <p:cNvSpPr txBox="1"/>
          <p:nvPr/>
        </p:nvSpPr>
        <p:spPr>
          <a:xfrm>
            <a:off x="822960" y="1702054"/>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1  if left &lt; right</a:t>
            </a:r>
          </a:p>
        </p:txBody>
      </p:sp>
      <p:sp>
        <p:nvSpPr>
          <p:cNvPr id="550" name="Shape 5"/>
          <p:cNvSpPr/>
          <p:nvPr/>
        </p:nvSpPr>
        <p:spPr>
          <a:xfrm>
            <a:off x="685799" y="1915667"/>
            <a:ext cx="6309362" cy="224029"/>
          </a:xfrm>
          <a:prstGeom prst="rect">
            <a:avLst/>
          </a:prstGeom>
          <a:solidFill>
            <a:schemeClr val="accent5">
              <a:alpha val="22000"/>
            </a:schemeClr>
          </a:solidFill>
          <a:ln w="12700">
            <a:solidFill>
              <a:schemeClr val="accent5"/>
            </a:solidFill>
          </a:ln>
        </p:spPr>
        <p:txBody>
          <a:bodyPr lIns="45719" rIns="45719"/>
          <a:lstStyle/>
          <a:p>
            <a:pPr/>
          </a:p>
        </p:txBody>
      </p:sp>
      <p:sp>
        <p:nvSpPr>
          <p:cNvPr id="551" name="Text 6"/>
          <p:cNvSpPr txBox="1"/>
          <p:nvPr/>
        </p:nvSpPr>
        <p:spPr>
          <a:xfrm>
            <a:off x="822960" y="1935226"/>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2      mid = floor((left + right) / 2)</a:t>
            </a:r>
          </a:p>
        </p:txBody>
      </p:sp>
      <p:sp>
        <p:nvSpPr>
          <p:cNvPr id="552" name="Shape 7"/>
          <p:cNvSpPr/>
          <p:nvPr/>
        </p:nvSpPr>
        <p:spPr>
          <a:xfrm>
            <a:off x="685799" y="2148839"/>
            <a:ext cx="6309362" cy="224029"/>
          </a:xfrm>
          <a:prstGeom prst="rect">
            <a:avLst/>
          </a:prstGeom>
          <a:solidFill>
            <a:schemeClr val="accent1">
              <a:alpha val="22000"/>
            </a:schemeClr>
          </a:solidFill>
          <a:ln w="12700">
            <a:solidFill>
              <a:schemeClr val="accent1"/>
            </a:solidFill>
          </a:ln>
        </p:spPr>
        <p:txBody>
          <a:bodyPr lIns="45719" rIns="45719"/>
          <a:lstStyle/>
          <a:p>
            <a:pPr/>
          </a:p>
        </p:txBody>
      </p:sp>
      <p:sp>
        <p:nvSpPr>
          <p:cNvPr id="553" name="Text 8"/>
          <p:cNvSpPr txBox="1"/>
          <p:nvPr/>
        </p:nvSpPr>
        <p:spPr>
          <a:xfrm>
            <a:off x="822960" y="2168398"/>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3      MERGE-SORT(A, left, mid)</a:t>
            </a:r>
          </a:p>
        </p:txBody>
      </p:sp>
      <p:sp>
        <p:nvSpPr>
          <p:cNvPr id="554" name="Shape 9"/>
          <p:cNvSpPr/>
          <p:nvPr/>
        </p:nvSpPr>
        <p:spPr>
          <a:xfrm>
            <a:off x="685799" y="2382011"/>
            <a:ext cx="6309362" cy="224029"/>
          </a:xfrm>
          <a:prstGeom prst="rect">
            <a:avLst/>
          </a:prstGeom>
          <a:solidFill>
            <a:schemeClr val="accent1">
              <a:alpha val="22000"/>
            </a:schemeClr>
          </a:solidFill>
          <a:ln w="12700">
            <a:solidFill>
              <a:schemeClr val="accent1"/>
            </a:solidFill>
          </a:ln>
        </p:spPr>
        <p:txBody>
          <a:bodyPr lIns="45719" rIns="45719"/>
          <a:lstStyle/>
          <a:p>
            <a:pPr/>
          </a:p>
        </p:txBody>
      </p:sp>
      <p:sp>
        <p:nvSpPr>
          <p:cNvPr id="555" name="Text 10"/>
          <p:cNvSpPr txBox="1"/>
          <p:nvPr/>
        </p:nvSpPr>
        <p:spPr>
          <a:xfrm>
            <a:off x="822960" y="2401570"/>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4      MERGE-SORT(A, mid + 1, right)</a:t>
            </a:r>
          </a:p>
        </p:txBody>
      </p:sp>
      <p:sp>
        <p:nvSpPr>
          <p:cNvPr id="556" name="Shape 11"/>
          <p:cNvSpPr/>
          <p:nvPr/>
        </p:nvSpPr>
        <p:spPr>
          <a:xfrm>
            <a:off x="685799" y="2615183"/>
            <a:ext cx="6309362" cy="224029"/>
          </a:xfrm>
          <a:prstGeom prst="rect">
            <a:avLst/>
          </a:prstGeom>
          <a:solidFill>
            <a:schemeClr val="accent2">
              <a:alpha val="22000"/>
            </a:schemeClr>
          </a:solidFill>
          <a:ln w="12700">
            <a:solidFill>
              <a:schemeClr val="accent2"/>
            </a:solidFill>
          </a:ln>
        </p:spPr>
        <p:txBody>
          <a:bodyPr lIns="45719" rIns="45719"/>
          <a:lstStyle/>
          <a:p>
            <a:pPr/>
          </a:p>
        </p:txBody>
      </p:sp>
      <p:sp>
        <p:nvSpPr>
          <p:cNvPr id="557" name="Text 12"/>
          <p:cNvSpPr txBox="1"/>
          <p:nvPr/>
        </p:nvSpPr>
        <p:spPr>
          <a:xfrm>
            <a:off x="822960" y="2634742"/>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5      MERGE(A, left, mid, right)</a:t>
            </a:r>
          </a:p>
        </p:txBody>
      </p:sp>
      <p:sp>
        <p:nvSpPr>
          <p:cNvPr id="558" name="Text 13"/>
          <p:cNvSpPr txBox="1"/>
          <p:nvPr/>
        </p:nvSpPr>
        <p:spPr>
          <a:xfrm>
            <a:off x="822960" y="3005074"/>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latin typeface="Courier New"/>
                <a:ea typeface="Courier New"/>
                <a:cs typeface="Courier New"/>
                <a:sym typeface="Courier New"/>
              </a:defRPr>
            </a:lvl1pPr>
          </a:lstStyle>
          <a:p>
            <a:pPr/>
            <a:r>
              <a:t>MERGE(A, left, mid, right)</a:t>
            </a:r>
          </a:p>
        </p:txBody>
      </p:sp>
      <p:sp>
        <p:nvSpPr>
          <p:cNvPr id="559" name="Text 14"/>
          <p:cNvSpPr txBox="1"/>
          <p:nvPr/>
        </p:nvSpPr>
        <p:spPr>
          <a:xfrm>
            <a:off x="822960" y="3238246"/>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1  L = copy of A[left..mid]</a:t>
            </a:r>
          </a:p>
        </p:txBody>
      </p:sp>
      <p:sp>
        <p:nvSpPr>
          <p:cNvPr id="560" name="Text 15"/>
          <p:cNvSpPr txBox="1"/>
          <p:nvPr/>
        </p:nvSpPr>
        <p:spPr>
          <a:xfrm>
            <a:off x="822960" y="3471417"/>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2  R = copy of A[mid+1..right]</a:t>
            </a:r>
          </a:p>
        </p:txBody>
      </p:sp>
      <p:sp>
        <p:nvSpPr>
          <p:cNvPr id="561" name="Text 16"/>
          <p:cNvSpPr txBox="1"/>
          <p:nvPr/>
        </p:nvSpPr>
        <p:spPr>
          <a:xfrm>
            <a:off x="822960" y="3704589"/>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3  i = 0;  j = 0;  k = left</a:t>
            </a:r>
          </a:p>
        </p:txBody>
      </p:sp>
      <p:sp>
        <p:nvSpPr>
          <p:cNvPr id="562" name="Text 17"/>
          <p:cNvSpPr txBox="1"/>
          <p:nvPr/>
        </p:nvSpPr>
        <p:spPr>
          <a:xfrm>
            <a:off x="822960" y="3937761"/>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4  while i &lt; |L| and j &lt; |R|</a:t>
            </a:r>
          </a:p>
        </p:txBody>
      </p:sp>
      <p:sp>
        <p:nvSpPr>
          <p:cNvPr id="563" name="Shape 18"/>
          <p:cNvSpPr/>
          <p:nvPr/>
        </p:nvSpPr>
        <p:spPr>
          <a:xfrm>
            <a:off x="685799" y="4151376"/>
            <a:ext cx="6309362" cy="224029"/>
          </a:xfrm>
          <a:prstGeom prst="rect">
            <a:avLst/>
          </a:prstGeom>
          <a:solidFill>
            <a:schemeClr val="accent2">
              <a:alpha val="22000"/>
            </a:schemeClr>
          </a:solidFill>
          <a:ln w="12700">
            <a:solidFill>
              <a:schemeClr val="accent2"/>
            </a:solidFill>
          </a:ln>
        </p:spPr>
        <p:txBody>
          <a:bodyPr lIns="45719" rIns="45719"/>
          <a:lstStyle/>
          <a:p>
            <a:pPr/>
          </a:p>
        </p:txBody>
      </p:sp>
      <p:sp>
        <p:nvSpPr>
          <p:cNvPr id="564" name="Text 19"/>
          <p:cNvSpPr txBox="1"/>
          <p:nvPr/>
        </p:nvSpPr>
        <p:spPr>
          <a:xfrm>
            <a:off x="822960" y="4170933"/>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5      if L[i] &lt;= R[j]</a:t>
            </a:r>
          </a:p>
        </p:txBody>
      </p:sp>
      <p:sp>
        <p:nvSpPr>
          <p:cNvPr id="565" name="Shape 20"/>
          <p:cNvSpPr/>
          <p:nvPr/>
        </p:nvSpPr>
        <p:spPr>
          <a:xfrm>
            <a:off x="685799" y="4384547"/>
            <a:ext cx="6309362" cy="224029"/>
          </a:xfrm>
          <a:prstGeom prst="rect">
            <a:avLst/>
          </a:prstGeom>
          <a:solidFill>
            <a:schemeClr val="accent2">
              <a:alpha val="22000"/>
            </a:schemeClr>
          </a:solidFill>
          <a:ln w="12700">
            <a:solidFill>
              <a:schemeClr val="accent2"/>
            </a:solidFill>
          </a:ln>
        </p:spPr>
        <p:txBody>
          <a:bodyPr lIns="45719" rIns="45719"/>
          <a:lstStyle/>
          <a:p>
            <a:pPr/>
          </a:p>
        </p:txBody>
      </p:sp>
      <p:sp>
        <p:nvSpPr>
          <p:cNvPr id="566" name="Text 21"/>
          <p:cNvSpPr txBox="1"/>
          <p:nvPr/>
        </p:nvSpPr>
        <p:spPr>
          <a:xfrm>
            <a:off x="822960" y="4404105"/>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6          A[k] = L[i];  i = i + 1</a:t>
            </a:r>
          </a:p>
        </p:txBody>
      </p:sp>
      <p:sp>
        <p:nvSpPr>
          <p:cNvPr id="567" name="Shape 22"/>
          <p:cNvSpPr/>
          <p:nvPr/>
        </p:nvSpPr>
        <p:spPr>
          <a:xfrm>
            <a:off x="685799" y="4617720"/>
            <a:ext cx="6309362" cy="224029"/>
          </a:xfrm>
          <a:prstGeom prst="rect">
            <a:avLst/>
          </a:prstGeom>
          <a:solidFill>
            <a:schemeClr val="accent2">
              <a:alpha val="22000"/>
            </a:schemeClr>
          </a:solidFill>
          <a:ln w="12700">
            <a:solidFill>
              <a:schemeClr val="accent2"/>
            </a:solidFill>
          </a:ln>
        </p:spPr>
        <p:txBody>
          <a:bodyPr lIns="45719" rIns="45719"/>
          <a:lstStyle/>
          <a:p>
            <a:pPr/>
          </a:p>
        </p:txBody>
      </p:sp>
      <p:sp>
        <p:nvSpPr>
          <p:cNvPr id="568" name="Text 23"/>
          <p:cNvSpPr txBox="1"/>
          <p:nvPr/>
        </p:nvSpPr>
        <p:spPr>
          <a:xfrm>
            <a:off x="822960" y="4637277"/>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7      else</a:t>
            </a:r>
          </a:p>
        </p:txBody>
      </p:sp>
      <p:sp>
        <p:nvSpPr>
          <p:cNvPr id="569" name="Shape 24"/>
          <p:cNvSpPr/>
          <p:nvPr/>
        </p:nvSpPr>
        <p:spPr>
          <a:xfrm>
            <a:off x="685799" y="4850891"/>
            <a:ext cx="6309362" cy="224029"/>
          </a:xfrm>
          <a:prstGeom prst="rect">
            <a:avLst/>
          </a:prstGeom>
          <a:solidFill>
            <a:schemeClr val="accent2">
              <a:alpha val="22000"/>
            </a:schemeClr>
          </a:solidFill>
          <a:ln w="12700">
            <a:solidFill>
              <a:schemeClr val="accent2"/>
            </a:solidFill>
          </a:ln>
        </p:spPr>
        <p:txBody>
          <a:bodyPr lIns="45719" rIns="45719"/>
          <a:lstStyle/>
          <a:p>
            <a:pPr/>
          </a:p>
        </p:txBody>
      </p:sp>
      <p:sp>
        <p:nvSpPr>
          <p:cNvPr id="570" name="Text 25"/>
          <p:cNvSpPr txBox="1"/>
          <p:nvPr/>
        </p:nvSpPr>
        <p:spPr>
          <a:xfrm>
            <a:off x="822960" y="4870449"/>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8          A[k] = R[j];  j = j + 1</a:t>
            </a:r>
          </a:p>
        </p:txBody>
      </p:sp>
      <p:sp>
        <p:nvSpPr>
          <p:cNvPr id="571" name="Text 26"/>
          <p:cNvSpPr txBox="1"/>
          <p:nvPr/>
        </p:nvSpPr>
        <p:spPr>
          <a:xfrm>
            <a:off x="822960" y="5103621"/>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9      k = k + 1</a:t>
            </a:r>
          </a:p>
        </p:txBody>
      </p:sp>
      <p:sp>
        <p:nvSpPr>
          <p:cNvPr id="572" name="Shape 27"/>
          <p:cNvSpPr/>
          <p:nvPr/>
        </p:nvSpPr>
        <p:spPr>
          <a:xfrm>
            <a:off x="685799" y="5317235"/>
            <a:ext cx="6309362" cy="224029"/>
          </a:xfrm>
          <a:prstGeom prst="rect">
            <a:avLst/>
          </a:prstGeom>
          <a:solidFill>
            <a:schemeClr val="accent3">
              <a:alpha val="22000"/>
            </a:schemeClr>
          </a:solidFill>
          <a:ln w="12700">
            <a:solidFill>
              <a:schemeClr val="accent3"/>
            </a:solidFill>
          </a:ln>
        </p:spPr>
        <p:txBody>
          <a:bodyPr lIns="45719" rIns="45719"/>
          <a:lstStyle/>
          <a:p>
            <a:pPr/>
          </a:p>
        </p:txBody>
      </p:sp>
      <p:sp>
        <p:nvSpPr>
          <p:cNvPr id="573" name="Text 28"/>
          <p:cNvSpPr txBox="1"/>
          <p:nvPr/>
        </p:nvSpPr>
        <p:spPr>
          <a:xfrm>
            <a:off x="822960" y="5336794"/>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10 while i &lt; |L|:  A[k] = L[i];  i++;  k++</a:t>
            </a:r>
          </a:p>
        </p:txBody>
      </p:sp>
      <p:sp>
        <p:nvSpPr>
          <p:cNvPr id="574" name="Shape 29"/>
          <p:cNvSpPr/>
          <p:nvPr/>
        </p:nvSpPr>
        <p:spPr>
          <a:xfrm>
            <a:off x="685799" y="5550408"/>
            <a:ext cx="6309362" cy="224029"/>
          </a:xfrm>
          <a:prstGeom prst="rect">
            <a:avLst/>
          </a:prstGeom>
          <a:solidFill>
            <a:schemeClr val="accent3">
              <a:alpha val="22000"/>
            </a:schemeClr>
          </a:solidFill>
          <a:ln w="12700">
            <a:solidFill>
              <a:schemeClr val="accent3"/>
            </a:solidFill>
          </a:ln>
        </p:spPr>
        <p:txBody>
          <a:bodyPr lIns="45719" rIns="45719"/>
          <a:lstStyle/>
          <a:p>
            <a:pPr/>
          </a:p>
        </p:txBody>
      </p:sp>
      <p:sp>
        <p:nvSpPr>
          <p:cNvPr id="575" name="Text 30"/>
          <p:cNvSpPr txBox="1"/>
          <p:nvPr/>
        </p:nvSpPr>
        <p:spPr>
          <a:xfrm>
            <a:off x="822960" y="5569965"/>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1F5F9"/>
                </a:solidFill>
                <a:latin typeface="Courier New"/>
                <a:ea typeface="Courier New"/>
                <a:cs typeface="Courier New"/>
                <a:sym typeface="Courier New"/>
              </a:defRPr>
            </a:lvl1pPr>
          </a:lstStyle>
          <a:p>
            <a:pPr/>
            <a:r>
              <a:t>11 while j &lt; |R|:  A[k] = R[j];  j++;  k++</a:t>
            </a:r>
          </a:p>
        </p:txBody>
      </p:sp>
      <p:sp>
        <p:nvSpPr>
          <p:cNvPr id="576" name="Text 31"/>
          <p:cNvSpPr txBox="1"/>
          <p:nvPr/>
        </p:nvSpPr>
        <p:spPr>
          <a:xfrm>
            <a:off x="822960" y="5933439"/>
            <a:ext cx="612648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A9B8D4"/>
                </a:solidFill>
                <a:latin typeface="Courier New"/>
                <a:ea typeface="Courier New"/>
                <a:cs typeface="Courier New"/>
                <a:sym typeface="Courier New"/>
              </a:defRPr>
            </a:lvl1pPr>
          </a:lstStyle>
          <a:p>
            <a:pPr/>
            <a:r>
              <a:t>Initial call:  MERGE-SORT(A, 0, n - 1)</a:t>
            </a:r>
          </a:p>
        </p:txBody>
      </p:sp>
      <p:sp>
        <p:nvSpPr>
          <p:cNvPr id="577" name="Shape 32"/>
          <p:cNvSpPr/>
          <p:nvPr/>
        </p:nvSpPr>
        <p:spPr>
          <a:xfrm>
            <a:off x="7360919" y="1280160"/>
            <a:ext cx="4343401" cy="914401"/>
          </a:xfrm>
          <a:prstGeom prst="roundRect">
            <a:avLst>
              <a:gd name="adj" fmla="val 10000"/>
            </a:avLst>
          </a:prstGeom>
          <a:solidFill>
            <a:srgbClr val="14203F"/>
          </a:solidFill>
          <a:ln>
            <a:solidFill>
              <a:srgbClr val="2A3B6B"/>
            </a:solidFill>
          </a:ln>
        </p:spPr>
        <p:txBody>
          <a:bodyPr lIns="45719" rIns="45719"/>
          <a:lstStyle/>
          <a:p>
            <a:pPr/>
          </a:p>
        </p:txBody>
      </p:sp>
      <p:sp>
        <p:nvSpPr>
          <p:cNvPr id="578" name="Shape 33"/>
          <p:cNvSpPr/>
          <p:nvPr/>
        </p:nvSpPr>
        <p:spPr>
          <a:xfrm>
            <a:off x="7543800" y="1463039"/>
            <a:ext cx="146305" cy="548641"/>
          </a:xfrm>
          <a:prstGeom prst="roundRect">
            <a:avLst>
              <a:gd name="adj" fmla="val 31250"/>
            </a:avLst>
          </a:prstGeom>
          <a:solidFill>
            <a:schemeClr val="accent4"/>
          </a:solidFill>
          <a:ln w="12700">
            <a:solidFill>
              <a:schemeClr val="accent4"/>
            </a:solidFill>
          </a:ln>
        </p:spPr>
        <p:txBody>
          <a:bodyPr lIns="45719" rIns="45719"/>
          <a:lstStyle/>
          <a:p>
            <a:pPr/>
          </a:p>
        </p:txBody>
      </p:sp>
      <p:sp>
        <p:nvSpPr>
          <p:cNvPr id="579" name="Text 34"/>
          <p:cNvSpPr txBox="1"/>
          <p:nvPr/>
        </p:nvSpPr>
        <p:spPr>
          <a:xfrm>
            <a:off x="7863840" y="1419668"/>
            <a:ext cx="374904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4"/>
                </a:solidFill>
              </a:defRPr>
            </a:pPr>
            <a:r>
              <a:t>Base case</a:t>
            </a:r>
            <a:endParaRPr sz="1400"/>
          </a:p>
          <a:p>
            <a:pPr>
              <a:defRPr sz="1400">
                <a:solidFill>
                  <a:srgbClr val="F1F5F9"/>
                </a:solidFill>
              </a:defRPr>
            </a:pPr>
            <a:r>
              <a:t>If left is not less than right, the part has 0 or 1 element: already sorted, so stop.</a:t>
            </a:r>
          </a:p>
        </p:txBody>
      </p:sp>
      <p:sp>
        <p:nvSpPr>
          <p:cNvPr id="580" name="Shape 35"/>
          <p:cNvSpPr/>
          <p:nvPr/>
        </p:nvSpPr>
        <p:spPr>
          <a:xfrm>
            <a:off x="7360919" y="2304288"/>
            <a:ext cx="4343401" cy="914401"/>
          </a:xfrm>
          <a:prstGeom prst="roundRect">
            <a:avLst>
              <a:gd name="adj" fmla="val 10000"/>
            </a:avLst>
          </a:prstGeom>
          <a:solidFill>
            <a:srgbClr val="14203F"/>
          </a:solidFill>
          <a:ln>
            <a:solidFill>
              <a:srgbClr val="2A3B6B"/>
            </a:solidFill>
          </a:ln>
        </p:spPr>
        <p:txBody>
          <a:bodyPr lIns="45719" rIns="45719"/>
          <a:lstStyle/>
          <a:p>
            <a:pPr/>
          </a:p>
        </p:txBody>
      </p:sp>
      <p:sp>
        <p:nvSpPr>
          <p:cNvPr id="581" name="Shape 36"/>
          <p:cNvSpPr/>
          <p:nvPr/>
        </p:nvSpPr>
        <p:spPr>
          <a:xfrm>
            <a:off x="7543800" y="2487167"/>
            <a:ext cx="146305" cy="548641"/>
          </a:xfrm>
          <a:prstGeom prst="roundRect">
            <a:avLst>
              <a:gd name="adj" fmla="val 31250"/>
            </a:avLst>
          </a:prstGeom>
          <a:solidFill>
            <a:schemeClr val="accent5"/>
          </a:solidFill>
          <a:ln w="12700">
            <a:solidFill>
              <a:schemeClr val="accent5"/>
            </a:solidFill>
          </a:ln>
        </p:spPr>
        <p:txBody>
          <a:bodyPr lIns="45719" rIns="45719"/>
          <a:lstStyle/>
          <a:p>
            <a:pPr/>
          </a:p>
        </p:txBody>
      </p:sp>
      <p:sp>
        <p:nvSpPr>
          <p:cNvPr id="582" name="Text 37"/>
          <p:cNvSpPr txBox="1"/>
          <p:nvPr/>
        </p:nvSpPr>
        <p:spPr>
          <a:xfrm>
            <a:off x="7863840" y="2443796"/>
            <a:ext cx="374904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5"/>
                </a:solidFill>
              </a:defRPr>
            </a:pPr>
            <a:r>
              <a:t>Midpoint</a:t>
            </a:r>
            <a:endParaRPr sz="1400"/>
          </a:p>
          <a:p>
            <a:pPr>
              <a:defRPr sz="1400">
                <a:solidFill>
                  <a:srgbClr val="F1F5F9"/>
                </a:solidFill>
              </a:defRPr>
            </a:pPr>
            <a:r>
              <a:t>mid splits the range into two halves; the left half gets the extra element when n is odd.</a:t>
            </a:r>
          </a:p>
        </p:txBody>
      </p:sp>
      <p:sp>
        <p:nvSpPr>
          <p:cNvPr id="583" name="Shape 38"/>
          <p:cNvSpPr/>
          <p:nvPr/>
        </p:nvSpPr>
        <p:spPr>
          <a:xfrm>
            <a:off x="7360919" y="3328415"/>
            <a:ext cx="4343401" cy="914401"/>
          </a:xfrm>
          <a:prstGeom prst="roundRect">
            <a:avLst>
              <a:gd name="adj" fmla="val 10000"/>
            </a:avLst>
          </a:prstGeom>
          <a:solidFill>
            <a:srgbClr val="14203F"/>
          </a:solidFill>
          <a:ln>
            <a:solidFill>
              <a:srgbClr val="2A3B6B"/>
            </a:solidFill>
          </a:ln>
        </p:spPr>
        <p:txBody>
          <a:bodyPr lIns="45719" rIns="45719"/>
          <a:lstStyle/>
          <a:p>
            <a:pPr/>
          </a:p>
        </p:txBody>
      </p:sp>
      <p:sp>
        <p:nvSpPr>
          <p:cNvPr id="584" name="Shape 39"/>
          <p:cNvSpPr/>
          <p:nvPr/>
        </p:nvSpPr>
        <p:spPr>
          <a:xfrm>
            <a:off x="7543800" y="3511296"/>
            <a:ext cx="146305" cy="548641"/>
          </a:xfrm>
          <a:prstGeom prst="roundRect">
            <a:avLst>
              <a:gd name="adj" fmla="val 31250"/>
            </a:avLst>
          </a:prstGeom>
          <a:solidFill>
            <a:schemeClr val="accent1"/>
          </a:solidFill>
          <a:ln w="12700">
            <a:solidFill>
              <a:schemeClr val="accent1"/>
            </a:solidFill>
          </a:ln>
        </p:spPr>
        <p:txBody>
          <a:bodyPr lIns="45719" rIns="45719"/>
          <a:lstStyle/>
          <a:p>
            <a:pPr/>
          </a:p>
        </p:txBody>
      </p:sp>
      <p:sp>
        <p:nvSpPr>
          <p:cNvPr id="585" name="Text 40"/>
          <p:cNvSpPr txBox="1"/>
          <p:nvPr/>
        </p:nvSpPr>
        <p:spPr>
          <a:xfrm>
            <a:off x="7863840" y="3467924"/>
            <a:ext cx="374904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1"/>
                </a:solidFill>
              </a:defRPr>
            </a:pPr>
            <a:r>
              <a:t>Recursive calls</a:t>
            </a:r>
            <a:endParaRPr sz="1400"/>
          </a:p>
          <a:p>
            <a:pPr>
              <a:defRPr sz="1400">
                <a:solidFill>
                  <a:srgbClr val="F1F5F9"/>
                </a:solidFill>
              </a:defRPr>
            </a:pPr>
            <a:r>
              <a:t>Sort the left half, then the right half, by calling the same procedure.</a:t>
            </a:r>
          </a:p>
        </p:txBody>
      </p:sp>
      <p:sp>
        <p:nvSpPr>
          <p:cNvPr id="586" name="Shape 41"/>
          <p:cNvSpPr/>
          <p:nvPr/>
        </p:nvSpPr>
        <p:spPr>
          <a:xfrm>
            <a:off x="7360919" y="4352544"/>
            <a:ext cx="4343401" cy="914401"/>
          </a:xfrm>
          <a:prstGeom prst="roundRect">
            <a:avLst>
              <a:gd name="adj" fmla="val 10000"/>
            </a:avLst>
          </a:prstGeom>
          <a:solidFill>
            <a:srgbClr val="14203F"/>
          </a:solidFill>
          <a:ln>
            <a:solidFill>
              <a:srgbClr val="2A3B6B"/>
            </a:solidFill>
          </a:ln>
        </p:spPr>
        <p:txBody>
          <a:bodyPr lIns="45719" rIns="45719"/>
          <a:lstStyle/>
          <a:p>
            <a:pPr/>
          </a:p>
        </p:txBody>
      </p:sp>
      <p:sp>
        <p:nvSpPr>
          <p:cNvPr id="587" name="Shape 42"/>
          <p:cNvSpPr/>
          <p:nvPr/>
        </p:nvSpPr>
        <p:spPr>
          <a:xfrm>
            <a:off x="7543800" y="4535423"/>
            <a:ext cx="146305" cy="548641"/>
          </a:xfrm>
          <a:prstGeom prst="roundRect">
            <a:avLst>
              <a:gd name="adj" fmla="val 31250"/>
            </a:avLst>
          </a:prstGeom>
          <a:solidFill>
            <a:schemeClr val="accent2"/>
          </a:solidFill>
          <a:ln w="12700">
            <a:solidFill>
              <a:schemeClr val="accent2"/>
            </a:solidFill>
          </a:ln>
        </p:spPr>
        <p:txBody>
          <a:bodyPr lIns="45719" rIns="45719"/>
          <a:lstStyle/>
          <a:p>
            <a:pPr/>
          </a:p>
        </p:txBody>
      </p:sp>
      <p:sp>
        <p:nvSpPr>
          <p:cNvPr id="588" name="Text 43"/>
          <p:cNvSpPr txBox="1"/>
          <p:nvPr/>
        </p:nvSpPr>
        <p:spPr>
          <a:xfrm>
            <a:off x="7863840" y="4492052"/>
            <a:ext cx="374904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2"/>
                </a:solidFill>
              </a:defRPr>
            </a:pPr>
            <a:r>
              <a:t>Merge step</a:t>
            </a:r>
            <a:endParaRPr sz="1400"/>
          </a:p>
          <a:p>
            <a:pPr>
              <a:defRPr sz="1400">
                <a:solidFill>
                  <a:srgbClr val="F1F5F9"/>
                </a:solidFill>
              </a:defRPr>
            </a:pPr>
            <a:r>
              <a:t>Compare the two fronts and take the smaller. Using &lt;= keeps equal items in order (stable).</a:t>
            </a:r>
          </a:p>
        </p:txBody>
      </p:sp>
      <p:sp>
        <p:nvSpPr>
          <p:cNvPr id="589" name="Shape 44"/>
          <p:cNvSpPr/>
          <p:nvPr/>
        </p:nvSpPr>
        <p:spPr>
          <a:xfrm>
            <a:off x="7360919" y="5376671"/>
            <a:ext cx="4343401" cy="914401"/>
          </a:xfrm>
          <a:prstGeom prst="roundRect">
            <a:avLst>
              <a:gd name="adj" fmla="val 10000"/>
            </a:avLst>
          </a:prstGeom>
          <a:solidFill>
            <a:srgbClr val="14203F"/>
          </a:solidFill>
          <a:ln>
            <a:solidFill>
              <a:srgbClr val="2A3B6B"/>
            </a:solidFill>
          </a:ln>
        </p:spPr>
        <p:txBody>
          <a:bodyPr lIns="45719" rIns="45719"/>
          <a:lstStyle/>
          <a:p>
            <a:pPr/>
          </a:p>
        </p:txBody>
      </p:sp>
      <p:sp>
        <p:nvSpPr>
          <p:cNvPr id="590" name="Shape 45"/>
          <p:cNvSpPr/>
          <p:nvPr/>
        </p:nvSpPr>
        <p:spPr>
          <a:xfrm>
            <a:off x="7543800" y="5559552"/>
            <a:ext cx="146305" cy="548641"/>
          </a:xfrm>
          <a:prstGeom prst="roundRect">
            <a:avLst>
              <a:gd name="adj" fmla="val 31250"/>
            </a:avLst>
          </a:prstGeom>
          <a:solidFill>
            <a:schemeClr val="accent3"/>
          </a:solidFill>
          <a:ln w="12700">
            <a:solidFill>
              <a:schemeClr val="accent3"/>
            </a:solidFill>
          </a:ln>
        </p:spPr>
        <p:txBody>
          <a:bodyPr lIns="45719" rIns="45719"/>
          <a:lstStyle/>
          <a:p>
            <a:pPr/>
          </a:p>
        </p:txBody>
      </p:sp>
      <p:sp>
        <p:nvSpPr>
          <p:cNvPr id="591" name="Text 46"/>
          <p:cNvSpPr txBox="1"/>
          <p:nvPr/>
        </p:nvSpPr>
        <p:spPr>
          <a:xfrm>
            <a:off x="7863840" y="5516180"/>
            <a:ext cx="374904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3"/>
                </a:solidFill>
              </a:defRPr>
            </a:pPr>
            <a:r>
              <a:t>Leftovers</a:t>
            </a:r>
            <a:endParaRPr sz="1400"/>
          </a:p>
          <a:p>
            <a:pPr>
              <a:defRPr sz="1400">
                <a:solidFill>
                  <a:srgbClr val="F1F5F9"/>
                </a:solidFill>
              </a:defRPr>
            </a:pPr>
            <a:r>
              <a:t>When one half runs out, copy the rest of the other: it is already sorted.</a:t>
            </a:r>
          </a:p>
        </p:txBody>
      </p:sp>
      <p:sp>
        <p:nvSpPr>
          <p:cNvPr id="592"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6" name="Text 0"/>
          <p:cNvSpPr txBox="1"/>
          <p:nvPr>
            <p:ph type="title"/>
          </p:nvPr>
        </p:nvSpPr>
        <p:spPr>
          <a:xfrm>
            <a:off x="548639" y="320039"/>
            <a:ext cx="11064242" cy="731522"/>
          </a:xfrm>
          <a:prstGeom prst="rect">
            <a:avLst/>
          </a:prstGeom>
        </p:spPr>
        <p:txBody>
          <a:bodyPr lIns="0" tIns="0" rIns="0" bIns="0" anchor="ctr"/>
          <a:lstStyle/>
          <a:p>
            <a:pPr/>
            <a:r>
              <a:t>Time Complexity, Space Complexity, and Properties</a:t>
            </a:r>
          </a:p>
        </p:txBody>
      </p:sp>
      <p:sp>
        <p:nvSpPr>
          <p:cNvPr id="597" name="Shape 1"/>
          <p:cNvSpPr/>
          <p:nvPr/>
        </p:nvSpPr>
        <p:spPr>
          <a:xfrm>
            <a:off x="548640" y="1280160"/>
            <a:ext cx="4023360" cy="1645921"/>
          </a:xfrm>
          <a:prstGeom prst="roundRect">
            <a:avLst>
              <a:gd name="adj" fmla="val 5556"/>
            </a:avLst>
          </a:prstGeom>
          <a:solidFill>
            <a:srgbClr val="14203F"/>
          </a:solidFill>
          <a:ln>
            <a:solidFill>
              <a:srgbClr val="2A3B6B"/>
            </a:solidFill>
          </a:ln>
        </p:spPr>
        <p:txBody>
          <a:bodyPr lIns="45719" rIns="45719"/>
          <a:lstStyle/>
          <a:p>
            <a:pPr/>
          </a:p>
        </p:txBody>
      </p:sp>
      <p:sp>
        <p:nvSpPr>
          <p:cNvPr id="598" name="Text 2"/>
          <p:cNvSpPr txBox="1"/>
          <p:nvPr/>
        </p:nvSpPr>
        <p:spPr>
          <a:xfrm>
            <a:off x="777239" y="1389888"/>
            <a:ext cx="35661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A9B8D4"/>
                </a:solidFill>
              </a:defRPr>
            </a:lvl1pPr>
          </a:lstStyle>
          <a:p>
            <a:pPr/>
            <a:r>
              <a:t>Recurrence relation</a:t>
            </a:r>
          </a:p>
        </p:txBody>
      </p:sp>
      <p:sp>
        <p:nvSpPr>
          <p:cNvPr id="599" name="Text 3"/>
          <p:cNvSpPr txBox="1"/>
          <p:nvPr/>
        </p:nvSpPr>
        <p:spPr>
          <a:xfrm>
            <a:off x="777239" y="1827006"/>
            <a:ext cx="356616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chemeClr val="accent1"/>
                </a:solidFill>
              </a:defRPr>
            </a:lvl1pPr>
          </a:lstStyle>
          <a:p>
            <a:pPr/>
            <a:r>
              <a:t>T(n) = 2T(n/2) + O(n)</a:t>
            </a:r>
          </a:p>
        </p:txBody>
      </p:sp>
      <p:sp>
        <p:nvSpPr>
          <p:cNvPr id="600" name="Text 4"/>
          <p:cNvSpPr txBox="1"/>
          <p:nvPr/>
        </p:nvSpPr>
        <p:spPr>
          <a:xfrm>
            <a:off x="777239" y="2331720"/>
            <a:ext cx="356616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2 sub-problems of size n/2, plus O(n) work to merge them</a:t>
            </a:r>
          </a:p>
        </p:txBody>
      </p:sp>
      <p:sp>
        <p:nvSpPr>
          <p:cNvPr id="601" name="Shape 5"/>
          <p:cNvSpPr/>
          <p:nvPr/>
        </p:nvSpPr>
        <p:spPr>
          <a:xfrm>
            <a:off x="548640" y="3108960"/>
            <a:ext cx="4023360" cy="3246121"/>
          </a:xfrm>
          <a:prstGeom prst="roundRect">
            <a:avLst>
              <a:gd name="adj" fmla="val 2817"/>
            </a:avLst>
          </a:prstGeom>
          <a:solidFill>
            <a:srgbClr val="14203F"/>
          </a:solidFill>
          <a:ln>
            <a:solidFill>
              <a:srgbClr val="2A3B6B"/>
            </a:solidFill>
          </a:ln>
        </p:spPr>
        <p:txBody>
          <a:bodyPr lIns="45719" rIns="45719"/>
          <a:lstStyle/>
          <a:p>
            <a:pPr/>
          </a:p>
        </p:txBody>
      </p:sp>
      <p:sp>
        <p:nvSpPr>
          <p:cNvPr id="602" name="Text 6"/>
          <p:cNvSpPr txBox="1"/>
          <p:nvPr/>
        </p:nvSpPr>
        <p:spPr>
          <a:xfrm>
            <a:off x="777239" y="3218688"/>
            <a:ext cx="35661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4"/>
                </a:solidFill>
              </a:defRPr>
            </a:lvl1pPr>
          </a:lstStyle>
          <a:p>
            <a:pPr/>
            <a:r>
              <a:t>Why O(n log n)?</a:t>
            </a:r>
          </a:p>
        </p:txBody>
      </p:sp>
      <p:sp>
        <p:nvSpPr>
          <p:cNvPr id="603" name="Shape 7"/>
          <p:cNvSpPr/>
          <p:nvPr/>
        </p:nvSpPr>
        <p:spPr>
          <a:xfrm>
            <a:off x="777240" y="3685032"/>
            <a:ext cx="329185" cy="329185"/>
          </a:xfrm>
          <a:prstGeom prst="ellipse">
            <a:avLst/>
          </a:prstGeom>
          <a:solidFill>
            <a:schemeClr val="accent4"/>
          </a:solidFill>
          <a:ln w="12700">
            <a:solidFill>
              <a:schemeClr val="accent4"/>
            </a:solidFill>
          </a:ln>
        </p:spPr>
        <p:txBody>
          <a:bodyPr lIns="45719" rIns="45719"/>
          <a:lstStyle/>
          <a:p>
            <a:pPr/>
          </a:p>
        </p:txBody>
      </p:sp>
      <p:sp>
        <p:nvSpPr>
          <p:cNvPr id="604" name="Text 8"/>
          <p:cNvSpPr txBox="1"/>
          <p:nvPr/>
        </p:nvSpPr>
        <p:spPr>
          <a:xfrm>
            <a:off x="777240" y="3754944"/>
            <a:ext cx="32918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1</a:t>
            </a:r>
          </a:p>
        </p:txBody>
      </p:sp>
      <p:sp>
        <p:nvSpPr>
          <p:cNvPr id="605" name="Text 9"/>
          <p:cNvSpPr txBox="1"/>
          <p:nvPr/>
        </p:nvSpPr>
        <p:spPr>
          <a:xfrm>
            <a:off x="1234439" y="3657600"/>
            <a:ext cx="3200401"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Halving n until size 1 gives log₂ n levels.</a:t>
            </a:r>
          </a:p>
        </p:txBody>
      </p:sp>
      <p:sp>
        <p:nvSpPr>
          <p:cNvPr id="606" name="Shape 10"/>
          <p:cNvSpPr/>
          <p:nvPr/>
        </p:nvSpPr>
        <p:spPr>
          <a:xfrm>
            <a:off x="777240" y="4581144"/>
            <a:ext cx="329185" cy="329185"/>
          </a:xfrm>
          <a:prstGeom prst="ellipse">
            <a:avLst/>
          </a:prstGeom>
          <a:solidFill>
            <a:schemeClr val="accent4"/>
          </a:solidFill>
          <a:ln w="12700">
            <a:solidFill>
              <a:schemeClr val="accent4"/>
            </a:solidFill>
          </a:ln>
        </p:spPr>
        <p:txBody>
          <a:bodyPr lIns="45719" rIns="45719"/>
          <a:lstStyle/>
          <a:p>
            <a:pPr/>
          </a:p>
        </p:txBody>
      </p:sp>
      <p:sp>
        <p:nvSpPr>
          <p:cNvPr id="607" name="Text 11"/>
          <p:cNvSpPr txBox="1"/>
          <p:nvPr/>
        </p:nvSpPr>
        <p:spPr>
          <a:xfrm>
            <a:off x="777240" y="4651056"/>
            <a:ext cx="32918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2</a:t>
            </a:r>
          </a:p>
        </p:txBody>
      </p:sp>
      <p:sp>
        <p:nvSpPr>
          <p:cNvPr id="608" name="Text 12"/>
          <p:cNvSpPr txBox="1"/>
          <p:nvPr/>
        </p:nvSpPr>
        <p:spPr>
          <a:xfrm>
            <a:off x="1234439" y="4553711"/>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Each level merges all n elements once: O(n) per level, so n × log₂ n in total.</a:t>
            </a:r>
          </a:p>
        </p:txBody>
      </p:sp>
      <p:sp>
        <p:nvSpPr>
          <p:cNvPr id="609" name="Shape 13"/>
          <p:cNvSpPr/>
          <p:nvPr/>
        </p:nvSpPr>
        <p:spPr>
          <a:xfrm>
            <a:off x="777240" y="5477255"/>
            <a:ext cx="329185" cy="329185"/>
          </a:xfrm>
          <a:prstGeom prst="ellipse">
            <a:avLst/>
          </a:prstGeom>
          <a:solidFill>
            <a:schemeClr val="accent4"/>
          </a:solidFill>
          <a:ln w="12700">
            <a:solidFill>
              <a:schemeClr val="accent4"/>
            </a:solidFill>
          </a:ln>
        </p:spPr>
        <p:txBody>
          <a:bodyPr lIns="45719" rIns="45719"/>
          <a:lstStyle/>
          <a:p>
            <a:pPr/>
          </a:p>
        </p:txBody>
      </p:sp>
      <p:sp>
        <p:nvSpPr>
          <p:cNvPr id="610" name="Text 14"/>
          <p:cNvSpPr txBox="1"/>
          <p:nvPr/>
        </p:nvSpPr>
        <p:spPr>
          <a:xfrm>
            <a:off x="777240" y="5547168"/>
            <a:ext cx="32918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lvl1pPr>
          </a:lstStyle>
          <a:p>
            <a:pPr/>
            <a:r>
              <a:t>3</a:t>
            </a:r>
          </a:p>
        </p:txBody>
      </p:sp>
      <p:sp>
        <p:nvSpPr>
          <p:cNvPr id="611" name="Text 15"/>
          <p:cNvSpPr txBox="1"/>
          <p:nvPr/>
        </p:nvSpPr>
        <p:spPr>
          <a:xfrm>
            <a:off x="1234439" y="5449823"/>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1F5F9"/>
                </a:solidFill>
              </a:defRPr>
            </a:lvl1pPr>
          </a:lstStyle>
          <a:p>
            <a:pPr/>
            <a:r>
              <a:t>Splitting ignores the values, so best, average and worst case are the same.</a:t>
            </a:r>
          </a:p>
        </p:txBody>
      </p:sp>
      <p:sp>
        <p:nvSpPr>
          <p:cNvPr id="612" name="Shape 16"/>
          <p:cNvSpPr/>
          <p:nvPr/>
        </p:nvSpPr>
        <p:spPr>
          <a:xfrm>
            <a:off x="4754879" y="1280160"/>
            <a:ext cx="3611881" cy="5074921"/>
          </a:xfrm>
          <a:prstGeom prst="roundRect">
            <a:avLst>
              <a:gd name="adj" fmla="val 2532"/>
            </a:avLst>
          </a:prstGeom>
          <a:solidFill>
            <a:srgbClr val="14203F"/>
          </a:solidFill>
          <a:ln>
            <a:solidFill>
              <a:srgbClr val="2A3B6B"/>
            </a:solidFill>
          </a:ln>
        </p:spPr>
        <p:txBody>
          <a:bodyPr lIns="45719" rIns="45719"/>
          <a:lstStyle/>
          <a:p>
            <a:pPr/>
          </a:p>
        </p:txBody>
      </p:sp>
      <p:sp>
        <p:nvSpPr>
          <p:cNvPr id="613" name="Text 17"/>
          <p:cNvSpPr txBox="1"/>
          <p:nvPr/>
        </p:nvSpPr>
        <p:spPr>
          <a:xfrm>
            <a:off x="4754879" y="1389888"/>
            <a:ext cx="3611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600">
                <a:solidFill>
                  <a:srgbClr val="F1F5F9"/>
                </a:solidFill>
              </a:defRPr>
            </a:lvl1pPr>
          </a:lstStyle>
          <a:p>
            <a:pPr/>
            <a:r>
              <a:t>Recursion tree</a:t>
            </a:r>
          </a:p>
        </p:txBody>
      </p:sp>
      <p:sp>
        <p:nvSpPr>
          <p:cNvPr id="614" name="Text 18"/>
          <p:cNvSpPr txBox="1"/>
          <p:nvPr/>
        </p:nvSpPr>
        <p:spPr>
          <a:xfrm>
            <a:off x="7360919" y="1783079"/>
            <a:ext cx="96012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A9B8D4"/>
                </a:solidFill>
              </a:defRPr>
            </a:lvl1pPr>
          </a:lstStyle>
          <a:p>
            <a:pPr/>
            <a:r>
              <a:t>work per level</a:t>
            </a:r>
          </a:p>
        </p:txBody>
      </p:sp>
      <p:grpSp>
        <p:nvGrpSpPr>
          <p:cNvPr id="617" name="Text 19"/>
          <p:cNvGrpSpPr/>
          <p:nvPr/>
        </p:nvGrpSpPr>
        <p:grpSpPr>
          <a:xfrm>
            <a:off x="4846320" y="1828800"/>
            <a:ext cx="2377441" cy="420624"/>
            <a:chOff x="0" y="0"/>
            <a:chExt cx="2377439" cy="420623"/>
          </a:xfrm>
        </p:grpSpPr>
        <p:sp>
          <p:nvSpPr>
            <p:cNvPr id="615" name="Rectangle"/>
            <p:cNvSpPr/>
            <p:nvPr/>
          </p:nvSpPr>
          <p:spPr>
            <a:xfrm>
              <a:off x="0" y="0"/>
              <a:ext cx="2377440" cy="420624"/>
            </a:xfrm>
            <a:prstGeom prst="rect">
              <a:avLst/>
            </a:prstGeom>
            <a:solidFill>
              <a:srgbClr val="A5F3FC"/>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16" name="n"/>
            <p:cNvSpPr txBox="1"/>
            <p:nvPr/>
          </p:nvSpPr>
          <p:spPr>
            <a:xfrm>
              <a:off x="6350" y="115632"/>
              <a:ext cx="2364740"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a:t>
              </a:r>
            </a:p>
          </p:txBody>
        </p:sp>
      </p:grpSp>
      <p:sp>
        <p:nvSpPr>
          <p:cNvPr id="618" name="Text 20"/>
          <p:cNvSpPr txBox="1"/>
          <p:nvPr/>
        </p:nvSpPr>
        <p:spPr>
          <a:xfrm>
            <a:off x="7498080" y="1945833"/>
            <a:ext cx="7315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chemeClr val="accent3"/>
                </a:solidFill>
              </a:defRPr>
            </a:lvl1pPr>
          </a:lstStyle>
          <a:p>
            <a:pPr/>
            <a:r>
              <a:t>= n</a:t>
            </a:r>
          </a:p>
        </p:txBody>
      </p:sp>
      <p:grpSp>
        <p:nvGrpSpPr>
          <p:cNvPr id="621" name="Text 21"/>
          <p:cNvGrpSpPr/>
          <p:nvPr/>
        </p:nvGrpSpPr>
        <p:grpSpPr>
          <a:xfrm>
            <a:off x="4855464" y="2514600"/>
            <a:ext cx="1143001" cy="420624"/>
            <a:chOff x="0" y="0"/>
            <a:chExt cx="1143000" cy="420623"/>
          </a:xfrm>
        </p:grpSpPr>
        <p:sp>
          <p:nvSpPr>
            <p:cNvPr id="619" name="Rectangle"/>
            <p:cNvSpPr/>
            <p:nvPr/>
          </p:nvSpPr>
          <p:spPr>
            <a:xfrm>
              <a:off x="0" y="0"/>
              <a:ext cx="1143000" cy="420624"/>
            </a:xfrm>
            <a:prstGeom prst="rect">
              <a:avLst/>
            </a:prstGeom>
            <a:solidFill>
              <a:srgbClr val="67E8F9"/>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20" name="n/2"/>
            <p:cNvSpPr txBox="1"/>
            <p:nvPr/>
          </p:nvSpPr>
          <p:spPr>
            <a:xfrm>
              <a:off x="6350" y="115632"/>
              <a:ext cx="1130300"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n/2</a:t>
              </a:r>
            </a:p>
          </p:txBody>
        </p:sp>
      </p:grpSp>
      <p:grpSp>
        <p:nvGrpSpPr>
          <p:cNvPr id="624" name="Text 22"/>
          <p:cNvGrpSpPr/>
          <p:nvPr/>
        </p:nvGrpSpPr>
        <p:grpSpPr>
          <a:xfrm>
            <a:off x="6071615" y="2514600"/>
            <a:ext cx="1143001" cy="420624"/>
            <a:chOff x="0" y="0"/>
            <a:chExt cx="1143000" cy="420623"/>
          </a:xfrm>
        </p:grpSpPr>
        <p:sp>
          <p:nvSpPr>
            <p:cNvPr id="622" name="Rectangle"/>
            <p:cNvSpPr/>
            <p:nvPr/>
          </p:nvSpPr>
          <p:spPr>
            <a:xfrm>
              <a:off x="0" y="0"/>
              <a:ext cx="1143000" cy="420624"/>
            </a:xfrm>
            <a:prstGeom prst="rect">
              <a:avLst/>
            </a:prstGeom>
            <a:solidFill>
              <a:srgbClr val="67E8F9"/>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23" name="n/2"/>
            <p:cNvSpPr txBox="1"/>
            <p:nvPr/>
          </p:nvSpPr>
          <p:spPr>
            <a:xfrm>
              <a:off x="6350" y="115632"/>
              <a:ext cx="1130300"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n/2</a:t>
              </a:r>
            </a:p>
          </p:txBody>
        </p:sp>
      </p:grpSp>
      <p:sp>
        <p:nvSpPr>
          <p:cNvPr id="625" name="Text 23"/>
          <p:cNvSpPr txBox="1"/>
          <p:nvPr/>
        </p:nvSpPr>
        <p:spPr>
          <a:xfrm>
            <a:off x="7498080" y="2631633"/>
            <a:ext cx="7315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chemeClr val="accent3"/>
                </a:solidFill>
              </a:defRPr>
            </a:lvl1pPr>
          </a:lstStyle>
          <a:p>
            <a:pPr/>
            <a:r>
              <a:t>= n</a:t>
            </a:r>
          </a:p>
        </p:txBody>
      </p:sp>
      <p:grpSp>
        <p:nvGrpSpPr>
          <p:cNvPr id="628" name="Text 24"/>
          <p:cNvGrpSpPr/>
          <p:nvPr/>
        </p:nvGrpSpPr>
        <p:grpSpPr>
          <a:xfrm>
            <a:off x="4828032" y="3200400"/>
            <a:ext cx="548641" cy="420624"/>
            <a:chOff x="0" y="0"/>
            <a:chExt cx="548640" cy="420623"/>
          </a:xfrm>
        </p:grpSpPr>
        <p:sp>
          <p:nvSpPr>
            <p:cNvPr id="626" name="Rectangle"/>
            <p:cNvSpPr/>
            <p:nvPr/>
          </p:nvSpPr>
          <p:spPr>
            <a:xfrm>
              <a:off x="-1" y="0"/>
              <a:ext cx="548642" cy="420624"/>
            </a:xfrm>
            <a:prstGeom prst="rect">
              <a:avLst/>
            </a:prstGeom>
            <a:solidFill>
              <a:schemeClr val="accent1"/>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27" name="n/4"/>
            <p:cNvSpPr txBox="1"/>
            <p:nvPr/>
          </p:nvSpPr>
          <p:spPr>
            <a:xfrm>
              <a:off x="6349" y="115632"/>
              <a:ext cx="535942"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n/4</a:t>
              </a:r>
            </a:p>
          </p:txBody>
        </p:sp>
      </p:grpSp>
      <p:grpSp>
        <p:nvGrpSpPr>
          <p:cNvPr id="631" name="Text 25"/>
          <p:cNvGrpSpPr/>
          <p:nvPr/>
        </p:nvGrpSpPr>
        <p:grpSpPr>
          <a:xfrm>
            <a:off x="5449823" y="3200400"/>
            <a:ext cx="548641" cy="420624"/>
            <a:chOff x="0" y="0"/>
            <a:chExt cx="548640" cy="420623"/>
          </a:xfrm>
        </p:grpSpPr>
        <p:sp>
          <p:nvSpPr>
            <p:cNvPr id="629" name="Rectangle"/>
            <p:cNvSpPr/>
            <p:nvPr/>
          </p:nvSpPr>
          <p:spPr>
            <a:xfrm>
              <a:off x="-1" y="0"/>
              <a:ext cx="548642" cy="420624"/>
            </a:xfrm>
            <a:prstGeom prst="rect">
              <a:avLst/>
            </a:prstGeom>
            <a:solidFill>
              <a:schemeClr val="accent1"/>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30" name="n/4"/>
            <p:cNvSpPr txBox="1"/>
            <p:nvPr/>
          </p:nvSpPr>
          <p:spPr>
            <a:xfrm>
              <a:off x="6349" y="115632"/>
              <a:ext cx="535942"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n/4</a:t>
              </a:r>
            </a:p>
          </p:txBody>
        </p:sp>
      </p:grpSp>
      <p:grpSp>
        <p:nvGrpSpPr>
          <p:cNvPr id="634" name="Text 26"/>
          <p:cNvGrpSpPr/>
          <p:nvPr/>
        </p:nvGrpSpPr>
        <p:grpSpPr>
          <a:xfrm>
            <a:off x="6071615" y="3200400"/>
            <a:ext cx="548641" cy="420624"/>
            <a:chOff x="0" y="0"/>
            <a:chExt cx="548640" cy="420623"/>
          </a:xfrm>
        </p:grpSpPr>
        <p:sp>
          <p:nvSpPr>
            <p:cNvPr id="632" name="Rectangle"/>
            <p:cNvSpPr/>
            <p:nvPr/>
          </p:nvSpPr>
          <p:spPr>
            <a:xfrm>
              <a:off x="-1" y="0"/>
              <a:ext cx="548642" cy="420624"/>
            </a:xfrm>
            <a:prstGeom prst="rect">
              <a:avLst/>
            </a:prstGeom>
            <a:solidFill>
              <a:schemeClr val="accent1"/>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33" name="n/4"/>
            <p:cNvSpPr txBox="1"/>
            <p:nvPr/>
          </p:nvSpPr>
          <p:spPr>
            <a:xfrm>
              <a:off x="6349" y="115632"/>
              <a:ext cx="535942"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n/4</a:t>
              </a:r>
            </a:p>
          </p:txBody>
        </p:sp>
      </p:grpSp>
      <p:grpSp>
        <p:nvGrpSpPr>
          <p:cNvPr id="637" name="Text 27"/>
          <p:cNvGrpSpPr/>
          <p:nvPr/>
        </p:nvGrpSpPr>
        <p:grpSpPr>
          <a:xfrm>
            <a:off x="6693407" y="3200400"/>
            <a:ext cx="548641" cy="420624"/>
            <a:chOff x="0" y="0"/>
            <a:chExt cx="548640" cy="420623"/>
          </a:xfrm>
        </p:grpSpPr>
        <p:sp>
          <p:nvSpPr>
            <p:cNvPr id="635" name="Rectangle"/>
            <p:cNvSpPr/>
            <p:nvPr/>
          </p:nvSpPr>
          <p:spPr>
            <a:xfrm>
              <a:off x="-1" y="0"/>
              <a:ext cx="548642" cy="420624"/>
            </a:xfrm>
            <a:prstGeom prst="rect">
              <a:avLst/>
            </a:prstGeom>
            <a:solidFill>
              <a:schemeClr val="accent1"/>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36" name="n/4"/>
            <p:cNvSpPr txBox="1"/>
            <p:nvPr/>
          </p:nvSpPr>
          <p:spPr>
            <a:xfrm>
              <a:off x="6349" y="115632"/>
              <a:ext cx="535942"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n/4</a:t>
              </a:r>
            </a:p>
          </p:txBody>
        </p:sp>
      </p:grpSp>
      <p:sp>
        <p:nvSpPr>
          <p:cNvPr id="638" name="Text 28"/>
          <p:cNvSpPr txBox="1"/>
          <p:nvPr/>
        </p:nvSpPr>
        <p:spPr>
          <a:xfrm>
            <a:off x="7498080" y="3317433"/>
            <a:ext cx="7315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chemeClr val="accent3"/>
                </a:solidFill>
              </a:defRPr>
            </a:lvl1pPr>
          </a:lstStyle>
          <a:p>
            <a:pPr/>
            <a:r>
              <a:t>= n</a:t>
            </a:r>
          </a:p>
        </p:txBody>
      </p:sp>
      <p:sp>
        <p:nvSpPr>
          <p:cNvPr id="639" name="Text 29"/>
          <p:cNvSpPr txBox="1"/>
          <p:nvPr/>
        </p:nvSpPr>
        <p:spPr>
          <a:xfrm>
            <a:off x="5120640" y="3657600"/>
            <a:ext cx="18288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000">
                <a:solidFill>
                  <a:srgbClr val="A9B8D4"/>
                </a:solidFill>
              </a:defRPr>
            </a:lvl1pPr>
          </a:lstStyle>
          <a:p>
            <a:pPr/>
            <a:r>
              <a:t>...</a:t>
            </a:r>
          </a:p>
        </p:txBody>
      </p:sp>
      <p:grpSp>
        <p:nvGrpSpPr>
          <p:cNvPr id="642" name="Text 30"/>
          <p:cNvGrpSpPr/>
          <p:nvPr/>
        </p:nvGrpSpPr>
        <p:grpSpPr>
          <a:xfrm>
            <a:off x="4846320" y="4114800"/>
            <a:ext cx="265177" cy="420624"/>
            <a:chOff x="0" y="0"/>
            <a:chExt cx="265175" cy="420623"/>
          </a:xfrm>
        </p:grpSpPr>
        <p:sp>
          <p:nvSpPr>
            <p:cNvPr id="640"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41"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45" name="Text 31"/>
          <p:cNvGrpSpPr/>
          <p:nvPr/>
        </p:nvGrpSpPr>
        <p:grpSpPr>
          <a:xfrm>
            <a:off x="5148071" y="4114800"/>
            <a:ext cx="265177" cy="420624"/>
            <a:chOff x="0" y="0"/>
            <a:chExt cx="265175" cy="420623"/>
          </a:xfrm>
        </p:grpSpPr>
        <p:sp>
          <p:nvSpPr>
            <p:cNvPr id="643"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44"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48" name="Text 32"/>
          <p:cNvGrpSpPr/>
          <p:nvPr/>
        </p:nvGrpSpPr>
        <p:grpSpPr>
          <a:xfrm>
            <a:off x="5449823" y="4114800"/>
            <a:ext cx="265177" cy="420624"/>
            <a:chOff x="0" y="0"/>
            <a:chExt cx="265175" cy="420623"/>
          </a:xfrm>
        </p:grpSpPr>
        <p:sp>
          <p:nvSpPr>
            <p:cNvPr id="646"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47"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51" name="Text 33"/>
          <p:cNvGrpSpPr/>
          <p:nvPr/>
        </p:nvGrpSpPr>
        <p:grpSpPr>
          <a:xfrm>
            <a:off x="5751576" y="4114800"/>
            <a:ext cx="265177" cy="420624"/>
            <a:chOff x="0" y="0"/>
            <a:chExt cx="265175" cy="420623"/>
          </a:xfrm>
        </p:grpSpPr>
        <p:sp>
          <p:nvSpPr>
            <p:cNvPr id="649"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50"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54" name="Text 34"/>
          <p:cNvGrpSpPr/>
          <p:nvPr/>
        </p:nvGrpSpPr>
        <p:grpSpPr>
          <a:xfrm>
            <a:off x="6053328" y="4114800"/>
            <a:ext cx="265177" cy="420624"/>
            <a:chOff x="0" y="0"/>
            <a:chExt cx="265175" cy="420623"/>
          </a:xfrm>
        </p:grpSpPr>
        <p:sp>
          <p:nvSpPr>
            <p:cNvPr id="652"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53"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57" name="Text 35"/>
          <p:cNvGrpSpPr/>
          <p:nvPr/>
        </p:nvGrpSpPr>
        <p:grpSpPr>
          <a:xfrm>
            <a:off x="6355079" y="4114800"/>
            <a:ext cx="265177" cy="420624"/>
            <a:chOff x="0" y="0"/>
            <a:chExt cx="265175" cy="420623"/>
          </a:xfrm>
        </p:grpSpPr>
        <p:sp>
          <p:nvSpPr>
            <p:cNvPr id="655"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56"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60" name="Text 36"/>
          <p:cNvGrpSpPr/>
          <p:nvPr/>
        </p:nvGrpSpPr>
        <p:grpSpPr>
          <a:xfrm>
            <a:off x="6656831" y="4114800"/>
            <a:ext cx="265177" cy="420624"/>
            <a:chOff x="0" y="0"/>
            <a:chExt cx="265175" cy="420623"/>
          </a:xfrm>
        </p:grpSpPr>
        <p:sp>
          <p:nvSpPr>
            <p:cNvPr id="658"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59"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grpSp>
        <p:nvGrpSpPr>
          <p:cNvPr id="663" name="Text 37"/>
          <p:cNvGrpSpPr/>
          <p:nvPr/>
        </p:nvGrpSpPr>
        <p:grpSpPr>
          <a:xfrm>
            <a:off x="6958583" y="4114800"/>
            <a:ext cx="265177" cy="420624"/>
            <a:chOff x="0" y="0"/>
            <a:chExt cx="265175" cy="420623"/>
          </a:xfrm>
        </p:grpSpPr>
        <p:sp>
          <p:nvSpPr>
            <p:cNvPr id="661" name="Rectangle"/>
            <p:cNvSpPr/>
            <p:nvPr/>
          </p:nvSpPr>
          <p:spPr>
            <a:xfrm>
              <a:off x="0" y="0"/>
              <a:ext cx="265176" cy="420624"/>
            </a:xfrm>
            <a:prstGeom prst="rect">
              <a:avLst/>
            </a:prstGeom>
            <a:solidFill>
              <a:srgbClr val="06B6D4"/>
            </a:solidFill>
            <a:ln w="12700" cap="flat">
              <a:solidFill>
                <a:srgbClr val="0B1226"/>
              </a:solidFill>
              <a:prstDash val="solid"/>
              <a:round/>
            </a:ln>
            <a:effectLst/>
          </p:spPr>
          <p:txBody>
            <a:bodyPr wrap="square" lIns="45719" tIns="45719" rIns="45719" bIns="45719" numCol="1" anchor="ctr">
              <a:noAutofit/>
            </a:bodyPr>
            <a:lstStyle/>
            <a:p>
              <a:pPr algn="ctr">
                <a:defRPr sz="1400"/>
              </a:pPr>
            </a:p>
          </p:txBody>
        </p:sp>
        <p:sp>
          <p:nvSpPr>
            <p:cNvPr id="662" name="1"/>
            <p:cNvSpPr txBox="1"/>
            <p:nvPr/>
          </p:nvSpPr>
          <p:spPr>
            <a:xfrm>
              <a:off x="6350" y="115632"/>
              <a:ext cx="252476" cy="189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lvl1pPr>
            </a:lstStyle>
            <a:p>
              <a:pPr/>
              <a:r>
                <a:t>1</a:t>
              </a:r>
            </a:p>
          </p:txBody>
        </p:sp>
      </p:grpSp>
      <p:sp>
        <p:nvSpPr>
          <p:cNvPr id="664" name="Text 38"/>
          <p:cNvSpPr txBox="1"/>
          <p:nvPr/>
        </p:nvSpPr>
        <p:spPr>
          <a:xfrm>
            <a:off x="7498080" y="4231833"/>
            <a:ext cx="7315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chemeClr val="accent3"/>
                </a:solidFill>
              </a:defRPr>
            </a:lvl1pPr>
          </a:lstStyle>
          <a:p>
            <a:pPr/>
            <a:r>
              <a:t>= n</a:t>
            </a:r>
          </a:p>
        </p:txBody>
      </p:sp>
      <p:sp>
        <p:nvSpPr>
          <p:cNvPr id="665" name="Shape 39"/>
          <p:cNvSpPr/>
          <p:nvPr/>
        </p:nvSpPr>
        <p:spPr>
          <a:xfrm>
            <a:off x="4937759" y="4846320"/>
            <a:ext cx="3246121" cy="1325881"/>
          </a:xfrm>
          <a:prstGeom prst="roundRect">
            <a:avLst>
              <a:gd name="adj" fmla="val 6897"/>
            </a:avLst>
          </a:prstGeom>
          <a:solidFill>
            <a:srgbClr val="1B2A52"/>
          </a:solidFill>
          <a:ln>
            <a:solidFill>
              <a:srgbClr val="2A3B6B"/>
            </a:solidFill>
          </a:ln>
        </p:spPr>
        <p:txBody>
          <a:bodyPr lIns="45719" rIns="45719"/>
          <a:lstStyle/>
          <a:p>
            <a:pPr/>
          </a:p>
        </p:txBody>
      </p:sp>
      <p:sp>
        <p:nvSpPr>
          <p:cNvPr id="666" name="Text 40"/>
          <p:cNvSpPr txBox="1"/>
          <p:nvPr/>
        </p:nvSpPr>
        <p:spPr>
          <a:xfrm>
            <a:off x="4937759" y="5096336"/>
            <a:ext cx="3246121" cy="8258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a:solidFill>
                  <a:schemeClr val="accent1"/>
                </a:solidFill>
              </a:defRPr>
            </a:pPr>
            <a:r>
              <a:t>log₂ n levels</a:t>
            </a:r>
          </a:p>
          <a:p>
            <a:pPr algn="ctr">
              <a:defRPr b="1">
                <a:solidFill>
                  <a:schemeClr val="accent3"/>
                </a:solidFill>
              </a:defRPr>
            </a:pPr>
            <a:r>
              <a:t>×  n work per level</a:t>
            </a:r>
          </a:p>
          <a:p>
            <a:pPr algn="ctr">
              <a:defRPr b="1">
                <a:solidFill>
                  <a:schemeClr val="accent4"/>
                </a:solidFill>
              </a:defRPr>
            </a:pPr>
            <a:r>
              <a:t>=  O(n log n)</a:t>
            </a:r>
          </a:p>
        </p:txBody>
      </p:sp>
      <p:graphicFrame>
        <p:nvGraphicFramePr>
          <p:cNvPr id="667" name="Table 0"/>
          <p:cNvGraphicFramePr/>
          <p:nvPr/>
        </p:nvGraphicFramePr>
        <p:xfrm>
          <a:off x="8595359" y="1280160"/>
          <a:ext cx="3108961" cy="192024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83079"/>
                <a:gridCol w="1325880"/>
              </a:tblGrid>
              <a:tr h="384048">
                <a:tc>
                  <a:txBody>
                    <a:bodyPr/>
                    <a:lstStyle/>
                    <a:p>
                      <a:pPr algn="ctr">
                        <a:defRPr sz="1800">
                          <a:solidFill>
                            <a:srgbClr val="000000"/>
                          </a:solidFill>
                        </a:defRPr>
                      </a:pPr>
                      <a:r>
                        <a:rPr b="1" sz="1400">
                          <a:solidFill>
                            <a:schemeClr val="accent1"/>
                          </a:solidFill>
                        </a:rPr>
                        <a:t>Measure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400">
                          <a:solidFill>
                            <a:schemeClr val="accent1"/>
                          </a:solidFill>
                        </a:rPr>
                        <a:t>Complexity</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r>
              <a:tr h="384048">
                <a:tc>
                  <a:txBody>
                    <a:bodyPr/>
                    <a:lstStyle/>
                    <a:p>
                      <a:pPr algn="l">
                        <a:defRPr sz="1800">
                          <a:solidFill>
                            <a:srgbClr val="000000"/>
                          </a:solidFill>
                        </a:defRPr>
                      </a:pPr>
                      <a:r>
                        <a:rPr sz="1400">
                          <a:solidFill>
                            <a:srgbClr val="F1F5F9"/>
                          </a:solidFill>
                        </a:rPr>
                        <a:t>Best case (time)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O(n log 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84048">
                <a:tc>
                  <a:txBody>
                    <a:bodyPr/>
                    <a:lstStyle/>
                    <a:p>
                      <a:pPr algn="l">
                        <a:defRPr sz="1800">
                          <a:solidFill>
                            <a:srgbClr val="000000"/>
                          </a:solidFill>
                        </a:defRPr>
                      </a:pPr>
                      <a:r>
                        <a:rPr sz="1400">
                          <a:solidFill>
                            <a:srgbClr val="F1F5F9"/>
                          </a:solidFill>
                        </a:rPr>
                        <a:t>Average case (time)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O(n log 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84048">
                <a:tc>
                  <a:txBody>
                    <a:bodyPr/>
                    <a:lstStyle/>
                    <a:p>
                      <a:pPr algn="l">
                        <a:defRPr sz="1800">
                          <a:solidFill>
                            <a:srgbClr val="000000"/>
                          </a:solidFill>
                        </a:defRPr>
                      </a:pPr>
                      <a:r>
                        <a:rPr sz="1400">
                          <a:solidFill>
                            <a:srgbClr val="F1F5F9"/>
                          </a:solidFill>
                        </a:rPr>
                        <a:t>Worst case (time)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3"/>
                          </a:solidFill>
                        </a:rPr>
                        <a:t>O(n log 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384048">
                <a:tc>
                  <a:txBody>
                    <a:bodyPr/>
                    <a:lstStyle/>
                    <a:p>
                      <a:pPr algn="l">
                        <a:defRPr sz="1800">
                          <a:solidFill>
                            <a:srgbClr val="000000"/>
                          </a:solidFill>
                        </a:defRPr>
                      </a:pPr>
                      <a:r>
                        <a:rPr b="1" sz="1400">
                          <a:solidFill>
                            <a:schemeClr val="accent4"/>
                          </a:solidFill>
                        </a:rPr>
                        <a:t>Auxiliary space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400">
                          <a:solidFill>
                            <a:schemeClr val="accent4"/>
                          </a:solidFill>
                        </a:rPr>
                        <a:t>O(n)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bl>
          </a:graphicData>
        </a:graphic>
      </p:graphicFrame>
      <p:sp>
        <p:nvSpPr>
          <p:cNvPr id="668" name="Shape 41"/>
          <p:cNvSpPr/>
          <p:nvPr/>
        </p:nvSpPr>
        <p:spPr>
          <a:xfrm>
            <a:off x="8595359" y="3383279"/>
            <a:ext cx="3108961" cy="914401"/>
          </a:xfrm>
          <a:prstGeom prst="roundRect">
            <a:avLst>
              <a:gd name="adj" fmla="val 10000"/>
            </a:avLst>
          </a:prstGeom>
          <a:solidFill>
            <a:srgbClr val="14203F"/>
          </a:solidFill>
          <a:ln>
            <a:solidFill>
              <a:srgbClr val="2A3B6B"/>
            </a:solidFill>
          </a:ln>
        </p:spPr>
        <p:txBody>
          <a:bodyPr lIns="45719" rIns="45719"/>
          <a:lstStyle/>
          <a:p>
            <a:pPr/>
          </a:p>
        </p:txBody>
      </p:sp>
      <p:sp>
        <p:nvSpPr>
          <p:cNvPr id="669" name="Text 42"/>
          <p:cNvSpPr txBox="1"/>
          <p:nvPr/>
        </p:nvSpPr>
        <p:spPr>
          <a:xfrm>
            <a:off x="8778240" y="3513644"/>
            <a:ext cx="278892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3"/>
                </a:solidFill>
              </a:defRPr>
            </a:pPr>
            <a:r>
              <a:t>Stable</a:t>
            </a:r>
            <a:endParaRPr sz="1400"/>
          </a:p>
          <a:p>
            <a:pPr>
              <a:defRPr sz="1400">
                <a:solidFill>
                  <a:srgbClr val="F1F5F9"/>
                </a:solidFill>
              </a:defRPr>
            </a:pPr>
            <a:r>
              <a:t>Equal elements keep their original order.</a:t>
            </a:r>
          </a:p>
        </p:txBody>
      </p:sp>
      <p:sp>
        <p:nvSpPr>
          <p:cNvPr id="670" name="Shape 43"/>
          <p:cNvSpPr/>
          <p:nvPr/>
        </p:nvSpPr>
        <p:spPr>
          <a:xfrm>
            <a:off x="8595359" y="4389120"/>
            <a:ext cx="3108961" cy="914401"/>
          </a:xfrm>
          <a:prstGeom prst="roundRect">
            <a:avLst>
              <a:gd name="adj" fmla="val 10000"/>
            </a:avLst>
          </a:prstGeom>
          <a:solidFill>
            <a:srgbClr val="14203F"/>
          </a:solidFill>
          <a:ln>
            <a:solidFill>
              <a:srgbClr val="2A3B6B"/>
            </a:solidFill>
          </a:ln>
        </p:spPr>
        <p:txBody>
          <a:bodyPr lIns="45719" rIns="45719"/>
          <a:lstStyle/>
          <a:p>
            <a:pPr/>
          </a:p>
        </p:txBody>
      </p:sp>
      <p:sp>
        <p:nvSpPr>
          <p:cNvPr id="671" name="Text 44"/>
          <p:cNvSpPr txBox="1"/>
          <p:nvPr/>
        </p:nvSpPr>
        <p:spPr>
          <a:xfrm>
            <a:off x="8778240" y="4519484"/>
            <a:ext cx="2788921" cy="671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6"/>
                </a:solidFill>
              </a:defRPr>
            </a:pPr>
            <a:r>
              <a:t>Not in-place</a:t>
            </a:r>
            <a:endParaRPr sz="1400"/>
          </a:p>
          <a:p>
            <a:pPr>
              <a:defRPr sz="1400">
                <a:solidFill>
                  <a:srgbClr val="F1F5F9"/>
                </a:solidFill>
              </a:defRPr>
            </a:pPr>
            <a:r>
              <a:t>Standard version needs an O(n) temporary array.</a:t>
            </a:r>
          </a:p>
        </p:txBody>
      </p:sp>
      <p:sp>
        <p:nvSpPr>
          <p:cNvPr id="672" name="Shape 45"/>
          <p:cNvSpPr/>
          <p:nvPr/>
        </p:nvSpPr>
        <p:spPr>
          <a:xfrm>
            <a:off x="8595359" y="5394959"/>
            <a:ext cx="3108961" cy="914401"/>
          </a:xfrm>
          <a:prstGeom prst="roundRect">
            <a:avLst>
              <a:gd name="adj" fmla="val 10000"/>
            </a:avLst>
          </a:prstGeom>
          <a:solidFill>
            <a:srgbClr val="14203F"/>
          </a:solidFill>
          <a:ln>
            <a:solidFill>
              <a:srgbClr val="2A3B6B"/>
            </a:solidFill>
          </a:ln>
        </p:spPr>
        <p:txBody>
          <a:bodyPr lIns="45719" rIns="45719"/>
          <a:lstStyle/>
          <a:p>
            <a:pPr/>
          </a:p>
        </p:txBody>
      </p:sp>
      <p:sp>
        <p:nvSpPr>
          <p:cNvPr id="673" name="Text 46"/>
          <p:cNvSpPr txBox="1"/>
          <p:nvPr/>
        </p:nvSpPr>
        <p:spPr>
          <a:xfrm>
            <a:off x="8778240" y="5639624"/>
            <a:ext cx="2788921" cy="443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chemeClr val="accent2"/>
                </a:solidFill>
              </a:defRPr>
            </a:pPr>
            <a:r>
              <a:t>Divide and conquer</a:t>
            </a:r>
            <a:endParaRPr sz="1400"/>
          </a:p>
          <a:p>
            <a:pPr>
              <a:defRPr sz="1400">
                <a:solidFill>
                  <a:srgbClr val="F1F5F9"/>
                </a:solidFill>
              </a:defRPr>
            </a:pPr>
            <a:r>
              <a:t>Recursive: split, solve, combine.</a:t>
            </a:r>
          </a:p>
        </p:txBody>
      </p:sp>
      <p:sp>
        <p:nvSpPr>
          <p:cNvPr id="674"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8" name="Text 0"/>
          <p:cNvSpPr txBox="1"/>
          <p:nvPr>
            <p:ph type="title"/>
          </p:nvPr>
        </p:nvSpPr>
        <p:spPr>
          <a:xfrm>
            <a:off x="548639" y="320039"/>
            <a:ext cx="11064242" cy="731522"/>
          </a:xfrm>
          <a:prstGeom prst="rect">
            <a:avLst/>
          </a:prstGeom>
        </p:spPr>
        <p:txBody>
          <a:bodyPr lIns="0" tIns="0" rIns="0" bIns="0" anchor="ctr"/>
          <a:lstStyle/>
          <a:p>
            <a:pPr/>
            <a:r>
              <a:t>Advantages, Limitations, Applications, and Conclusion</a:t>
            </a:r>
          </a:p>
        </p:txBody>
      </p:sp>
      <p:sp>
        <p:nvSpPr>
          <p:cNvPr id="679" name="Shape 1"/>
          <p:cNvSpPr/>
          <p:nvPr/>
        </p:nvSpPr>
        <p:spPr>
          <a:xfrm>
            <a:off x="548640" y="1280160"/>
            <a:ext cx="3566160" cy="2697480"/>
          </a:xfrm>
          <a:prstGeom prst="roundRect">
            <a:avLst>
              <a:gd name="adj" fmla="val 3390"/>
            </a:avLst>
          </a:prstGeom>
          <a:solidFill>
            <a:srgbClr val="14203F"/>
          </a:solidFill>
          <a:ln>
            <a:solidFill>
              <a:srgbClr val="2A3B6B"/>
            </a:solidFill>
          </a:ln>
        </p:spPr>
        <p:txBody>
          <a:bodyPr lIns="45719" rIns="45719"/>
          <a:lstStyle/>
          <a:p>
            <a:pPr/>
          </a:p>
        </p:txBody>
      </p:sp>
      <p:sp>
        <p:nvSpPr>
          <p:cNvPr id="680" name="Text 2"/>
          <p:cNvSpPr txBox="1"/>
          <p:nvPr/>
        </p:nvSpPr>
        <p:spPr>
          <a:xfrm>
            <a:off x="777240" y="1475829"/>
            <a:ext cx="310896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3"/>
                </a:solidFill>
              </a:defRPr>
            </a:lvl1pPr>
          </a:lstStyle>
          <a:p>
            <a:pPr/>
            <a:r>
              <a:t>Advantages</a:t>
            </a:r>
          </a:p>
        </p:txBody>
      </p:sp>
      <p:sp>
        <p:nvSpPr>
          <p:cNvPr id="681" name="Text 3"/>
          <p:cNvSpPr txBox="1"/>
          <p:nvPr/>
        </p:nvSpPr>
        <p:spPr>
          <a:xfrm>
            <a:off x="777240" y="1965960"/>
            <a:ext cx="3200401" cy="1362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900"/>
              </a:spcBef>
              <a:buSzPct val="100000"/>
              <a:buChar char="•"/>
              <a:defRPr sz="1700">
                <a:solidFill>
                  <a:srgbClr val="F1F5F9"/>
                </a:solidFill>
              </a:defRPr>
            </a:pPr>
            <a:r>
              <a:t>Guaranteed O(n log n) time</a:t>
            </a:r>
          </a:p>
          <a:p>
            <a:pPr marL="203200" indent="-203200">
              <a:spcBef>
                <a:spcPts val="900"/>
              </a:spcBef>
              <a:buSzPct val="100000"/>
              <a:buChar char="•"/>
              <a:defRPr sz="1700">
                <a:solidFill>
                  <a:srgbClr val="F1F5F9"/>
                </a:solidFill>
              </a:defRPr>
            </a:pPr>
            <a:r>
              <a:t>Stable sort</a:t>
            </a:r>
          </a:p>
          <a:p>
            <a:pPr marL="203200" indent="-203200">
              <a:spcBef>
                <a:spcPts val="900"/>
              </a:spcBef>
              <a:buSzPct val="100000"/>
              <a:buChar char="•"/>
              <a:defRPr sz="1700">
                <a:solidFill>
                  <a:srgbClr val="F1F5F9"/>
                </a:solidFill>
              </a:defRPr>
            </a:pPr>
            <a:r>
              <a:t>Scales to large datasets</a:t>
            </a:r>
          </a:p>
          <a:p>
            <a:pPr marL="203200" indent="-203200">
              <a:spcBef>
                <a:spcPts val="900"/>
              </a:spcBef>
              <a:buSzPct val="100000"/>
              <a:buChar char="•"/>
              <a:defRPr sz="1700">
                <a:solidFill>
                  <a:srgbClr val="F1F5F9"/>
                </a:solidFill>
              </a:defRPr>
            </a:pPr>
            <a:r>
              <a:t>Easy on linked lists</a:t>
            </a:r>
          </a:p>
        </p:txBody>
      </p:sp>
      <p:sp>
        <p:nvSpPr>
          <p:cNvPr id="682" name="Shape 4"/>
          <p:cNvSpPr/>
          <p:nvPr/>
        </p:nvSpPr>
        <p:spPr>
          <a:xfrm>
            <a:off x="4297679" y="1280160"/>
            <a:ext cx="3566161" cy="2697480"/>
          </a:xfrm>
          <a:prstGeom prst="roundRect">
            <a:avLst>
              <a:gd name="adj" fmla="val 3390"/>
            </a:avLst>
          </a:prstGeom>
          <a:solidFill>
            <a:srgbClr val="14203F"/>
          </a:solidFill>
          <a:ln>
            <a:solidFill>
              <a:srgbClr val="2A3B6B"/>
            </a:solidFill>
          </a:ln>
        </p:spPr>
        <p:txBody>
          <a:bodyPr lIns="45719" rIns="45719"/>
          <a:lstStyle/>
          <a:p>
            <a:pPr/>
          </a:p>
        </p:txBody>
      </p:sp>
      <p:sp>
        <p:nvSpPr>
          <p:cNvPr id="683" name="Text 5"/>
          <p:cNvSpPr txBox="1"/>
          <p:nvPr/>
        </p:nvSpPr>
        <p:spPr>
          <a:xfrm>
            <a:off x="4526279" y="1475829"/>
            <a:ext cx="310896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4"/>
                </a:solidFill>
              </a:defRPr>
            </a:lvl1pPr>
          </a:lstStyle>
          <a:p>
            <a:pPr/>
            <a:r>
              <a:t>Limitations</a:t>
            </a:r>
          </a:p>
        </p:txBody>
      </p:sp>
      <p:sp>
        <p:nvSpPr>
          <p:cNvPr id="684" name="Text 6"/>
          <p:cNvSpPr txBox="1"/>
          <p:nvPr/>
        </p:nvSpPr>
        <p:spPr>
          <a:xfrm>
            <a:off x="4526279" y="1965960"/>
            <a:ext cx="3200401" cy="981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900"/>
              </a:spcBef>
              <a:buSzPct val="100000"/>
              <a:buChar char="•"/>
              <a:defRPr sz="1700">
                <a:solidFill>
                  <a:srgbClr val="F1F5F9"/>
                </a:solidFill>
              </a:defRPr>
            </a:pPr>
            <a:r>
              <a:t>Needs O(n) extra memory</a:t>
            </a:r>
          </a:p>
          <a:p>
            <a:pPr marL="203200" indent="-203200">
              <a:spcBef>
                <a:spcPts val="900"/>
              </a:spcBef>
              <a:buSzPct val="100000"/>
              <a:buChar char="•"/>
              <a:defRPr sz="1700">
                <a:solidFill>
                  <a:srgbClr val="F1F5F9"/>
                </a:solidFill>
              </a:defRPr>
            </a:pPr>
            <a:r>
              <a:t>Not in-place (standard)</a:t>
            </a:r>
          </a:p>
          <a:p>
            <a:pPr marL="203200" indent="-203200">
              <a:spcBef>
                <a:spcPts val="900"/>
              </a:spcBef>
              <a:buSzPct val="100000"/>
              <a:buChar char="•"/>
              <a:defRPr sz="1700">
                <a:solidFill>
                  <a:srgbClr val="F1F5F9"/>
                </a:solidFill>
              </a:defRPr>
            </a:pPr>
            <a:r>
              <a:t>Overkill for tiny arrays</a:t>
            </a:r>
          </a:p>
        </p:txBody>
      </p:sp>
      <p:sp>
        <p:nvSpPr>
          <p:cNvPr id="685" name="Shape 7"/>
          <p:cNvSpPr/>
          <p:nvPr/>
        </p:nvSpPr>
        <p:spPr>
          <a:xfrm>
            <a:off x="8046719" y="1280160"/>
            <a:ext cx="3566161" cy="2697480"/>
          </a:xfrm>
          <a:prstGeom prst="roundRect">
            <a:avLst>
              <a:gd name="adj" fmla="val 3390"/>
            </a:avLst>
          </a:prstGeom>
          <a:solidFill>
            <a:srgbClr val="14203F"/>
          </a:solidFill>
          <a:ln>
            <a:solidFill>
              <a:srgbClr val="2A3B6B"/>
            </a:solidFill>
          </a:ln>
        </p:spPr>
        <p:txBody>
          <a:bodyPr lIns="45719" rIns="45719"/>
          <a:lstStyle/>
          <a:p>
            <a:pPr/>
          </a:p>
        </p:txBody>
      </p:sp>
      <p:sp>
        <p:nvSpPr>
          <p:cNvPr id="686" name="Text 8"/>
          <p:cNvSpPr txBox="1"/>
          <p:nvPr/>
        </p:nvSpPr>
        <p:spPr>
          <a:xfrm>
            <a:off x="8275319" y="1475829"/>
            <a:ext cx="310896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Applications</a:t>
            </a:r>
          </a:p>
        </p:txBody>
      </p:sp>
      <p:sp>
        <p:nvSpPr>
          <p:cNvPr id="687" name="Text 9"/>
          <p:cNvSpPr txBox="1"/>
          <p:nvPr/>
        </p:nvSpPr>
        <p:spPr>
          <a:xfrm>
            <a:off x="8275319" y="1965960"/>
            <a:ext cx="3200401" cy="981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900"/>
              </a:spcBef>
              <a:buSzPct val="100000"/>
              <a:buChar char="•"/>
              <a:defRPr sz="1700">
                <a:solidFill>
                  <a:srgbClr val="F1F5F9"/>
                </a:solidFill>
              </a:defRPr>
            </a:pPr>
            <a:r>
              <a:t>Sorting large datasets</a:t>
            </a:r>
          </a:p>
          <a:p>
            <a:pPr marL="203200" indent="-203200">
              <a:spcBef>
                <a:spcPts val="900"/>
              </a:spcBef>
              <a:buSzPct val="100000"/>
              <a:buChar char="•"/>
              <a:defRPr sz="1700">
                <a:solidFill>
                  <a:srgbClr val="F1F5F9"/>
                </a:solidFill>
              </a:defRPr>
            </a:pPr>
            <a:r>
              <a:t>External sorting (data on disk)</a:t>
            </a:r>
          </a:p>
          <a:p>
            <a:pPr marL="203200" indent="-203200">
              <a:spcBef>
                <a:spcPts val="900"/>
              </a:spcBef>
              <a:buSzPct val="100000"/>
              <a:buChar char="•"/>
              <a:defRPr sz="1700">
                <a:solidFill>
                  <a:srgbClr val="F1F5F9"/>
                </a:solidFill>
              </a:defRPr>
            </a:pPr>
            <a:r>
              <a:t>Sorting linked lists</a:t>
            </a:r>
          </a:p>
        </p:txBody>
      </p:sp>
      <p:graphicFrame>
        <p:nvGraphicFramePr>
          <p:cNvPr id="688" name="Table 0"/>
          <p:cNvGraphicFramePr/>
          <p:nvPr/>
        </p:nvGraphicFramePr>
        <p:xfrm>
          <a:off x="548640" y="4206240"/>
          <a:ext cx="6675120" cy="1828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37360"/>
                <a:gridCol w="1920240"/>
                <a:gridCol w="1554480"/>
                <a:gridCol w="1463040"/>
              </a:tblGrid>
              <a:tr h="457200">
                <a:tc>
                  <a:txBody>
                    <a:bodyPr/>
                    <a:lstStyle/>
                    <a:p>
                      <a:pPr algn="ctr">
                        <a:defRPr sz="1800">
                          <a:solidFill>
                            <a:srgbClr val="000000"/>
                          </a:solidFill>
                        </a:defRPr>
                      </a:pPr>
                      <a:r>
                        <a:rPr b="1" sz="1500">
                          <a:solidFill>
                            <a:schemeClr val="accent1"/>
                          </a:solidFill>
                        </a:rPr>
                        <a:t>Algorithm</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500">
                          <a:solidFill>
                            <a:schemeClr val="accent1"/>
                          </a:solidFill>
                        </a:rPr>
                        <a:t>Worst-case time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500">
                          <a:solidFill>
                            <a:schemeClr val="accent1"/>
                          </a:solidFill>
                        </a:rPr>
                        <a:t>Extra space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500">
                          <a:solidFill>
                            <a:schemeClr val="accent1"/>
                          </a:solidFill>
                        </a:rPr>
                        <a:t>Stable?</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r>
              <a:tr h="457200">
                <a:tc>
                  <a:txBody>
                    <a:bodyPr/>
                    <a:lstStyle/>
                    <a:p>
                      <a:pPr algn="l">
                        <a:defRPr sz="1800">
                          <a:solidFill>
                            <a:srgbClr val="000000"/>
                          </a:solidFill>
                        </a:defRPr>
                      </a:pPr>
                      <a:r>
                        <a:rPr sz="1500">
                          <a:solidFill>
                            <a:srgbClr val="F1F5F9"/>
                          </a:solidFill>
                        </a:rPr>
                        <a:t>Bubble Sort</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500">
                          <a:solidFill>
                            <a:schemeClr val="accent6"/>
                          </a:solidFill>
                        </a:rPr>
                        <a:t>O(n²)</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500">
                          <a:solidFill>
                            <a:srgbClr val="F1F5F9"/>
                          </a:solidFill>
                        </a:rPr>
                        <a:t>O(1)</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500">
                          <a:solidFill>
                            <a:srgbClr val="F1F5F9"/>
                          </a:solidFill>
                        </a:rPr>
                        <a:t>Yes</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457200">
                <a:tc>
                  <a:txBody>
                    <a:bodyPr/>
                    <a:lstStyle/>
                    <a:p>
                      <a:pPr algn="l">
                        <a:defRPr sz="1800">
                          <a:solidFill>
                            <a:srgbClr val="000000"/>
                          </a:solidFill>
                        </a:defRPr>
                      </a:pPr>
                      <a:r>
                        <a:rPr sz="1500">
                          <a:solidFill>
                            <a:srgbClr val="F1F5F9"/>
                          </a:solidFill>
                        </a:rPr>
                        <a:t>Quick Sort</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b="1" sz="1500">
                          <a:solidFill>
                            <a:schemeClr val="accent6"/>
                          </a:solidFill>
                        </a:rPr>
                        <a:t>O(n²)</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500">
                          <a:solidFill>
                            <a:srgbClr val="F1F5F9"/>
                          </a:solidFill>
                        </a:rPr>
                        <a:t>O(log 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c>
                  <a:txBody>
                    <a:bodyPr/>
                    <a:lstStyle/>
                    <a:p>
                      <a:pPr algn="ctr">
                        <a:defRPr sz="1800">
                          <a:solidFill>
                            <a:srgbClr val="000000"/>
                          </a:solidFill>
                        </a:defRPr>
                      </a:pPr>
                      <a:r>
                        <a:rPr sz="1500">
                          <a:solidFill>
                            <a:srgbClr val="F1F5F9"/>
                          </a:solidFill>
                        </a:rPr>
                        <a:t>No</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4203F"/>
                    </a:solidFill>
                  </a:tcPr>
                </a:tc>
              </a:tr>
              <a:tr h="457200">
                <a:tc>
                  <a:txBody>
                    <a:bodyPr/>
                    <a:lstStyle/>
                    <a:p>
                      <a:pPr algn="l">
                        <a:defRPr sz="1800">
                          <a:solidFill>
                            <a:srgbClr val="000000"/>
                          </a:solidFill>
                        </a:defRPr>
                      </a:pPr>
                      <a:r>
                        <a:rPr b="1" sz="1500">
                          <a:solidFill>
                            <a:schemeClr val="accent3"/>
                          </a:solidFill>
                        </a:rPr>
                        <a:t>Merge Sort</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b="1" sz="1500">
                          <a:solidFill>
                            <a:schemeClr val="accent3"/>
                          </a:solidFill>
                        </a:rPr>
                        <a:t>O(n log 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sz="1500">
                          <a:solidFill>
                            <a:srgbClr val="F1F5F9"/>
                          </a:solidFill>
                        </a:rPr>
                        <a:t>O(n)</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c>
                  <a:txBody>
                    <a:bodyPr/>
                    <a:lstStyle/>
                    <a:p>
                      <a:pPr algn="ctr">
                        <a:defRPr sz="1800">
                          <a:solidFill>
                            <a:srgbClr val="000000"/>
                          </a:solidFill>
                        </a:defRPr>
                      </a:pPr>
                      <a:r>
                        <a:rPr sz="1500">
                          <a:solidFill>
                            <a:srgbClr val="F1F5F9"/>
                          </a:solidFill>
                        </a:rPr>
                        <a:t>Yes</a:t>
                      </a:r>
                    </a:p>
                  </a:txBody>
                  <a:tcPr marL="0" marR="0" marT="0" marB="0" anchor="ctr" anchorCtr="0" horzOverflow="overflow">
                    <a:lnL>
                      <a:solidFill>
                        <a:srgbClr val="2A3B6B"/>
                      </a:solidFill>
                    </a:lnL>
                    <a:lnR>
                      <a:solidFill>
                        <a:srgbClr val="2A3B6B"/>
                      </a:solidFill>
                    </a:lnR>
                    <a:lnT>
                      <a:solidFill>
                        <a:srgbClr val="2A3B6B"/>
                      </a:solidFill>
                    </a:lnT>
                    <a:lnB>
                      <a:solidFill>
                        <a:srgbClr val="2A3B6B"/>
                      </a:solidFill>
                    </a:lnB>
                    <a:solidFill>
                      <a:srgbClr val="1B2A52"/>
                    </a:solidFill>
                  </a:tcPr>
                </a:tc>
              </a:tr>
            </a:tbl>
          </a:graphicData>
        </a:graphic>
      </p:graphicFrame>
      <p:sp>
        <p:nvSpPr>
          <p:cNvPr id="689" name="Text 10"/>
          <p:cNvSpPr txBox="1"/>
          <p:nvPr/>
        </p:nvSpPr>
        <p:spPr>
          <a:xfrm>
            <a:off x="548640" y="6108191"/>
            <a:ext cx="667511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A9B8D4"/>
                </a:solidFill>
              </a:defRPr>
            </a:lvl1pPr>
          </a:lstStyle>
          <a:p>
            <a:pPr/>
            <a:r>
              <a:t>Quick Sort: O(n log n) on average. Extra space is its recursion stack.</a:t>
            </a:r>
          </a:p>
        </p:txBody>
      </p:sp>
      <p:sp>
        <p:nvSpPr>
          <p:cNvPr id="690" name="Shape 11"/>
          <p:cNvSpPr/>
          <p:nvPr/>
        </p:nvSpPr>
        <p:spPr>
          <a:xfrm>
            <a:off x="7498080" y="4206240"/>
            <a:ext cx="4206241" cy="2148841"/>
          </a:xfrm>
          <a:prstGeom prst="roundRect">
            <a:avLst>
              <a:gd name="adj" fmla="val 4255"/>
            </a:avLst>
          </a:prstGeom>
          <a:solidFill>
            <a:srgbClr val="1B2A52"/>
          </a:solidFill>
          <a:ln>
            <a:solidFill>
              <a:schemeClr val="accent2"/>
            </a:solidFill>
          </a:ln>
        </p:spPr>
        <p:txBody>
          <a:bodyPr lIns="45719" rIns="45719"/>
          <a:lstStyle/>
          <a:p>
            <a:pPr/>
          </a:p>
        </p:txBody>
      </p:sp>
      <p:sp>
        <p:nvSpPr>
          <p:cNvPr id="691" name="Text 12"/>
          <p:cNvSpPr txBox="1"/>
          <p:nvPr/>
        </p:nvSpPr>
        <p:spPr>
          <a:xfrm>
            <a:off x="7726680" y="4297679"/>
            <a:ext cx="374904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A9B8D4"/>
                </a:solidFill>
              </a:defRPr>
            </a:lvl1pPr>
          </a:lstStyle>
          <a:p>
            <a:pPr/>
            <a:r>
              <a:t>Conclusion</a:t>
            </a:r>
          </a:p>
        </p:txBody>
      </p:sp>
      <p:sp>
        <p:nvSpPr>
          <p:cNvPr id="692" name="Text 13"/>
          <p:cNvSpPr txBox="1"/>
          <p:nvPr/>
        </p:nvSpPr>
        <p:spPr>
          <a:xfrm>
            <a:off x="7726680" y="4645152"/>
            <a:ext cx="374904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F1F5F9"/>
                </a:solidFill>
              </a:defRPr>
            </a:lvl1pPr>
          </a:lstStyle>
          <a:p>
            <a:pPr/>
            <a:r>
              <a:t>A textbook divide and conquer algorithm with guaranteed O(n log n) performance.</a:t>
            </a:r>
          </a:p>
        </p:txBody>
      </p:sp>
      <p:sp>
        <p:nvSpPr>
          <p:cNvPr id="693" name="Text 14"/>
          <p:cNvSpPr txBox="1"/>
          <p:nvPr/>
        </p:nvSpPr>
        <p:spPr>
          <a:xfrm>
            <a:off x="7726680" y="5587607"/>
            <a:ext cx="374904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chemeClr val="accent1"/>
                </a:solidFill>
              </a:defRPr>
            </a:lvl1pPr>
          </a:lstStyle>
          <a:p>
            <a:pPr/>
            <a:r>
              <a:t>Divide, Sort, and Merge.</a:t>
            </a:r>
          </a:p>
        </p:txBody>
      </p:sp>
      <p:sp>
        <p:nvSpPr>
          <p:cNvPr id="694" name="Slide Number Placeholder 0"/>
          <p:cNvSpPr txBox="1"/>
          <p:nvPr>
            <p:ph type="sldNum" sz="quarter" idx="4294967295"/>
          </p:nvPr>
        </p:nvSpPr>
        <p:spPr>
          <a:xfrm>
            <a:off x="11535812" y="6473952"/>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700" name="Text 0"/>
          <p:cNvGrpSpPr/>
          <p:nvPr/>
        </p:nvGrpSpPr>
        <p:grpSpPr>
          <a:xfrm>
            <a:off x="3538728" y="1097280"/>
            <a:ext cx="731521" cy="731521"/>
            <a:chOff x="0" y="0"/>
            <a:chExt cx="731520" cy="731520"/>
          </a:xfrm>
        </p:grpSpPr>
        <p:sp>
          <p:nvSpPr>
            <p:cNvPr id="698"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699" name="3"/>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3</a:t>
              </a:r>
            </a:p>
          </p:txBody>
        </p:sp>
      </p:grpSp>
      <p:grpSp>
        <p:nvGrpSpPr>
          <p:cNvPr id="703" name="Text 1"/>
          <p:cNvGrpSpPr/>
          <p:nvPr/>
        </p:nvGrpSpPr>
        <p:grpSpPr>
          <a:xfrm>
            <a:off x="4270247" y="1097280"/>
            <a:ext cx="731521" cy="731521"/>
            <a:chOff x="0" y="0"/>
            <a:chExt cx="731520" cy="731520"/>
          </a:xfrm>
        </p:grpSpPr>
        <p:sp>
          <p:nvSpPr>
            <p:cNvPr id="701"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02" name="9"/>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9</a:t>
              </a:r>
            </a:p>
          </p:txBody>
        </p:sp>
      </p:grpSp>
      <p:grpSp>
        <p:nvGrpSpPr>
          <p:cNvPr id="706" name="Text 2"/>
          <p:cNvGrpSpPr/>
          <p:nvPr/>
        </p:nvGrpSpPr>
        <p:grpSpPr>
          <a:xfrm>
            <a:off x="5001767" y="1097280"/>
            <a:ext cx="731521" cy="731521"/>
            <a:chOff x="0" y="0"/>
            <a:chExt cx="731520" cy="731520"/>
          </a:xfrm>
        </p:grpSpPr>
        <p:sp>
          <p:nvSpPr>
            <p:cNvPr id="704"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05" name="10"/>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10</a:t>
              </a:r>
            </a:p>
          </p:txBody>
        </p:sp>
      </p:grpSp>
      <p:grpSp>
        <p:nvGrpSpPr>
          <p:cNvPr id="709" name="Text 3"/>
          <p:cNvGrpSpPr/>
          <p:nvPr/>
        </p:nvGrpSpPr>
        <p:grpSpPr>
          <a:xfrm>
            <a:off x="5730240" y="1097280"/>
            <a:ext cx="731521" cy="731521"/>
            <a:chOff x="0" y="0"/>
            <a:chExt cx="731520" cy="731520"/>
          </a:xfrm>
        </p:grpSpPr>
        <p:sp>
          <p:nvSpPr>
            <p:cNvPr id="707"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08" name="27"/>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27</a:t>
              </a:r>
            </a:p>
          </p:txBody>
        </p:sp>
      </p:grpSp>
      <p:grpSp>
        <p:nvGrpSpPr>
          <p:cNvPr id="712" name="Text 4"/>
          <p:cNvGrpSpPr/>
          <p:nvPr/>
        </p:nvGrpSpPr>
        <p:grpSpPr>
          <a:xfrm>
            <a:off x="6464808" y="1097280"/>
            <a:ext cx="731521" cy="731521"/>
            <a:chOff x="0" y="0"/>
            <a:chExt cx="731520" cy="731520"/>
          </a:xfrm>
        </p:grpSpPr>
        <p:sp>
          <p:nvSpPr>
            <p:cNvPr id="710"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11" name="38"/>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38</a:t>
              </a:r>
            </a:p>
          </p:txBody>
        </p:sp>
      </p:grpSp>
      <p:grpSp>
        <p:nvGrpSpPr>
          <p:cNvPr id="715" name="Text 5"/>
          <p:cNvGrpSpPr/>
          <p:nvPr/>
        </p:nvGrpSpPr>
        <p:grpSpPr>
          <a:xfrm>
            <a:off x="7196328" y="1097280"/>
            <a:ext cx="731521" cy="731521"/>
            <a:chOff x="0" y="0"/>
            <a:chExt cx="731520" cy="731520"/>
          </a:xfrm>
        </p:grpSpPr>
        <p:sp>
          <p:nvSpPr>
            <p:cNvPr id="713"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14" name="43"/>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43</a:t>
              </a:r>
            </a:p>
          </p:txBody>
        </p:sp>
      </p:grpSp>
      <p:grpSp>
        <p:nvGrpSpPr>
          <p:cNvPr id="718" name="Text 6"/>
          <p:cNvGrpSpPr/>
          <p:nvPr/>
        </p:nvGrpSpPr>
        <p:grpSpPr>
          <a:xfrm>
            <a:off x="7927847" y="1097280"/>
            <a:ext cx="731521" cy="731521"/>
            <a:chOff x="0" y="0"/>
            <a:chExt cx="731520" cy="731520"/>
          </a:xfrm>
        </p:grpSpPr>
        <p:sp>
          <p:nvSpPr>
            <p:cNvPr id="716" name="Square"/>
            <p:cNvSpPr/>
            <p:nvPr/>
          </p:nvSpPr>
          <p:spPr>
            <a:xfrm>
              <a:off x="-1" y="-1"/>
              <a:ext cx="731522" cy="731522"/>
            </a:xfrm>
            <a:prstGeom prst="rect">
              <a:avLst/>
            </a:prstGeom>
            <a:solidFill>
              <a:schemeClr val="accent3"/>
            </a:solidFill>
            <a:ln w="19050" cap="flat">
              <a:solidFill>
                <a:srgbClr val="0B1226"/>
              </a:solidFill>
              <a:prstDash val="solid"/>
              <a:round/>
            </a:ln>
            <a:effectLst/>
          </p:spPr>
          <p:txBody>
            <a:bodyPr wrap="square" lIns="45719" tIns="45719" rIns="45719" bIns="45719" numCol="1" anchor="ctr">
              <a:noAutofit/>
            </a:bodyPr>
            <a:lstStyle/>
            <a:p>
              <a:pPr algn="ctr">
                <a:defRPr sz="2200"/>
              </a:pPr>
            </a:p>
          </p:txBody>
        </p:sp>
        <p:sp>
          <p:nvSpPr>
            <p:cNvPr id="717" name="82"/>
            <p:cNvSpPr txBox="1"/>
            <p:nvPr/>
          </p:nvSpPr>
          <p:spPr>
            <a:xfrm>
              <a:off x="9524" y="218792"/>
              <a:ext cx="71247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82</a:t>
              </a:r>
            </a:p>
          </p:txBody>
        </p:sp>
      </p:grpSp>
      <p:sp>
        <p:nvSpPr>
          <p:cNvPr id="719" name="Text 7"/>
          <p:cNvSpPr txBox="1"/>
          <p:nvPr/>
        </p:nvSpPr>
        <p:spPr>
          <a:xfrm>
            <a:off x="930301" y="2549767"/>
            <a:ext cx="10515601" cy="9157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7200">
                <a:solidFill>
                  <a:srgbClr val="F1F5F9"/>
                </a:solidFill>
              </a:defRPr>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MergeSortDark">
  <a:themeElements>
    <a:clrScheme name="MergeSortDark">
      <a:dk1>
        <a:srgbClr val="0B1226"/>
      </a:dk1>
      <a:lt1>
        <a:srgbClr val="0B1226"/>
      </a:lt1>
      <a:dk2>
        <a:srgbClr val="A7A7A7"/>
      </a:dk2>
      <a:lt2>
        <a:srgbClr val="535353"/>
      </a:lt2>
      <a:accent1>
        <a:srgbClr val="22D3EE"/>
      </a:accent1>
      <a:accent2>
        <a:srgbClr val="A78BFA"/>
      </a:accent2>
      <a:accent3>
        <a:srgbClr val="34D399"/>
      </a:accent3>
      <a:accent4>
        <a:srgbClr val="FBBF24"/>
      </a:accent4>
      <a:accent5>
        <a:srgbClr val="60A5FA"/>
      </a:accent5>
      <a:accent6>
        <a:srgbClr val="F87171"/>
      </a:accent6>
      <a:hlink>
        <a:srgbClr val="0000FF"/>
      </a:hlink>
      <a:folHlink>
        <a:srgbClr val="FF00FF"/>
      </a:folHlink>
    </a:clrScheme>
    <a:fontScheme name="MergeSortDark">
      <a:majorFont>
        <a:latin typeface="Helvetica"/>
        <a:ea typeface="Helvetica"/>
        <a:cs typeface="Helvetica"/>
      </a:majorFont>
      <a:minorFont>
        <a:latin typeface="Calibri"/>
        <a:ea typeface="Calibri"/>
        <a:cs typeface="Calibri"/>
      </a:minorFont>
    </a:fontScheme>
    <a:fmtScheme name="MergeSor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1F5F9"/>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MergeSortDark">
  <a:themeElements>
    <a:clrScheme name="MergeSortDark">
      <a:dk1>
        <a:srgbClr val="0B1226"/>
      </a:dk1>
      <a:lt1>
        <a:srgbClr val="26231B"/>
      </a:lt1>
      <a:dk2>
        <a:srgbClr val="A7A7A7"/>
      </a:dk2>
      <a:lt2>
        <a:srgbClr val="535353"/>
      </a:lt2>
      <a:accent1>
        <a:srgbClr val="22D3EE"/>
      </a:accent1>
      <a:accent2>
        <a:srgbClr val="A78BFA"/>
      </a:accent2>
      <a:accent3>
        <a:srgbClr val="34D399"/>
      </a:accent3>
      <a:accent4>
        <a:srgbClr val="FBBF24"/>
      </a:accent4>
      <a:accent5>
        <a:srgbClr val="60A5FA"/>
      </a:accent5>
      <a:accent6>
        <a:srgbClr val="F87171"/>
      </a:accent6>
      <a:hlink>
        <a:srgbClr val="0000FF"/>
      </a:hlink>
      <a:folHlink>
        <a:srgbClr val="FF00FF"/>
      </a:folHlink>
    </a:clrScheme>
    <a:fontScheme name="MergeSortDark">
      <a:majorFont>
        <a:latin typeface="Helvetica"/>
        <a:ea typeface="Helvetica"/>
        <a:cs typeface="Helvetica"/>
      </a:majorFont>
      <a:minorFont>
        <a:latin typeface="Calibri"/>
        <a:ea typeface="Calibri"/>
        <a:cs typeface="Calibri"/>
      </a:minorFont>
    </a:fontScheme>
    <a:fmtScheme name="MergeSor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1F5F9"/>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6"/>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